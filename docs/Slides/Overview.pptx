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5" r:id="rId4"/>
    <p:sldId id="277" r:id="rId5"/>
    <p:sldId id="271" r:id="rId6"/>
    <p:sldId id="276" r:id="rId7"/>
    <p:sldId id="272" r:id="rId8"/>
    <p:sldId id="274" r:id="rId9"/>
    <p:sldId id="273"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161891-02E3-4D9B-90E2-1B7BF7C07A7F}" v="4" dt="2026-05-20T15:32:14.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Tillotson" userId="17c67371d77ccfb8" providerId="LiveId" clId="{CA80BF90-ACF5-4C46-A1A1-090A35F9F6C1}"/>
    <pc:docChg chg="undo custSel addSld modSld sldOrd">
      <pc:chgData name="Steve Tillotson" userId="17c67371d77ccfb8" providerId="LiveId" clId="{CA80BF90-ACF5-4C46-A1A1-090A35F9F6C1}" dt="2026-05-20T15:32:39.920" v="1448" actId="20577"/>
      <pc:docMkLst>
        <pc:docMk/>
      </pc:docMkLst>
      <pc:sldChg chg="modSp mod">
        <pc:chgData name="Steve Tillotson" userId="17c67371d77ccfb8" providerId="LiveId" clId="{CA80BF90-ACF5-4C46-A1A1-090A35F9F6C1}" dt="2026-05-20T12:14:28.069" v="105" actId="20577"/>
        <pc:sldMkLst>
          <pc:docMk/>
          <pc:sldMk cId="0" sldId="256"/>
        </pc:sldMkLst>
        <pc:spChg chg="mod">
          <ac:chgData name="Steve Tillotson" userId="17c67371d77ccfb8" providerId="LiveId" clId="{CA80BF90-ACF5-4C46-A1A1-090A35F9F6C1}" dt="2026-05-20T12:12:57.294" v="62" actId="20577"/>
          <ac:spMkLst>
            <pc:docMk/>
            <pc:sldMk cId="0" sldId="256"/>
            <ac:spMk id="4" creationId="{00000000-0000-0000-0000-000000000000}"/>
          </ac:spMkLst>
        </pc:spChg>
        <pc:spChg chg="mod">
          <ac:chgData name="Steve Tillotson" userId="17c67371d77ccfb8" providerId="LiveId" clId="{CA80BF90-ACF5-4C46-A1A1-090A35F9F6C1}" dt="2026-05-20T12:13:08.310" v="70" actId="20577"/>
          <ac:spMkLst>
            <pc:docMk/>
            <pc:sldMk cId="0" sldId="256"/>
            <ac:spMk id="5" creationId="{00000000-0000-0000-0000-000000000000}"/>
          </ac:spMkLst>
        </pc:spChg>
        <pc:spChg chg="mod">
          <ac:chgData name="Steve Tillotson" userId="17c67371d77ccfb8" providerId="LiveId" clId="{CA80BF90-ACF5-4C46-A1A1-090A35F9F6C1}" dt="2026-05-20T12:14:28.069" v="105" actId="20577"/>
          <ac:spMkLst>
            <pc:docMk/>
            <pc:sldMk cId="0" sldId="256"/>
            <ac:spMk id="6" creationId="{00000000-0000-0000-0000-000000000000}"/>
          </ac:spMkLst>
        </pc:spChg>
        <pc:spChg chg="mod">
          <ac:chgData name="Steve Tillotson" userId="17c67371d77ccfb8" providerId="LiveId" clId="{CA80BF90-ACF5-4C46-A1A1-090A35F9F6C1}" dt="2026-05-20T12:13:38.462" v="101" actId="20577"/>
          <ac:spMkLst>
            <pc:docMk/>
            <pc:sldMk cId="0" sldId="256"/>
            <ac:spMk id="8" creationId="{00000000-0000-0000-0000-000000000000}"/>
          </ac:spMkLst>
        </pc:spChg>
      </pc:sldChg>
      <pc:sldChg chg="addSp delSp modSp mod">
        <pc:chgData name="Steve Tillotson" userId="17c67371d77ccfb8" providerId="LiveId" clId="{CA80BF90-ACF5-4C46-A1A1-090A35F9F6C1}" dt="2026-05-20T12:17:24.993" v="186" actId="20577"/>
        <pc:sldMkLst>
          <pc:docMk/>
          <pc:sldMk cId="0" sldId="257"/>
        </pc:sldMkLst>
        <pc:spChg chg="del">
          <ac:chgData name="Steve Tillotson" userId="17c67371d77ccfb8" providerId="LiveId" clId="{CA80BF90-ACF5-4C46-A1A1-090A35F9F6C1}" dt="2026-05-20T12:11:49.459" v="8" actId="478"/>
          <ac:spMkLst>
            <pc:docMk/>
            <pc:sldMk cId="0" sldId="257"/>
            <ac:spMk id="3" creationId="{00000000-0000-0000-0000-000000000000}"/>
          </ac:spMkLst>
        </pc:spChg>
        <pc:spChg chg="mod">
          <ac:chgData name="Steve Tillotson" userId="17c67371d77ccfb8" providerId="LiveId" clId="{CA80BF90-ACF5-4C46-A1A1-090A35F9F6C1}" dt="2026-05-20T12:16:24.481" v="166" actId="20577"/>
          <ac:spMkLst>
            <pc:docMk/>
            <pc:sldMk cId="0" sldId="257"/>
            <ac:spMk id="5" creationId="{00000000-0000-0000-0000-000000000000}"/>
          </ac:spMkLst>
        </pc:spChg>
        <pc:spChg chg="mod">
          <ac:chgData name="Steve Tillotson" userId="17c67371d77ccfb8" providerId="LiveId" clId="{CA80BF90-ACF5-4C46-A1A1-090A35F9F6C1}" dt="2026-05-20T12:16:42.881" v="175" actId="20577"/>
          <ac:spMkLst>
            <pc:docMk/>
            <pc:sldMk cId="0" sldId="257"/>
            <ac:spMk id="6" creationId="{00000000-0000-0000-0000-000000000000}"/>
          </ac:spMkLst>
        </pc:spChg>
        <pc:spChg chg="mod">
          <ac:chgData name="Steve Tillotson" userId="17c67371d77ccfb8" providerId="LiveId" clId="{CA80BF90-ACF5-4C46-A1A1-090A35F9F6C1}" dt="2026-05-20T12:16:06.104" v="144" actId="1035"/>
          <ac:spMkLst>
            <pc:docMk/>
            <pc:sldMk cId="0" sldId="257"/>
            <ac:spMk id="7" creationId="{00000000-0000-0000-0000-000000000000}"/>
          </ac:spMkLst>
        </pc:spChg>
        <pc:spChg chg="mod">
          <ac:chgData name="Steve Tillotson" userId="17c67371d77ccfb8" providerId="LiveId" clId="{CA80BF90-ACF5-4C46-A1A1-090A35F9F6C1}" dt="2026-05-20T12:16:06.104" v="144" actId="1035"/>
          <ac:spMkLst>
            <pc:docMk/>
            <pc:sldMk cId="0" sldId="257"/>
            <ac:spMk id="8" creationId="{00000000-0000-0000-0000-000000000000}"/>
          </ac:spMkLst>
        </pc:spChg>
        <pc:spChg chg="mod">
          <ac:chgData name="Steve Tillotson" userId="17c67371d77ccfb8" providerId="LiveId" clId="{CA80BF90-ACF5-4C46-A1A1-090A35F9F6C1}" dt="2026-05-20T12:16:06.104" v="144" actId="1035"/>
          <ac:spMkLst>
            <pc:docMk/>
            <pc:sldMk cId="0" sldId="257"/>
            <ac:spMk id="10" creationId="{00000000-0000-0000-0000-000000000000}"/>
          </ac:spMkLst>
        </pc:spChg>
        <pc:spChg chg="mod">
          <ac:chgData name="Steve Tillotson" userId="17c67371d77ccfb8" providerId="LiveId" clId="{CA80BF90-ACF5-4C46-A1A1-090A35F9F6C1}" dt="2026-05-20T12:17:24.993" v="186" actId="20577"/>
          <ac:spMkLst>
            <pc:docMk/>
            <pc:sldMk cId="0" sldId="257"/>
            <ac:spMk id="11" creationId="{00000000-0000-0000-0000-000000000000}"/>
          </ac:spMkLst>
        </pc:spChg>
        <pc:spChg chg="mod">
          <ac:chgData name="Steve Tillotson" userId="17c67371d77ccfb8" providerId="LiveId" clId="{CA80BF90-ACF5-4C46-A1A1-090A35F9F6C1}" dt="2026-05-20T12:16:06.104" v="144" actId="1035"/>
          <ac:spMkLst>
            <pc:docMk/>
            <pc:sldMk cId="0" sldId="257"/>
            <ac:spMk id="14" creationId="{00000000-0000-0000-0000-000000000000}"/>
          </ac:spMkLst>
        </pc:spChg>
        <pc:spChg chg="mod">
          <ac:chgData name="Steve Tillotson" userId="17c67371d77ccfb8" providerId="LiveId" clId="{CA80BF90-ACF5-4C46-A1A1-090A35F9F6C1}" dt="2026-05-20T12:16:06.104" v="144" actId="1035"/>
          <ac:spMkLst>
            <pc:docMk/>
            <pc:sldMk cId="0" sldId="257"/>
            <ac:spMk id="16" creationId="{00000000-0000-0000-0000-000000000000}"/>
          </ac:spMkLst>
        </pc:spChg>
        <pc:spChg chg="mod">
          <ac:chgData name="Steve Tillotson" userId="17c67371d77ccfb8" providerId="LiveId" clId="{CA80BF90-ACF5-4C46-A1A1-090A35F9F6C1}" dt="2026-05-20T12:16:06.104" v="144" actId="1035"/>
          <ac:spMkLst>
            <pc:docMk/>
            <pc:sldMk cId="0" sldId="257"/>
            <ac:spMk id="17" creationId="{00000000-0000-0000-0000-000000000000}"/>
          </ac:spMkLst>
        </pc:spChg>
        <pc:spChg chg="mod">
          <ac:chgData name="Steve Tillotson" userId="17c67371d77ccfb8" providerId="LiveId" clId="{CA80BF90-ACF5-4C46-A1A1-090A35F9F6C1}" dt="2026-05-20T12:16:06.104" v="144" actId="1035"/>
          <ac:spMkLst>
            <pc:docMk/>
            <pc:sldMk cId="0" sldId="257"/>
            <ac:spMk id="18" creationId="{00000000-0000-0000-0000-000000000000}"/>
          </ac:spMkLst>
        </pc:spChg>
        <pc:spChg chg="del mod">
          <ac:chgData name="Steve Tillotson" userId="17c67371d77ccfb8" providerId="LiveId" clId="{CA80BF90-ACF5-4C46-A1A1-090A35F9F6C1}" dt="2026-05-20T12:15:56.549" v="117" actId="478"/>
          <ac:spMkLst>
            <pc:docMk/>
            <pc:sldMk cId="0" sldId="257"/>
            <ac:spMk id="19" creationId="{00000000-0000-0000-0000-000000000000}"/>
          </ac:spMkLst>
        </pc:spChg>
        <pc:spChg chg="add del mod">
          <ac:chgData name="Steve Tillotson" userId="17c67371d77ccfb8" providerId="LiveId" clId="{CA80BF90-ACF5-4C46-A1A1-090A35F9F6C1}" dt="2026-05-20T12:12:11.160" v="18" actId="478"/>
          <ac:spMkLst>
            <pc:docMk/>
            <pc:sldMk cId="0" sldId="257"/>
            <ac:spMk id="21" creationId="{4DFAB16A-E351-D535-700D-2DBE2D4F434B}"/>
          </ac:spMkLst>
        </pc:spChg>
        <pc:spChg chg="add del mod">
          <ac:chgData name="Steve Tillotson" userId="17c67371d77ccfb8" providerId="LiveId" clId="{CA80BF90-ACF5-4C46-A1A1-090A35F9F6C1}" dt="2026-05-20T12:12:14.259" v="19" actId="478"/>
          <ac:spMkLst>
            <pc:docMk/>
            <pc:sldMk cId="0" sldId="257"/>
            <ac:spMk id="23" creationId="{21AFC2F0-913A-DA20-9BA4-2560482778F5}"/>
          </ac:spMkLst>
        </pc:spChg>
        <pc:spChg chg="add del mod">
          <ac:chgData name="Steve Tillotson" userId="17c67371d77ccfb8" providerId="LiveId" clId="{CA80BF90-ACF5-4C46-A1A1-090A35F9F6C1}" dt="2026-05-20T12:16:13.747" v="145" actId="478"/>
          <ac:spMkLst>
            <pc:docMk/>
            <pc:sldMk cId="0" sldId="257"/>
            <ac:spMk id="26" creationId="{6EC122EF-30AE-4761-AA38-7DE7933EB059}"/>
          </ac:spMkLst>
        </pc:spChg>
      </pc:sldChg>
      <pc:sldChg chg="add">
        <pc:chgData name="Steve Tillotson" userId="17c67371d77ccfb8" providerId="LiveId" clId="{CA80BF90-ACF5-4C46-A1A1-090A35F9F6C1}" dt="2026-05-20T12:12:32.911" v="21"/>
        <pc:sldMkLst>
          <pc:docMk/>
          <pc:sldMk cId="2261596928" sldId="270"/>
        </pc:sldMkLst>
      </pc:sldChg>
      <pc:sldChg chg="modSp new mod">
        <pc:chgData name="Steve Tillotson" userId="17c67371d77ccfb8" providerId="LiveId" clId="{CA80BF90-ACF5-4C46-A1A1-090A35F9F6C1}" dt="2026-05-20T12:24:58.071" v="457" actId="20577"/>
        <pc:sldMkLst>
          <pc:docMk/>
          <pc:sldMk cId="2537042160" sldId="271"/>
        </pc:sldMkLst>
        <pc:spChg chg="mod">
          <ac:chgData name="Steve Tillotson" userId="17c67371d77ccfb8" providerId="LiveId" clId="{CA80BF90-ACF5-4C46-A1A1-090A35F9F6C1}" dt="2026-05-20T12:24:58.071" v="457" actId="20577"/>
          <ac:spMkLst>
            <pc:docMk/>
            <pc:sldMk cId="2537042160" sldId="271"/>
            <ac:spMk id="3" creationId="{F42A0DD2-D8D3-8C79-7492-F28BFA9AEB77}"/>
          </ac:spMkLst>
        </pc:spChg>
      </pc:sldChg>
      <pc:sldChg chg="modSp new mod">
        <pc:chgData name="Steve Tillotson" userId="17c67371d77ccfb8" providerId="LiveId" clId="{CA80BF90-ACF5-4C46-A1A1-090A35F9F6C1}" dt="2026-05-20T12:28:38.296" v="517" actId="20577"/>
        <pc:sldMkLst>
          <pc:docMk/>
          <pc:sldMk cId="3840020142" sldId="272"/>
        </pc:sldMkLst>
        <pc:spChg chg="mod">
          <ac:chgData name="Steve Tillotson" userId="17c67371d77ccfb8" providerId="LiveId" clId="{CA80BF90-ACF5-4C46-A1A1-090A35F9F6C1}" dt="2026-05-20T12:27:06.507" v="496" actId="20577"/>
          <ac:spMkLst>
            <pc:docMk/>
            <pc:sldMk cId="3840020142" sldId="272"/>
            <ac:spMk id="3" creationId="{24C29E7A-5618-CF04-8E4F-418A8735A556}"/>
          </ac:spMkLst>
        </pc:spChg>
        <pc:spChg chg="mod">
          <ac:chgData name="Steve Tillotson" userId="17c67371d77ccfb8" providerId="LiveId" clId="{CA80BF90-ACF5-4C46-A1A1-090A35F9F6C1}" dt="2026-05-20T12:28:38.296" v="517" actId="20577"/>
          <ac:spMkLst>
            <pc:docMk/>
            <pc:sldMk cId="3840020142" sldId="272"/>
            <ac:spMk id="4" creationId="{DE6B671B-0078-FAB3-3CC4-8EBFC6A18C8E}"/>
          </ac:spMkLst>
        </pc:spChg>
      </pc:sldChg>
      <pc:sldChg chg="modSp new mod">
        <pc:chgData name="Steve Tillotson" userId="17c67371d77ccfb8" providerId="LiveId" clId="{CA80BF90-ACF5-4C46-A1A1-090A35F9F6C1}" dt="2026-05-20T12:24:23.071" v="395" actId="20577"/>
        <pc:sldMkLst>
          <pc:docMk/>
          <pc:sldMk cId="2616067036" sldId="273"/>
        </pc:sldMkLst>
        <pc:spChg chg="mod">
          <ac:chgData name="Steve Tillotson" userId="17c67371d77ccfb8" providerId="LiveId" clId="{CA80BF90-ACF5-4C46-A1A1-090A35F9F6C1}" dt="2026-05-20T12:23:15.853" v="251" actId="20577"/>
          <ac:spMkLst>
            <pc:docMk/>
            <pc:sldMk cId="2616067036" sldId="273"/>
            <ac:spMk id="3" creationId="{06B47B81-9185-426D-C528-C9AEADFCA5FA}"/>
          </ac:spMkLst>
        </pc:spChg>
        <pc:spChg chg="mod">
          <ac:chgData name="Steve Tillotson" userId="17c67371d77ccfb8" providerId="LiveId" clId="{CA80BF90-ACF5-4C46-A1A1-090A35F9F6C1}" dt="2026-05-20T12:24:23.071" v="395" actId="20577"/>
          <ac:spMkLst>
            <pc:docMk/>
            <pc:sldMk cId="2616067036" sldId="273"/>
            <ac:spMk id="4" creationId="{2B008A07-815C-F75E-398F-3B10BDA1E0E5}"/>
          </ac:spMkLst>
        </pc:spChg>
      </pc:sldChg>
      <pc:sldChg chg="modSp new mod">
        <pc:chgData name="Steve Tillotson" userId="17c67371d77ccfb8" providerId="LiveId" clId="{CA80BF90-ACF5-4C46-A1A1-090A35F9F6C1}" dt="2026-05-20T12:30:13.351" v="628" actId="20577"/>
        <pc:sldMkLst>
          <pc:docMk/>
          <pc:sldMk cId="3555451629" sldId="274"/>
        </pc:sldMkLst>
        <pc:spChg chg="mod">
          <ac:chgData name="Steve Tillotson" userId="17c67371d77ccfb8" providerId="LiveId" clId="{CA80BF90-ACF5-4C46-A1A1-090A35F9F6C1}" dt="2026-05-20T12:30:13.351" v="628" actId="20577"/>
          <ac:spMkLst>
            <pc:docMk/>
            <pc:sldMk cId="3555451629" sldId="274"/>
            <ac:spMk id="3" creationId="{BB4194A1-D2AE-AB61-74F4-3C4543BB9E8A}"/>
          </ac:spMkLst>
        </pc:spChg>
        <pc:spChg chg="mod">
          <ac:chgData name="Steve Tillotson" userId="17c67371d77ccfb8" providerId="LiveId" clId="{CA80BF90-ACF5-4C46-A1A1-090A35F9F6C1}" dt="2026-05-20T12:29:40.959" v="606" actId="20577"/>
          <ac:spMkLst>
            <pc:docMk/>
            <pc:sldMk cId="3555451629" sldId="274"/>
            <ac:spMk id="4" creationId="{D8726084-0313-3631-AB83-081DC89D3D95}"/>
          </ac:spMkLst>
        </pc:spChg>
      </pc:sldChg>
      <pc:sldChg chg="modSp new mod ord">
        <pc:chgData name="Steve Tillotson" userId="17c67371d77ccfb8" providerId="LiveId" clId="{CA80BF90-ACF5-4C46-A1A1-090A35F9F6C1}" dt="2026-05-20T15:31:27.645" v="1427" actId="20577"/>
        <pc:sldMkLst>
          <pc:docMk/>
          <pc:sldMk cId="1158806451" sldId="275"/>
        </pc:sldMkLst>
        <pc:spChg chg="mod">
          <ac:chgData name="Steve Tillotson" userId="17c67371d77ccfb8" providerId="LiveId" clId="{CA80BF90-ACF5-4C46-A1A1-090A35F9F6C1}" dt="2026-05-20T12:32:09.410" v="653" actId="20577"/>
          <ac:spMkLst>
            <pc:docMk/>
            <pc:sldMk cId="1158806451" sldId="275"/>
            <ac:spMk id="3" creationId="{29A9BED1-85D2-414F-8401-224B7FBA61D6}"/>
          </ac:spMkLst>
        </pc:spChg>
        <pc:spChg chg="mod">
          <ac:chgData name="Steve Tillotson" userId="17c67371d77ccfb8" providerId="LiveId" clId="{CA80BF90-ACF5-4C46-A1A1-090A35F9F6C1}" dt="2026-05-20T15:31:27.645" v="1427" actId="20577"/>
          <ac:spMkLst>
            <pc:docMk/>
            <pc:sldMk cId="1158806451" sldId="275"/>
            <ac:spMk id="4" creationId="{7A23E6F7-D19A-F2AA-4697-050A46E39D96}"/>
          </ac:spMkLst>
        </pc:spChg>
      </pc:sldChg>
      <pc:sldChg chg="modSp new mod">
        <pc:chgData name="Steve Tillotson" userId="17c67371d77ccfb8" providerId="LiveId" clId="{CA80BF90-ACF5-4C46-A1A1-090A35F9F6C1}" dt="2026-05-20T12:45:56.086" v="1130" actId="20577"/>
        <pc:sldMkLst>
          <pc:docMk/>
          <pc:sldMk cId="3115400695" sldId="276"/>
        </pc:sldMkLst>
        <pc:spChg chg="mod">
          <ac:chgData name="Steve Tillotson" userId="17c67371d77ccfb8" providerId="LiveId" clId="{CA80BF90-ACF5-4C46-A1A1-090A35F9F6C1}" dt="2026-05-20T12:37:45.951" v="687" actId="20577"/>
          <ac:spMkLst>
            <pc:docMk/>
            <pc:sldMk cId="3115400695" sldId="276"/>
            <ac:spMk id="3" creationId="{2D19342B-DB7A-4E43-B97B-B5E5C0C5E80D}"/>
          </ac:spMkLst>
        </pc:spChg>
        <pc:spChg chg="mod">
          <ac:chgData name="Steve Tillotson" userId="17c67371d77ccfb8" providerId="LiveId" clId="{CA80BF90-ACF5-4C46-A1A1-090A35F9F6C1}" dt="2026-05-20T12:45:56.086" v="1130" actId="20577"/>
          <ac:spMkLst>
            <pc:docMk/>
            <pc:sldMk cId="3115400695" sldId="276"/>
            <ac:spMk id="4" creationId="{F5D973E4-7410-72EC-982D-06CBB50A0722}"/>
          </ac:spMkLst>
        </pc:spChg>
      </pc:sldChg>
      <pc:sldChg chg="addSp delSp modSp new mod">
        <pc:chgData name="Steve Tillotson" userId="17c67371d77ccfb8" providerId="LiveId" clId="{CA80BF90-ACF5-4C46-A1A1-090A35F9F6C1}" dt="2026-05-20T15:32:39.920" v="1448" actId="20577"/>
        <pc:sldMkLst>
          <pc:docMk/>
          <pc:sldMk cId="1617484255" sldId="277"/>
        </pc:sldMkLst>
        <pc:spChg chg="mod">
          <ac:chgData name="Steve Tillotson" userId="17c67371d77ccfb8" providerId="LiveId" clId="{CA80BF90-ACF5-4C46-A1A1-090A35F9F6C1}" dt="2026-05-20T15:32:39.920" v="1448" actId="20577"/>
          <ac:spMkLst>
            <pc:docMk/>
            <pc:sldMk cId="1617484255" sldId="277"/>
            <ac:spMk id="4" creationId="{DA0C8C72-62FC-7123-880F-644AF3A47738}"/>
          </ac:spMkLst>
        </pc:spChg>
        <pc:spChg chg="add del">
          <ac:chgData name="Steve Tillotson" userId="17c67371d77ccfb8" providerId="LiveId" clId="{CA80BF90-ACF5-4C46-A1A1-090A35F9F6C1}" dt="2026-05-20T15:32:18.520" v="1431" actId="478"/>
          <ac:spMkLst>
            <pc:docMk/>
            <pc:sldMk cId="1617484255" sldId="277"/>
            <ac:spMk id="6" creationId="{7D44F177-A21A-7A9C-9427-4D97B671A6B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MOND Supply (thousands)</c:v>
                </c:pt>
              </c:strCache>
            </c:strRef>
          </c:tx>
          <c:spPr>
            <a:ln w="38100" cap="flat">
              <a:solidFill>
                <a:srgbClr val="C58A4D"/>
              </a:solidFill>
              <a:prstDash val="solid"/>
              <a:round/>
            </a:ln>
            <a:effectLst/>
          </c:spPr>
          <c:marker>
            <c:symbol val="circle"/>
            <c:size val="6"/>
            <c:spPr>
              <a:solidFill>
                <a:srgbClr val="C58A4D"/>
              </a:solidFill>
              <a:ln w="9525" cap="flat">
                <a:solidFill>
                  <a:srgbClr val="C58A4D"/>
                </a:solidFill>
                <a:prstDash val="solid"/>
                <a:round/>
              </a:ln>
              <a:effectLst/>
            </c:spPr>
          </c:marker>
          <c:cat>
            <c:strRef>
              <c:f>Sheet1!$A$2:$A$11</c:f>
              <c:strCache>
                <c:ptCount val="10"/>
                <c:pt idx="0">
                  <c:v>Y1</c:v>
                </c:pt>
                <c:pt idx="1">
                  <c:v>Y2</c:v>
                </c:pt>
                <c:pt idx="2">
                  <c:v>Y3</c:v>
                </c:pt>
                <c:pt idx="3">
                  <c:v>Y4</c:v>
                </c:pt>
                <c:pt idx="4">
                  <c:v>Y5</c:v>
                </c:pt>
                <c:pt idx="5">
                  <c:v>Y6</c:v>
                </c:pt>
                <c:pt idx="6">
                  <c:v>Y7</c:v>
                </c:pt>
                <c:pt idx="7">
                  <c:v>Y8</c:v>
                </c:pt>
                <c:pt idx="8">
                  <c:v>Y9</c:v>
                </c:pt>
                <c:pt idx="9">
                  <c:v>Y10</c:v>
                </c:pt>
              </c:strCache>
            </c:strRef>
          </c:cat>
          <c:val>
            <c:numRef>
              <c:f>Sheet1!$B$2:$B$11</c:f>
              <c:numCache>
                <c:formatCode>General</c:formatCode>
                <c:ptCount val="10"/>
                <c:pt idx="0">
                  <c:v>120</c:v>
                </c:pt>
                <c:pt idx="1">
                  <c:v>285</c:v>
                </c:pt>
                <c:pt idx="2">
                  <c:v>540</c:v>
                </c:pt>
                <c:pt idx="3">
                  <c:v>892</c:v>
                </c:pt>
                <c:pt idx="4">
                  <c:v>1320</c:v>
                </c:pt>
                <c:pt idx="5">
                  <c:v>1825</c:v>
                </c:pt>
                <c:pt idx="6">
                  <c:v>2410</c:v>
                </c:pt>
                <c:pt idx="7">
                  <c:v>3080</c:v>
                </c:pt>
                <c:pt idx="8">
                  <c:v>3855</c:v>
                </c:pt>
                <c:pt idx="9">
                  <c:v>4720</c:v>
                </c:pt>
              </c:numCache>
            </c:numRef>
          </c:val>
          <c:smooth val="1"/>
          <c:extLst>
            <c:ext xmlns:c16="http://schemas.microsoft.com/office/drawing/2014/chart" uri="{C3380CC4-5D6E-409C-BE32-E72D297353CC}">
              <c16:uniqueId val="{00000000-573A-4945-9A85-1E137AB71A9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7568"/>
                </a:solidFill>
                <a:latin typeface="Consola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7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7568"/>
                </a:solidFill>
                <a:latin typeface="Consolas"/>
              </a:defRPr>
            </a:pPr>
            <a:endParaRPr lang="en-US"/>
          </a:p>
        </c:txPr>
        <c:crossAx val="2094734554"/>
        <c:crosses val="autoZero"/>
        <c:crossBetween val="between"/>
      </c:valAx>
      <c:spPr>
        <a:solidFill>
          <a:srgbClr val="F6F2E9"/>
        </a:solidFill>
        <a:ln>
          <a:noFill/>
        </a:ln>
        <a:effectLst/>
      </c:spPr>
    </c:plotArea>
    <c:plotVisOnly val="1"/>
    <c:dispBlanksAs val="span"/>
    <c:showDLblsOverMax val="1"/>
  </c:chart>
  <c:spPr>
    <a:solidFill>
      <a:srgbClr val="F6F2E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333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EC4E9-D2E3-1CE4-CBE8-ED4D05CC5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E1B36-FE81-A14A-ED24-F3F3E91CF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7866D-5902-2CC6-9435-38F891763E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A0CD6B-5313-429A-5839-375D27315CB3}"/>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43269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6F2E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57200"/>
            <a:ext cx="1188720" cy="393192"/>
          </a:xfrm>
          <a:prstGeom prst="rect">
            <a:avLst/>
          </a:prstGeom>
        </p:spPr>
      </p:pic>
      <p:sp>
        <p:nvSpPr>
          <p:cNvPr id="3" name="Shape 0"/>
          <p:cNvSpPr/>
          <p:nvPr/>
        </p:nvSpPr>
        <p:spPr>
          <a:xfrm>
            <a:off x="548640" y="1051560"/>
            <a:ext cx="11091672" cy="0"/>
          </a:xfrm>
          <a:prstGeom prst="line">
            <a:avLst/>
          </a:prstGeom>
          <a:noFill/>
          <a:ln w="6350">
            <a:solidFill>
              <a:srgbClr val="EDE7D8"/>
            </a:solidFill>
            <a:prstDash val="solid"/>
          </a:ln>
        </p:spPr>
        <p:txBody>
          <a:bodyPr/>
          <a:lstStyle/>
          <a:p>
            <a:endParaRPr lang="en-GB"/>
          </a:p>
        </p:txBody>
      </p:sp>
      <p:sp>
        <p:nvSpPr>
          <p:cNvPr id="4" name="Shape 1"/>
          <p:cNvSpPr/>
          <p:nvPr/>
        </p:nvSpPr>
        <p:spPr>
          <a:xfrm>
            <a:off x="548640" y="6446520"/>
            <a:ext cx="11091672" cy="0"/>
          </a:xfrm>
          <a:prstGeom prst="line">
            <a:avLst/>
          </a:prstGeom>
          <a:noFill/>
          <a:ln w="6350">
            <a:solidFill>
              <a:srgbClr val="EDE7D8"/>
            </a:solidFill>
            <a:prstDash val="solid"/>
          </a:ln>
        </p:spPr>
        <p:txBody>
          <a:bodyPr/>
          <a:lstStyle/>
          <a:p>
            <a:endParaRPr lang="en-GB"/>
          </a:p>
        </p:txBody>
      </p:sp>
      <p:sp>
        <p:nvSpPr>
          <p:cNvPr id="5" name="Text 2"/>
          <p:cNvSpPr/>
          <p:nvPr/>
        </p:nvSpPr>
        <p:spPr>
          <a:xfrm>
            <a:off x="548640" y="6537960"/>
            <a:ext cx="2743200" cy="228600"/>
          </a:xfrm>
          <a:prstGeom prst="rect">
            <a:avLst/>
          </a:prstGeom>
          <a:noFill/>
          <a:ln/>
        </p:spPr>
        <p:txBody>
          <a:bodyPr wrap="square" lIns="0" tIns="0" rIns="0" bIns="0" rtlCol="0" anchor="ctr"/>
          <a:lstStyle/>
          <a:p>
            <a:pPr marL="0" indent="0">
              <a:buNone/>
            </a:pPr>
            <a:r>
              <a:rPr lang="en-US" sz="800" kern="0" spc="400" dirty="0">
                <a:solidFill>
                  <a:srgbClr val="7A7568"/>
                </a:solidFill>
                <a:latin typeface="Consolas" pitchFamily="34" charset="0"/>
                <a:ea typeface="Consolas" pitchFamily="34" charset="-122"/>
                <a:cs typeface="Consolas" pitchFamily="34" charset="-120"/>
              </a:rPr>
              <a:t>AXION INC.</a:t>
            </a:r>
            <a:endParaRPr lang="en-US" sz="800" dirty="0"/>
          </a:p>
        </p:txBody>
      </p:sp>
      <p:sp>
        <p:nvSpPr>
          <p:cNvPr id="6" name="Text 3"/>
          <p:cNvSpPr/>
          <p:nvPr/>
        </p:nvSpPr>
        <p:spPr>
          <a:xfrm>
            <a:off x="3474720" y="6537960"/>
            <a:ext cx="5239512" cy="228600"/>
          </a:xfrm>
          <a:prstGeom prst="rect">
            <a:avLst/>
          </a:prstGeom>
          <a:noFill/>
          <a:ln/>
        </p:spPr>
        <p:txBody>
          <a:bodyPr wrap="square" lIns="0" tIns="0" rIns="0" bIns="0" rtlCol="0" anchor="ctr"/>
          <a:lstStyle/>
          <a:p>
            <a:pPr marL="0" indent="0" algn="ctr">
              <a:buNone/>
            </a:pPr>
            <a:r>
              <a:rPr lang="en-US" sz="800" kern="0" spc="400" dirty="0">
                <a:solidFill>
                  <a:srgbClr val="7A7568"/>
                </a:solidFill>
                <a:latin typeface="Consolas" pitchFamily="34" charset="0"/>
                <a:ea typeface="Consolas" pitchFamily="34" charset="-122"/>
                <a:cs typeface="Consolas" pitchFamily="34" charset="-120"/>
              </a:rPr>
              <a:t>THE GREAT COLLISION  ·  CONFIDENTIAL</a:t>
            </a:r>
            <a:endParaRPr lang="en-US" sz="800" dirty="0"/>
          </a:p>
        </p:txBody>
      </p:sp>
      <p:sp>
        <p:nvSpPr>
          <p:cNvPr id="7" name="Text 4"/>
          <p:cNvSpPr>
            <a:spLocks noGrp="1"/>
          </p:cNvSpPr>
          <p:nvPr>
            <p:ph type="body" idx="105" hasCustomPrompt="1"/>
          </p:nvPr>
        </p:nvSpPr>
        <p:spPr>
          <a:xfrm>
            <a:off x="548640" y="1417320"/>
            <a:ext cx="11091672" cy="365760"/>
          </a:xfrm>
          <a:prstGeom prst="rect">
            <a:avLst/>
          </a:prstGeom>
          <a:noFill/>
          <a:ln/>
        </p:spPr>
        <p:txBody>
          <a:bodyPr wrap="square" rtlCol="0"/>
          <a:lstStyle>
            <a:lvl1pPr marL="0" indent="0">
              <a:buNone/>
              <a:defRPr lang="en-US" sz="1000" kern="0" spc="300" dirty="0">
                <a:solidFill>
                  <a:srgbClr val="7A7568"/>
                </a:solidFill>
                <a:latin typeface="Consolas" pitchFamily="34" charset="0"/>
                <a:ea typeface="Consolas" pitchFamily="34" charset="-122"/>
                <a:cs typeface="Consolas" pitchFamily="34" charset="-120"/>
              </a:defRPr>
            </a:lvl1pPr>
          </a:lstStyle>
          <a:p>
            <a:pPr marL="0" indent="0">
              <a:buNone/>
            </a:pPr>
            <a:r>
              <a:rPr lang="en-US" sz="1000" kern="0" spc="300" dirty="0">
                <a:solidFill>
                  <a:srgbClr val="7A7568"/>
                </a:solidFill>
                <a:latin typeface="Consolas" pitchFamily="34" charset="0"/>
                <a:ea typeface="Consolas" pitchFamily="34" charset="-122"/>
                <a:cs typeface="Consolas" pitchFamily="34" charset="-120"/>
              </a:rPr>
              <a:t>EYEBROW</a:t>
            </a:r>
            <a:endParaRPr lang="en-US" sz="1000" dirty="0"/>
          </a:p>
        </p:txBody>
      </p:sp>
      <p:sp>
        <p:nvSpPr>
          <p:cNvPr id="8" name="Text 4"/>
          <p:cNvSpPr>
            <a:spLocks noGrp="1"/>
          </p:cNvSpPr>
          <p:nvPr>
            <p:ph type="title" idx="106" hasCustomPrompt="1"/>
          </p:nvPr>
        </p:nvSpPr>
        <p:spPr>
          <a:xfrm>
            <a:off x="548640" y="1783080"/>
            <a:ext cx="11091672" cy="914400"/>
          </a:xfrm>
          <a:prstGeom prst="rect">
            <a:avLst/>
          </a:prstGeom>
          <a:noFill/>
          <a:ln/>
        </p:spPr>
        <p:txBody>
          <a:bodyPr wrap="square" rtlCol="0"/>
          <a:lstStyle>
            <a:lvl1pPr marL="0" indent="0" algn="l">
              <a:buNone/>
              <a:defRPr lang="en-US" sz="3600" dirty="0">
                <a:solidFill>
                  <a:srgbClr val="0A0A0A"/>
                </a:solidFill>
                <a:latin typeface="Calibri Light" pitchFamily="34" charset="0"/>
                <a:ea typeface="Calibri Light" pitchFamily="34" charset="-122"/>
                <a:cs typeface="Calibri Light" pitchFamily="34" charset="-120"/>
              </a:defRPr>
            </a:lvl1pPr>
          </a:lstStyle>
          <a:p>
            <a:pPr marL="0" indent="0" algn="l">
              <a:buNone/>
            </a:pPr>
            <a:r>
              <a:rPr lang="en-US" sz="3600" dirty="0">
                <a:solidFill>
                  <a:srgbClr val="0A0A0A"/>
                </a:solidFill>
                <a:latin typeface="Calibri Light" pitchFamily="34" charset="0"/>
                <a:ea typeface="Calibri Light" pitchFamily="34" charset="-122"/>
                <a:cs typeface="Calibri Light" pitchFamily="34" charset="-120"/>
              </a:rPr>
              <a:t>Click to add title</a:t>
            </a:r>
            <a:endParaRPr lang="en-US" sz="3600" dirty="0"/>
          </a:p>
        </p:txBody>
      </p:sp>
      <p:sp>
        <p:nvSpPr>
          <p:cNvPr id="9" name="Text 4"/>
          <p:cNvSpPr>
            <a:spLocks noGrp="1"/>
          </p:cNvSpPr>
          <p:nvPr>
            <p:ph type="body" idx="107" hasCustomPrompt="1"/>
          </p:nvPr>
        </p:nvSpPr>
        <p:spPr>
          <a:xfrm>
            <a:off x="548640" y="2926080"/>
            <a:ext cx="11091672" cy="3291840"/>
          </a:xfrm>
          <a:prstGeom prst="rect">
            <a:avLst/>
          </a:prstGeom>
          <a:noFill/>
          <a:ln/>
        </p:spPr>
        <p:txBody>
          <a:bodyPr wrap="square" rtlCol="0"/>
          <a:lstStyle>
            <a:lvl1pPr marL="342900" indent="-342900">
              <a:spcAft>
                <a:spcPts val="800"/>
              </a:spcAft>
              <a:buSzPct val="100000"/>
              <a:buChar char="■"/>
              <a:defRPr lang="en-US" sz="1600" dirty="0">
                <a:solidFill>
                  <a:srgbClr val="0A0A0A"/>
                </a:solidFill>
                <a:latin typeface="Calibri" pitchFamily="34" charset="0"/>
                <a:ea typeface="Calibri" pitchFamily="34" charset="-122"/>
                <a:cs typeface="Calibri" pitchFamily="34" charset="-120"/>
              </a:defRPr>
            </a:lvl1pPr>
          </a:lstStyle>
          <a:p>
            <a:pPr marL="3429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Click to add text</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A0A0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57200"/>
            <a:ext cx="1188720" cy="393192"/>
          </a:xfrm>
          <a:prstGeom prst="rect">
            <a:avLst/>
          </a:prstGeom>
        </p:spPr>
      </p:pic>
      <p:sp>
        <p:nvSpPr>
          <p:cNvPr id="3" name="Shape 0"/>
          <p:cNvSpPr/>
          <p:nvPr/>
        </p:nvSpPr>
        <p:spPr>
          <a:xfrm>
            <a:off x="548640" y="1051560"/>
            <a:ext cx="11091672" cy="0"/>
          </a:xfrm>
          <a:prstGeom prst="line">
            <a:avLst/>
          </a:prstGeom>
          <a:noFill/>
          <a:ln w="6350">
            <a:solidFill>
              <a:srgbClr val="2A2A2A"/>
            </a:solidFill>
            <a:prstDash val="solid"/>
          </a:ln>
        </p:spPr>
        <p:txBody>
          <a:bodyPr/>
          <a:lstStyle/>
          <a:p>
            <a:endParaRPr lang="en-GB"/>
          </a:p>
        </p:txBody>
      </p:sp>
      <p:sp>
        <p:nvSpPr>
          <p:cNvPr id="4" name="Shape 1"/>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5" name="Text 2"/>
          <p:cNvSpPr/>
          <p:nvPr/>
        </p:nvSpPr>
        <p:spPr>
          <a:xfrm>
            <a:off x="548640" y="6537960"/>
            <a:ext cx="2743200" cy="228600"/>
          </a:xfrm>
          <a:prstGeom prst="rect">
            <a:avLst/>
          </a:prstGeom>
          <a:noFill/>
          <a:ln/>
        </p:spPr>
        <p:txBody>
          <a:bodyPr wrap="square" lIns="0" tIns="0" rIns="0" bIns="0" rtlCol="0" anchor="ctr"/>
          <a:lstStyle/>
          <a:p>
            <a:pPr marL="0" indent="0">
              <a:buNone/>
            </a:pPr>
            <a:r>
              <a:rPr lang="en-US" sz="800" kern="0" spc="400" dirty="0">
                <a:solidFill>
                  <a:srgbClr val="9D998E"/>
                </a:solidFill>
                <a:latin typeface="Consolas" pitchFamily="34" charset="0"/>
                <a:ea typeface="Consolas" pitchFamily="34" charset="-122"/>
                <a:cs typeface="Consolas" pitchFamily="34" charset="-120"/>
              </a:rPr>
              <a:t>AXION INC.</a:t>
            </a:r>
            <a:endParaRPr lang="en-US" sz="800" dirty="0"/>
          </a:p>
        </p:txBody>
      </p:sp>
      <p:sp>
        <p:nvSpPr>
          <p:cNvPr id="6" name="Text 3"/>
          <p:cNvSpPr/>
          <p:nvPr/>
        </p:nvSpPr>
        <p:spPr>
          <a:xfrm>
            <a:off x="3474720" y="6537960"/>
            <a:ext cx="5239512" cy="228600"/>
          </a:xfrm>
          <a:prstGeom prst="rect">
            <a:avLst/>
          </a:prstGeom>
          <a:noFill/>
          <a:ln/>
        </p:spPr>
        <p:txBody>
          <a:bodyPr wrap="square" lIns="0" tIns="0" rIns="0" bIns="0" rtlCol="0" anchor="ctr"/>
          <a:lstStyle/>
          <a:p>
            <a:pPr marL="0" indent="0" algn="ctr">
              <a:buNone/>
            </a:pPr>
            <a:r>
              <a:rPr lang="en-US" sz="800" kern="0" spc="400" dirty="0">
                <a:solidFill>
                  <a:srgbClr val="9D998E"/>
                </a:solidFill>
                <a:latin typeface="Consolas" pitchFamily="34" charset="0"/>
                <a:ea typeface="Consolas" pitchFamily="34" charset="-122"/>
                <a:cs typeface="Consolas" pitchFamily="34" charset="-120"/>
              </a:rPr>
              <a:t>THE GREAT COLLISION  ·  CONFIDENTIAL</a:t>
            </a:r>
            <a:endParaRPr lang="en-US" sz="800" dirty="0"/>
          </a:p>
        </p:txBody>
      </p:sp>
      <p:sp>
        <p:nvSpPr>
          <p:cNvPr id="7" name="Text 4"/>
          <p:cNvSpPr>
            <a:spLocks noGrp="1"/>
          </p:cNvSpPr>
          <p:nvPr>
            <p:ph type="body" idx="105" hasCustomPrompt="1"/>
          </p:nvPr>
        </p:nvSpPr>
        <p:spPr>
          <a:xfrm>
            <a:off x="548640" y="1417320"/>
            <a:ext cx="11091672" cy="365760"/>
          </a:xfrm>
          <a:prstGeom prst="rect">
            <a:avLst/>
          </a:prstGeom>
          <a:noFill/>
          <a:ln/>
        </p:spPr>
        <p:txBody>
          <a:bodyPr wrap="square" rtlCol="0"/>
          <a:lstStyle>
            <a:lvl1pPr marL="0" indent="0">
              <a:buNone/>
              <a:defRPr lang="en-US" sz="1000" kern="0" spc="300" dirty="0">
                <a:solidFill>
                  <a:srgbClr val="9D998E"/>
                </a:solidFill>
                <a:latin typeface="Consolas" pitchFamily="34" charset="0"/>
                <a:ea typeface="Consolas" pitchFamily="34" charset="-122"/>
                <a:cs typeface="Consolas" pitchFamily="34" charset="-120"/>
              </a:defRPr>
            </a:lvl1pPr>
          </a:lstStyle>
          <a:p>
            <a:pPr marL="0" indent="0">
              <a:buNone/>
            </a:pPr>
            <a:r>
              <a:rPr lang="en-US" sz="1000" kern="0" spc="300" dirty="0">
                <a:solidFill>
                  <a:srgbClr val="9D998E"/>
                </a:solidFill>
                <a:latin typeface="Consolas" pitchFamily="34" charset="0"/>
                <a:ea typeface="Consolas" pitchFamily="34" charset="-122"/>
                <a:cs typeface="Consolas" pitchFamily="34" charset="-120"/>
              </a:rPr>
              <a:t>EYEBROW</a:t>
            </a:r>
            <a:endParaRPr lang="en-US" sz="1000" dirty="0"/>
          </a:p>
        </p:txBody>
      </p:sp>
      <p:sp>
        <p:nvSpPr>
          <p:cNvPr id="8" name="Text 4"/>
          <p:cNvSpPr>
            <a:spLocks noGrp="1"/>
          </p:cNvSpPr>
          <p:nvPr>
            <p:ph type="title" idx="106" hasCustomPrompt="1"/>
          </p:nvPr>
        </p:nvSpPr>
        <p:spPr>
          <a:xfrm>
            <a:off x="548640" y="1783080"/>
            <a:ext cx="11091672" cy="914400"/>
          </a:xfrm>
          <a:prstGeom prst="rect">
            <a:avLst/>
          </a:prstGeom>
          <a:noFill/>
          <a:ln/>
        </p:spPr>
        <p:txBody>
          <a:bodyPr wrap="square" rtlCol="0"/>
          <a:lstStyle>
            <a:lvl1pPr marL="0" indent="0" algn="l">
              <a:buNone/>
              <a:defRPr lang="en-US" sz="3600" dirty="0">
                <a:solidFill>
                  <a:srgbClr val="F0EDE6"/>
                </a:solidFill>
                <a:latin typeface="Calibri Light" pitchFamily="34" charset="0"/>
                <a:ea typeface="Calibri Light" pitchFamily="34" charset="-122"/>
                <a:cs typeface="Calibri Light" pitchFamily="34" charset="-120"/>
              </a:defRPr>
            </a:lvl1pPr>
          </a:lstStyle>
          <a:p>
            <a:pPr marL="0" indent="0" algn="l">
              <a:buNone/>
            </a:pPr>
            <a:r>
              <a:rPr lang="en-US" sz="3600" dirty="0">
                <a:solidFill>
                  <a:srgbClr val="F0EDE6"/>
                </a:solidFill>
                <a:latin typeface="Calibri Light" pitchFamily="34" charset="0"/>
                <a:ea typeface="Calibri Light" pitchFamily="34" charset="-122"/>
                <a:cs typeface="Calibri Light" pitchFamily="34" charset="-120"/>
              </a:rPr>
              <a:t>Click to add title</a:t>
            </a:r>
            <a:endParaRPr lang="en-US" sz="3600" dirty="0"/>
          </a:p>
        </p:txBody>
      </p:sp>
      <p:sp>
        <p:nvSpPr>
          <p:cNvPr id="9" name="Text 4"/>
          <p:cNvSpPr>
            <a:spLocks noGrp="1"/>
          </p:cNvSpPr>
          <p:nvPr>
            <p:ph type="body" idx="107" hasCustomPrompt="1"/>
          </p:nvPr>
        </p:nvSpPr>
        <p:spPr>
          <a:xfrm>
            <a:off x="548640" y="2926080"/>
            <a:ext cx="11091672" cy="3291840"/>
          </a:xfrm>
          <a:prstGeom prst="rect">
            <a:avLst/>
          </a:prstGeom>
          <a:noFill/>
          <a:ln/>
        </p:spPr>
        <p:txBody>
          <a:bodyPr wrap="square" rtlCol="0"/>
          <a:lstStyle>
            <a:lvl1pPr marL="342900" indent="-342900">
              <a:spcAft>
                <a:spcPts val="800"/>
              </a:spcAft>
              <a:buSzPct val="100000"/>
              <a:buChar char="■"/>
              <a:defRPr lang="en-US" sz="1600" dirty="0">
                <a:solidFill>
                  <a:srgbClr val="F0EDE6"/>
                </a:solidFill>
                <a:latin typeface="Calibri" pitchFamily="34" charset="0"/>
                <a:ea typeface="Calibri" pitchFamily="34" charset="-122"/>
                <a:cs typeface="Calibri" pitchFamily="34" charset="-120"/>
              </a:defRPr>
            </a:lvl1pPr>
          </a:lstStyle>
          <a:p>
            <a:pPr marL="342900" indent="-342900">
              <a:spcAft>
                <a:spcPts val="800"/>
              </a:spcAft>
              <a:buSzPct val="100000"/>
              <a:buChar char="■"/>
            </a:pPr>
            <a:r>
              <a:rPr lang="en-US" sz="1600" dirty="0">
                <a:solidFill>
                  <a:srgbClr val="F0EDE6"/>
                </a:solidFill>
                <a:latin typeface="Calibri" pitchFamily="34" charset="0"/>
                <a:ea typeface="Calibri" pitchFamily="34" charset="-122"/>
                <a:cs typeface="Calibri" pitchFamily="34" charset="-120"/>
              </a:rPr>
              <a:t>Click to add text</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D998E"/>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0A0A0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LIGHT">
    <p:bg>
      <p:bgPr>
        <a:solidFill>
          <a:srgbClr val="F6F2E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_DIVIDER">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3" name="Text 1"/>
          <p:cNvSpPr>
            <a:spLocks noGrp="1"/>
          </p:cNvSpPr>
          <p:nvPr>
            <p:ph type="body" idx="101" hasCustomPrompt="1"/>
          </p:nvPr>
        </p:nvSpPr>
        <p:spPr>
          <a:xfrm>
            <a:off x="777240" y="914400"/>
            <a:ext cx="7315200" cy="365760"/>
          </a:xfrm>
          <a:prstGeom prst="rect">
            <a:avLst/>
          </a:prstGeom>
          <a:noFill/>
          <a:ln/>
        </p:spPr>
        <p:txBody>
          <a:bodyPr wrap="square" rtlCol="0"/>
          <a:lstStyle>
            <a:lvl1pPr marL="0" indent="0">
              <a:buNone/>
              <a:defRPr lang="en-US" sz="1100" kern="0" spc="600" dirty="0">
                <a:solidFill>
                  <a:srgbClr val="C58A4D"/>
                </a:solidFill>
                <a:latin typeface="Consolas" pitchFamily="34" charset="0"/>
                <a:ea typeface="Consolas" pitchFamily="34" charset="-122"/>
                <a:cs typeface="Consolas" pitchFamily="34" charset="-120"/>
              </a:defRPr>
            </a:lvl1pPr>
          </a:lstStyle>
          <a:p>
            <a:pPr marL="0" indent="0">
              <a:buNone/>
            </a:pPr>
            <a:r>
              <a:rPr lang="en-US" sz="1100" kern="0" spc="600" dirty="0">
                <a:solidFill>
                  <a:srgbClr val="C58A4D"/>
                </a:solidFill>
                <a:latin typeface="Consolas" pitchFamily="34" charset="0"/>
                <a:ea typeface="Consolas" pitchFamily="34" charset="-122"/>
                <a:cs typeface="Consolas" pitchFamily="34" charset="-120"/>
              </a:rPr>
              <a:t>ACT I</a:t>
            </a:r>
            <a:endParaRPr lang="en-US" sz="1100" dirty="0"/>
          </a:p>
        </p:txBody>
      </p:sp>
      <p:sp>
        <p:nvSpPr>
          <p:cNvPr id="4" name="Shape 1"/>
          <p:cNvSpPr/>
          <p:nvPr/>
        </p:nvSpPr>
        <p:spPr>
          <a:xfrm>
            <a:off x="777240" y="1371600"/>
            <a:ext cx="548640" cy="0"/>
          </a:xfrm>
          <a:prstGeom prst="line">
            <a:avLst/>
          </a:prstGeom>
          <a:noFill/>
          <a:ln w="12700">
            <a:solidFill>
              <a:srgbClr val="C58A4D"/>
            </a:solidFill>
            <a:prstDash val="solid"/>
          </a:ln>
        </p:spPr>
        <p:txBody>
          <a:bodyPr/>
          <a:lstStyle/>
          <a:p>
            <a:endParaRPr lang="en-GB"/>
          </a:p>
        </p:txBody>
      </p:sp>
      <p:sp>
        <p:nvSpPr>
          <p:cNvPr id="5" name="Text 2"/>
          <p:cNvSpPr>
            <a:spLocks noGrp="1"/>
          </p:cNvSpPr>
          <p:nvPr>
            <p:ph type="title" idx="103" hasCustomPrompt="1"/>
          </p:nvPr>
        </p:nvSpPr>
        <p:spPr>
          <a:xfrm>
            <a:off x="777240" y="1828800"/>
            <a:ext cx="10515600" cy="3200400"/>
          </a:xfrm>
          <a:prstGeom prst="rect">
            <a:avLst/>
          </a:prstGeom>
          <a:noFill/>
          <a:ln/>
        </p:spPr>
        <p:txBody>
          <a:bodyPr wrap="square" rtlCol="0"/>
          <a:lstStyle>
            <a:lvl1pPr marL="0" indent="0" algn="l">
              <a:lnSpc>
                <a:spcPct val="105000"/>
              </a:lnSpc>
              <a:buNone/>
              <a:defRPr lang="en-US" sz="7200" dirty="0">
                <a:solidFill>
                  <a:srgbClr val="F0EDE6"/>
                </a:solidFill>
                <a:latin typeface="Calibri Light" pitchFamily="34" charset="0"/>
                <a:ea typeface="Calibri Light" pitchFamily="34" charset="-122"/>
                <a:cs typeface="Calibri Light" pitchFamily="34" charset="-120"/>
              </a:defRPr>
            </a:lvl1pPr>
          </a:lstStyle>
          <a:p>
            <a:pPr marL="0" indent="0" algn="l">
              <a:lnSpc>
                <a:spcPct val="105000"/>
              </a:lnSpc>
              <a:buNone/>
            </a:pPr>
            <a:r>
              <a:rPr lang="en-US" sz="7200" dirty="0">
                <a:solidFill>
                  <a:srgbClr val="F0EDE6"/>
                </a:solidFill>
                <a:latin typeface="Calibri Light" pitchFamily="34" charset="0"/>
                <a:ea typeface="Calibri Light" pitchFamily="34" charset="-122"/>
                <a:cs typeface="Calibri Light" pitchFamily="34" charset="-120"/>
              </a:rPr>
              <a:t>Section headline</a:t>
            </a:r>
            <a:endParaRPr lang="en-US" sz="7200" dirty="0"/>
          </a:p>
        </p:txBody>
      </p:sp>
      <p:sp>
        <p:nvSpPr>
          <p:cNvPr id="6" name="Text 2"/>
          <p:cNvSpPr>
            <a:spLocks noGrp="1"/>
          </p:cNvSpPr>
          <p:nvPr>
            <p:ph type="body" idx="104" hasCustomPrompt="1"/>
          </p:nvPr>
        </p:nvSpPr>
        <p:spPr>
          <a:xfrm>
            <a:off x="777240" y="5212080"/>
            <a:ext cx="8686800" cy="914400"/>
          </a:xfrm>
          <a:prstGeom prst="rect">
            <a:avLst/>
          </a:prstGeom>
          <a:noFill/>
          <a:ln/>
        </p:spPr>
        <p:txBody>
          <a:bodyPr wrap="square" rtlCol="0"/>
          <a:lstStyle>
            <a:lvl1pPr marL="0" indent="0">
              <a:buNone/>
              <a:defRPr lang="en-US" sz="1400" dirty="0">
                <a:solidFill>
                  <a:srgbClr val="F0EDE6"/>
                </a:solidFill>
                <a:latin typeface="Calibri" pitchFamily="34" charset="0"/>
                <a:ea typeface="Calibri" pitchFamily="34" charset="-122"/>
                <a:cs typeface="Calibri" pitchFamily="34" charset="-120"/>
              </a:defRPr>
            </a:lvl1pPr>
          </a:lstStyle>
          <a:p>
            <a:pPr marL="0" indent="0">
              <a:buNone/>
            </a:pPr>
            <a:r>
              <a:rPr lang="en-US" sz="1400" dirty="0">
                <a:solidFill>
                  <a:srgbClr val="F0EDE6"/>
                </a:solidFill>
                <a:latin typeface="Calibri" pitchFamily="34" charset="0"/>
                <a:ea typeface="Calibri" pitchFamily="34" charset="-122"/>
                <a:cs typeface="Calibri" pitchFamily="34" charset="-120"/>
              </a:rPr>
              <a:t>Optional section lede</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7240" y="2011680"/>
            <a:ext cx="4114800" cy="1371600"/>
          </a:xfrm>
          <a:prstGeom prst="rect">
            <a:avLst/>
          </a:prstGeom>
        </p:spPr>
      </p:pic>
      <p:sp>
        <p:nvSpPr>
          <p:cNvPr id="3" name="Shape 0"/>
          <p:cNvSpPr/>
          <p:nvPr/>
        </p:nvSpPr>
        <p:spPr>
          <a:xfrm>
            <a:off x="5212080" y="2103120"/>
            <a:ext cx="0" cy="1188720"/>
          </a:xfrm>
          <a:prstGeom prst="line">
            <a:avLst/>
          </a:prstGeom>
          <a:noFill/>
          <a:ln w="15875">
            <a:solidFill>
              <a:srgbClr val="C58A4D"/>
            </a:solidFill>
            <a:prstDash val="solid"/>
          </a:ln>
        </p:spPr>
        <p:txBody>
          <a:bodyPr/>
          <a:lstStyle/>
          <a:p>
            <a:endParaRPr lang="en-GB"/>
          </a:p>
        </p:txBody>
      </p:sp>
      <p:sp>
        <p:nvSpPr>
          <p:cNvPr id="4" name="Text 1"/>
          <p:cNvSpPr/>
          <p:nvPr/>
        </p:nvSpPr>
        <p:spPr>
          <a:xfrm>
            <a:off x="5486400" y="2103120"/>
            <a:ext cx="5943600" cy="548640"/>
          </a:xfrm>
          <a:prstGeom prst="rect">
            <a:avLst/>
          </a:prstGeom>
          <a:noFill/>
          <a:ln/>
        </p:spPr>
        <p:txBody>
          <a:bodyPr wrap="square" lIns="0" tIns="0" rIns="0" bIns="0" rtlCol="0" anchor="ctr"/>
          <a:lstStyle/>
          <a:p>
            <a:pPr marL="0" indent="0">
              <a:buNone/>
            </a:pPr>
            <a:r>
              <a:rPr lang="en-US" sz="2800" dirty="0">
                <a:solidFill>
                  <a:srgbClr val="F0EDE6"/>
                </a:solidFill>
                <a:latin typeface="Calibri Light" pitchFamily="34" charset="0"/>
                <a:ea typeface="Calibri Light" pitchFamily="34" charset="-122"/>
                <a:cs typeface="Calibri Light" pitchFamily="34" charset="-120"/>
              </a:rPr>
              <a:t>Capitalist UBI Infrastructure</a:t>
            </a:r>
            <a:endParaRPr lang="en-US" sz="2800" dirty="0"/>
          </a:p>
        </p:txBody>
      </p:sp>
      <p:sp>
        <p:nvSpPr>
          <p:cNvPr id="5" name="Text 2"/>
          <p:cNvSpPr/>
          <p:nvPr/>
        </p:nvSpPr>
        <p:spPr>
          <a:xfrm>
            <a:off x="5486400" y="2697480"/>
            <a:ext cx="5943600" cy="365760"/>
          </a:xfrm>
          <a:prstGeom prst="rect">
            <a:avLst/>
          </a:prstGeom>
          <a:noFill/>
          <a:ln/>
        </p:spPr>
        <p:txBody>
          <a:bodyPr wrap="square" lIns="0" tIns="0" rIns="0" bIns="0" rtlCol="0" anchor="ctr"/>
          <a:lstStyle/>
          <a:p>
            <a:pPr marL="0" indent="0">
              <a:buNone/>
            </a:pPr>
            <a:r>
              <a:rPr lang="en-US" sz="1400" dirty="0">
                <a:solidFill>
                  <a:srgbClr val="F0EDE6">
                    <a:alpha val="65000"/>
                  </a:srgbClr>
                </a:solidFill>
                <a:latin typeface="Calibri" pitchFamily="34" charset="0"/>
                <a:ea typeface="Calibri" pitchFamily="34" charset="-122"/>
                <a:cs typeface="Calibri" pitchFamily="34" charset="-120"/>
              </a:rPr>
              <a:t>Overview</a:t>
            </a:r>
            <a:endParaRPr lang="en-US" sz="1400" dirty="0"/>
          </a:p>
        </p:txBody>
      </p:sp>
      <p:sp>
        <p:nvSpPr>
          <p:cNvPr id="6" name="Text 3"/>
          <p:cNvSpPr/>
          <p:nvPr/>
        </p:nvSpPr>
        <p:spPr>
          <a:xfrm>
            <a:off x="5486400" y="3108960"/>
            <a:ext cx="6675120" cy="365760"/>
          </a:xfrm>
          <a:prstGeom prst="rect">
            <a:avLst/>
          </a:prstGeom>
          <a:noFill/>
          <a:ln/>
        </p:spPr>
        <p:txBody>
          <a:bodyPr wrap="square" lIns="0" tIns="0" rIns="0" bIns="0" rtlCol="0" anchor="ctr"/>
          <a:lstStyle/>
          <a:p>
            <a:pPr marL="0" indent="0">
              <a:buNone/>
            </a:pPr>
            <a:r>
              <a:rPr lang="en-US" sz="1000" kern="0" spc="400" dirty="0">
                <a:solidFill>
                  <a:srgbClr val="C58A4D"/>
                </a:solidFill>
                <a:latin typeface="Consolas" pitchFamily="34" charset="0"/>
                <a:ea typeface="Consolas" pitchFamily="34" charset="-122"/>
                <a:cs typeface="Consolas" pitchFamily="34" charset="-120"/>
              </a:rPr>
              <a:t>JUNE 2026  ·  STEVE TILLOTSON, FOUNDER &amp; CEO</a:t>
            </a:r>
            <a:endParaRPr lang="en-US" sz="1000" dirty="0"/>
          </a:p>
        </p:txBody>
      </p:sp>
      <p:sp>
        <p:nvSpPr>
          <p:cNvPr id="7" name="Shape 4"/>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8" name="Text 5"/>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400" dirty="0">
                <a:solidFill>
                  <a:srgbClr val="9D998E"/>
                </a:solidFill>
                <a:latin typeface="Consolas" pitchFamily="34" charset="0"/>
                <a:ea typeface="Consolas" pitchFamily="34" charset="-122"/>
                <a:cs typeface="Consolas" pitchFamily="34" charset="-120"/>
              </a:rPr>
              <a:t>©Axion Inc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CONTENTS</a:t>
            </a:r>
            <a:endParaRPr lang="en-US" sz="1000" dirty="0"/>
          </a:p>
        </p:txBody>
      </p:sp>
      <p:sp>
        <p:nvSpPr>
          <p:cNvPr id="4" name="Text 2"/>
          <p:cNvSpPr/>
          <p:nvPr/>
        </p:nvSpPr>
        <p:spPr>
          <a:xfrm>
            <a:off x="548640" y="1878251"/>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01</a:t>
            </a:r>
            <a:endParaRPr lang="en-US" sz="1200" dirty="0"/>
          </a:p>
        </p:txBody>
      </p:sp>
      <p:sp>
        <p:nvSpPr>
          <p:cNvPr id="5" name="Text 3"/>
          <p:cNvSpPr/>
          <p:nvPr/>
        </p:nvSpPr>
        <p:spPr>
          <a:xfrm>
            <a:off x="1280160" y="1878251"/>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AI Projection</a:t>
            </a:r>
            <a:endParaRPr lang="en-US" sz="1800" dirty="0"/>
          </a:p>
        </p:txBody>
      </p:sp>
      <p:sp>
        <p:nvSpPr>
          <p:cNvPr id="6" name="Text 4"/>
          <p:cNvSpPr/>
          <p:nvPr/>
        </p:nvSpPr>
        <p:spPr>
          <a:xfrm>
            <a:off x="6217920" y="1878251"/>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Why the next 36 months break the legacy economy</a:t>
            </a:r>
            <a:endParaRPr lang="en-US" sz="1300" dirty="0"/>
          </a:p>
        </p:txBody>
      </p:sp>
      <p:sp>
        <p:nvSpPr>
          <p:cNvPr id="7" name="Text 5"/>
          <p:cNvSpPr/>
          <p:nvPr/>
        </p:nvSpPr>
        <p:spPr>
          <a:xfrm>
            <a:off x="548640" y="2472611"/>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02</a:t>
            </a:r>
            <a:endParaRPr lang="en-US" sz="1200" dirty="0"/>
          </a:p>
        </p:txBody>
      </p:sp>
      <p:sp>
        <p:nvSpPr>
          <p:cNvPr id="8" name="Text 6"/>
          <p:cNvSpPr/>
          <p:nvPr/>
        </p:nvSpPr>
        <p:spPr>
          <a:xfrm>
            <a:off x="1280160" y="2472611"/>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Axion Protocol</a:t>
            </a:r>
            <a:endParaRPr lang="en-US" sz="1800" dirty="0"/>
          </a:p>
        </p:txBody>
      </p:sp>
      <p:sp>
        <p:nvSpPr>
          <p:cNvPr id="9" name="Text 7"/>
          <p:cNvSpPr/>
          <p:nvPr/>
        </p:nvSpPr>
        <p:spPr>
          <a:xfrm>
            <a:off x="6217920" y="2472611"/>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A parallel economic infrastructure</a:t>
            </a:r>
            <a:endParaRPr lang="en-US" sz="1300" dirty="0"/>
          </a:p>
        </p:txBody>
      </p:sp>
      <p:sp>
        <p:nvSpPr>
          <p:cNvPr id="10" name="Text 8"/>
          <p:cNvSpPr/>
          <p:nvPr/>
        </p:nvSpPr>
        <p:spPr>
          <a:xfrm>
            <a:off x="548640" y="3066971"/>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03</a:t>
            </a:r>
            <a:endParaRPr lang="en-US" sz="1200" dirty="0"/>
          </a:p>
        </p:txBody>
      </p:sp>
      <p:sp>
        <p:nvSpPr>
          <p:cNvPr id="11" name="Text 9"/>
          <p:cNvSpPr/>
          <p:nvPr/>
        </p:nvSpPr>
        <p:spPr>
          <a:xfrm>
            <a:off x="1280160" y="3066971"/>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MOND</a:t>
            </a:r>
            <a:endParaRPr lang="en-US" sz="1800" dirty="0"/>
          </a:p>
        </p:txBody>
      </p:sp>
      <p:sp>
        <p:nvSpPr>
          <p:cNvPr id="12" name="Text 10"/>
          <p:cNvSpPr/>
          <p:nvPr/>
        </p:nvSpPr>
        <p:spPr>
          <a:xfrm>
            <a:off x="6217920" y="3066971"/>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How dividends replace wages</a:t>
            </a:r>
            <a:endParaRPr lang="en-US" sz="1300" dirty="0"/>
          </a:p>
        </p:txBody>
      </p:sp>
      <p:sp>
        <p:nvSpPr>
          <p:cNvPr id="13" name="Text 11"/>
          <p:cNvSpPr/>
          <p:nvPr/>
        </p:nvSpPr>
        <p:spPr>
          <a:xfrm>
            <a:off x="548640" y="3661331"/>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04</a:t>
            </a:r>
            <a:endParaRPr lang="en-US" sz="1200" dirty="0"/>
          </a:p>
        </p:txBody>
      </p:sp>
      <p:sp>
        <p:nvSpPr>
          <p:cNvPr id="14" name="Text 12"/>
          <p:cNvSpPr/>
          <p:nvPr/>
        </p:nvSpPr>
        <p:spPr>
          <a:xfrm>
            <a:off x="1280160" y="3661331"/>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Earth Colony Model</a:t>
            </a:r>
            <a:endParaRPr lang="en-US" sz="1800" dirty="0"/>
          </a:p>
        </p:txBody>
      </p:sp>
      <p:sp>
        <p:nvSpPr>
          <p:cNvPr id="15" name="Text 13"/>
          <p:cNvSpPr/>
          <p:nvPr/>
        </p:nvSpPr>
        <p:spPr>
          <a:xfrm>
            <a:off x="6217920" y="3661331"/>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From design to deployment</a:t>
            </a:r>
            <a:endParaRPr lang="en-US" sz="1300" dirty="0"/>
          </a:p>
        </p:txBody>
      </p:sp>
      <p:sp>
        <p:nvSpPr>
          <p:cNvPr id="16" name="Text 14"/>
          <p:cNvSpPr/>
          <p:nvPr/>
        </p:nvSpPr>
        <p:spPr>
          <a:xfrm>
            <a:off x="548640" y="4255691"/>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05</a:t>
            </a:r>
            <a:endParaRPr lang="en-US" sz="1200" dirty="0"/>
          </a:p>
        </p:txBody>
      </p:sp>
      <p:sp>
        <p:nvSpPr>
          <p:cNvPr id="17" name="Text 15"/>
          <p:cNvSpPr/>
          <p:nvPr/>
        </p:nvSpPr>
        <p:spPr>
          <a:xfrm>
            <a:off x="1280160" y="4255691"/>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Roadmap &amp; ask</a:t>
            </a:r>
            <a:endParaRPr lang="en-US" sz="1800" dirty="0"/>
          </a:p>
        </p:txBody>
      </p:sp>
      <p:sp>
        <p:nvSpPr>
          <p:cNvPr id="18" name="Text 16"/>
          <p:cNvSpPr/>
          <p:nvPr/>
        </p:nvSpPr>
        <p:spPr>
          <a:xfrm>
            <a:off x="6217920" y="4255691"/>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What we need to make it real</a:t>
            </a:r>
            <a:endParaRPr lang="en-US" sz="13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EFCDB4-B62A-CD41-E45F-68554FF17833}"/>
              </a:ext>
            </a:extLst>
          </p:cNvPr>
          <p:cNvSpPr>
            <a:spLocks noGrp="1"/>
          </p:cNvSpPr>
          <p:nvPr>
            <p:ph type="body" idx="105"/>
          </p:nvPr>
        </p:nvSpPr>
        <p:spPr/>
        <p:txBody>
          <a:bodyPr/>
          <a:lstStyle/>
          <a:p>
            <a:endParaRPr lang="en-GB"/>
          </a:p>
        </p:txBody>
      </p:sp>
      <p:sp>
        <p:nvSpPr>
          <p:cNvPr id="3" name="Title 2">
            <a:extLst>
              <a:ext uri="{FF2B5EF4-FFF2-40B4-BE49-F238E27FC236}">
                <a16:creationId xmlns:a16="http://schemas.microsoft.com/office/drawing/2014/main" id="{29A9BED1-85D2-414F-8401-224B7FBA61D6}"/>
              </a:ext>
            </a:extLst>
          </p:cNvPr>
          <p:cNvSpPr>
            <a:spLocks noGrp="1"/>
          </p:cNvSpPr>
          <p:nvPr>
            <p:ph type="title" idx="106"/>
          </p:nvPr>
        </p:nvSpPr>
        <p:spPr/>
        <p:txBody>
          <a:bodyPr/>
          <a:lstStyle/>
          <a:p>
            <a:r>
              <a:rPr lang="en-GB" dirty="0"/>
              <a:t>Scarcity and Abundance</a:t>
            </a:r>
          </a:p>
        </p:txBody>
      </p:sp>
      <p:sp>
        <p:nvSpPr>
          <p:cNvPr id="4" name="Text Placeholder 3">
            <a:extLst>
              <a:ext uri="{FF2B5EF4-FFF2-40B4-BE49-F238E27FC236}">
                <a16:creationId xmlns:a16="http://schemas.microsoft.com/office/drawing/2014/main" id="{7A23E6F7-D19A-F2AA-4697-050A46E39D96}"/>
              </a:ext>
            </a:extLst>
          </p:cNvPr>
          <p:cNvSpPr>
            <a:spLocks noGrp="1"/>
          </p:cNvSpPr>
          <p:nvPr>
            <p:ph type="body" idx="107"/>
          </p:nvPr>
        </p:nvSpPr>
        <p:spPr/>
        <p:txBody>
          <a:bodyPr/>
          <a:lstStyle/>
          <a:p>
            <a:r>
              <a:rPr lang="en-GB" dirty="0"/>
              <a:t>The transition between scarcity and abundance will be the most stressful phase shift in human history</a:t>
            </a:r>
          </a:p>
          <a:p>
            <a:r>
              <a:rPr lang="en-GB" dirty="0"/>
              <a:t>With our culture, processes and systems deep-wired to manage scarcity</a:t>
            </a:r>
          </a:p>
          <a:p>
            <a:r>
              <a:rPr lang="en-GB" dirty="0"/>
              <a:t>But AI and Robotics will usher in a new world of abundance</a:t>
            </a:r>
          </a:p>
          <a:p>
            <a:r>
              <a:rPr lang="en-GB" dirty="0"/>
              <a:t>This is not new</a:t>
            </a:r>
          </a:p>
          <a:p>
            <a:pPr lvl="1"/>
            <a:r>
              <a:rPr lang="en-GB" sz="1600" dirty="0"/>
              <a:t>For many years, technology products have been becoming much more abundant and relatively cheaper</a:t>
            </a:r>
          </a:p>
          <a:p>
            <a:pPr lvl="1"/>
            <a:r>
              <a:rPr lang="en-GB" sz="1600" dirty="0"/>
              <a:t>This is about to accelerate exponentially</a:t>
            </a:r>
          </a:p>
          <a:p>
            <a:r>
              <a:rPr lang="en-GB" dirty="0"/>
              <a:t>Politically, the transition is almost impossible. </a:t>
            </a:r>
          </a:p>
          <a:p>
            <a:r>
              <a:rPr lang="en-GB" dirty="0"/>
              <a:t>Options</a:t>
            </a:r>
          </a:p>
          <a:p>
            <a:pPr lvl="1"/>
            <a:r>
              <a:rPr lang="en-GB" sz="1600" dirty="0"/>
              <a:t>Ban AI</a:t>
            </a:r>
          </a:p>
          <a:p>
            <a:pPr lvl="1"/>
            <a:r>
              <a:rPr lang="en-GB" sz="1600" dirty="0"/>
              <a:t>Full Communism</a:t>
            </a:r>
          </a:p>
          <a:p>
            <a:pPr lvl="1"/>
            <a:endParaRPr lang="en-GB" sz="1600" dirty="0"/>
          </a:p>
          <a:p>
            <a:endParaRPr lang="en-GB" dirty="0"/>
          </a:p>
        </p:txBody>
      </p:sp>
    </p:spTree>
    <p:extLst>
      <p:ext uri="{BB962C8B-B14F-4D97-AF65-F5344CB8AC3E}">
        <p14:creationId xmlns:p14="http://schemas.microsoft.com/office/powerpoint/2010/main" val="115880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0823D6-623C-8D1A-BBED-C7A7ABEB1974}"/>
              </a:ext>
            </a:extLst>
          </p:cNvPr>
          <p:cNvSpPr>
            <a:spLocks noGrp="1"/>
          </p:cNvSpPr>
          <p:nvPr>
            <p:ph type="body" idx="105"/>
          </p:nvPr>
        </p:nvSpPr>
        <p:spPr/>
        <p:txBody>
          <a:bodyPr/>
          <a:lstStyle/>
          <a:p>
            <a:endParaRPr lang="en-GB"/>
          </a:p>
        </p:txBody>
      </p:sp>
      <p:sp>
        <p:nvSpPr>
          <p:cNvPr id="3" name="Title 2">
            <a:extLst>
              <a:ext uri="{FF2B5EF4-FFF2-40B4-BE49-F238E27FC236}">
                <a16:creationId xmlns:a16="http://schemas.microsoft.com/office/drawing/2014/main" id="{28AB56C2-7350-FBDF-3D16-BFAAFF39E584}"/>
              </a:ext>
            </a:extLst>
          </p:cNvPr>
          <p:cNvSpPr>
            <a:spLocks noGrp="1"/>
          </p:cNvSpPr>
          <p:nvPr>
            <p:ph type="title" idx="106"/>
          </p:nvPr>
        </p:nvSpPr>
        <p:spPr/>
        <p:txBody>
          <a:bodyPr/>
          <a:lstStyle/>
          <a:p>
            <a:endParaRPr lang="en-GB"/>
          </a:p>
        </p:txBody>
      </p:sp>
      <p:sp>
        <p:nvSpPr>
          <p:cNvPr id="4" name="Text Placeholder 3">
            <a:extLst>
              <a:ext uri="{FF2B5EF4-FFF2-40B4-BE49-F238E27FC236}">
                <a16:creationId xmlns:a16="http://schemas.microsoft.com/office/drawing/2014/main" id="{DA0C8C72-62FC-7123-880F-644AF3A47738}"/>
              </a:ext>
            </a:extLst>
          </p:cNvPr>
          <p:cNvSpPr>
            <a:spLocks noGrp="1"/>
          </p:cNvSpPr>
          <p:nvPr>
            <p:ph type="body" idx="107"/>
          </p:nvPr>
        </p:nvSpPr>
        <p:spPr/>
        <p:txBody>
          <a:bodyPr/>
          <a:lstStyle/>
          <a:p>
            <a:endParaRPr lang="en-GB" dirty="0"/>
          </a:p>
          <a:p>
            <a:endParaRPr lang="en-GB" dirty="0"/>
          </a:p>
          <a:p>
            <a:endParaRPr lang="en-GB" dirty="0"/>
          </a:p>
          <a:p>
            <a:endParaRPr lang="en-GB" dirty="0"/>
          </a:p>
          <a:p>
            <a:r>
              <a:rPr lang="en-GB" dirty="0"/>
              <a:t>Solutions</a:t>
            </a:r>
          </a:p>
          <a:p>
            <a:pPr lvl="1"/>
            <a:r>
              <a:rPr lang="en-GB" sz="1600" dirty="0"/>
              <a:t>Ban AI?</a:t>
            </a:r>
          </a:p>
          <a:p>
            <a:pPr lvl="1"/>
            <a:r>
              <a:rPr lang="en-GB" sz="1600" dirty="0"/>
              <a:t>Full Communism?</a:t>
            </a:r>
            <a:endParaRPr lang="en-GB" dirty="0"/>
          </a:p>
        </p:txBody>
      </p:sp>
    </p:spTree>
    <p:extLst>
      <p:ext uri="{BB962C8B-B14F-4D97-AF65-F5344CB8AC3E}">
        <p14:creationId xmlns:p14="http://schemas.microsoft.com/office/powerpoint/2010/main" val="161748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8D6180-0D60-7AC4-D7FB-0AA83C8346D4}"/>
              </a:ext>
            </a:extLst>
          </p:cNvPr>
          <p:cNvSpPr>
            <a:spLocks noGrp="1"/>
          </p:cNvSpPr>
          <p:nvPr>
            <p:ph type="body" idx="105"/>
          </p:nvPr>
        </p:nvSpPr>
        <p:spPr/>
        <p:txBody>
          <a:bodyPr/>
          <a:lstStyle/>
          <a:p>
            <a:endParaRPr lang="en-GB"/>
          </a:p>
        </p:txBody>
      </p:sp>
      <p:sp>
        <p:nvSpPr>
          <p:cNvPr id="3" name="Title 2">
            <a:extLst>
              <a:ext uri="{FF2B5EF4-FFF2-40B4-BE49-F238E27FC236}">
                <a16:creationId xmlns:a16="http://schemas.microsoft.com/office/drawing/2014/main" id="{F42A0DD2-D8D3-8C79-7492-F28BFA9AEB77}"/>
              </a:ext>
            </a:extLst>
          </p:cNvPr>
          <p:cNvSpPr>
            <a:spLocks noGrp="1"/>
          </p:cNvSpPr>
          <p:nvPr>
            <p:ph type="title" idx="106"/>
          </p:nvPr>
        </p:nvSpPr>
        <p:spPr/>
        <p:txBody>
          <a:bodyPr/>
          <a:lstStyle/>
          <a:p>
            <a:r>
              <a:rPr lang="en-GB" dirty="0"/>
              <a:t>AI  &amp; Robotics Employment Impact</a:t>
            </a:r>
          </a:p>
        </p:txBody>
      </p:sp>
      <p:sp>
        <p:nvSpPr>
          <p:cNvPr id="4" name="Text Placeholder 3">
            <a:extLst>
              <a:ext uri="{FF2B5EF4-FFF2-40B4-BE49-F238E27FC236}">
                <a16:creationId xmlns:a16="http://schemas.microsoft.com/office/drawing/2014/main" id="{0027DED7-9D87-D013-E181-BB54D3EFE243}"/>
              </a:ext>
            </a:extLst>
          </p:cNvPr>
          <p:cNvSpPr>
            <a:spLocks noGrp="1"/>
          </p:cNvSpPr>
          <p:nvPr>
            <p:ph type="body" idx="107"/>
          </p:nvPr>
        </p:nvSpPr>
        <p:spPr/>
        <p:txBody>
          <a:bodyPr/>
          <a:lstStyle/>
          <a:p>
            <a:endParaRPr lang="en-GB" dirty="0"/>
          </a:p>
        </p:txBody>
      </p:sp>
    </p:spTree>
    <p:extLst>
      <p:ext uri="{BB962C8B-B14F-4D97-AF65-F5344CB8AC3E}">
        <p14:creationId xmlns:p14="http://schemas.microsoft.com/office/powerpoint/2010/main" val="253704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9143AA-6B45-702A-69CB-0C6FD614DF08}"/>
              </a:ext>
            </a:extLst>
          </p:cNvPr>
          <p:cNvSpPr>
            <a:spLocks noGrp="1"/>
          </p:cNvSpPr>
          <p:nvPr>
            <p:ph type="body" idx="105"/>
          </p:nvPr>
        </p:nvSpPr>
        <p:spPr/>
        <p:txBody>
          <a:bodyPr/>
          <a:lstStyle/>
          <a:p>
            <a:endParaRPr lang="en-GB"/>
          </a:p>
        </p:txBody>
      </p:sp>
      <p:sp>
        <p:nvSpPr>
          <p:cNvPr id="3" name="Title 2">
            <a:extLst>
              <a:ext uri="{FF2B5EF4-FFF2-40B4-BE49-F238E27FC236}">
                <a16:creationId xmlns:a16="http://schemas.microsoft.com/office/drawing/2014/main" id="{2D19342B-DB7A-4E43-B97B-B5E5C0C5E80D}"/>
              </a:ext>
            </a:extLst>
          </p:cNvPr>
          <p:cNvSpPr>
            <a:spLocks noGrp="1"/>
          </p:cNvSpPr>
          <p:nvPr>
            <p:ph type="title" idx="106"/>
          </p:nvPr>
        </p:nvSpPr>
        <p:spPr/>
        <p:txBody>
          <a:bodyPr/>
          <a:lstStyle/>
          <a:p>
            <a:r>
              <a:rPr lang="en-GB" dirty="0"/>
              <a:t>Navigating the Transition</a:t>
            </a:r>
          </a:p>
        </p:txBody>
      </p:sp>
      <p:sp>
        <p:nvSpPr>
          <p:cNvPr id="4" name="Text Placeholder 3">
            <a:extLst>
              <a:ext uri="{FF2B5EF4-FFF2-40B4-BE49-F238E27FC236}">
                <a16:creationId xmlns:a16="http://schemas.microsoft.com/office/drawing/2014/main" id="{F5D973E4-7410-72EC-982D-06CBB50A0722}"/>
              </a:ext>
            </a:extLst>
          </p:cNvPr>
          <p:cNvSpPr>
            <a:spLocks noGrp="1"/>
          </p:cNvSpPr>
          <p:nvPr>
            <p:ph type="body" idx="107"/>
          </p:nvPr>
        </p:nvSpPr>
        <p:spPr/>
        <p:txBody>
          <a:bodyPr/>
          <a:lstStyle/>
          <a:p>
            <a:r>
              <a:rPr lang="en-GB" dirty="0"/>
              <a:t>The transition between scarcity and abundance will be the most stressful phase shift in human history</a:t>
            </a:r>
          </a:p>
          <a:p>
            <a:r>
              <a:rPr lang="en-GB" dirty="0"/>
              <a:t>With our culture, processes and systems deep-wired for scarcity,  </a:t>
            </a:r>
          </a:p>
          <a:p>
            <a:r>
              <a:rPr lang="en-GB" dirty="0"/>
              <a:t>Politically, the transition is almost impossible. </a:t>
            </a:r>
          </a:p>
          <a:p>
            <a:r>
              <a:rPr lang="en-GB" dirty="0"/>
              <a:t>Options:</a:t>
            </a:r>
          </a:p>
          <a:p>
            <a:pPr lvl="1"/>
            <a:r>
              <a:rPr lang="en-GB" sz="1600" dirty="0"/>
              <a:t>Ban AI</a:t>
            </a:r>
          </a:p>
          <a:p>
            <a:pPr lvl="1"/>
            <a:r>
              <a:rPr lang="en-GB" sz="1600" dirty="0"/>
              <a:t>Full communism</a:t>
            </a:r>
          </a:p>
          <a:p>
            <a:pPr lvl="1"/>
            <a:endParaRPr lang="en-GB" sz="1600" dirty="0"/>
          </a:p>
          <a:p>
            <a:endParaRPr lang="en-GB" dirty="0"/>
          </a:p>
          <a:p>
            <a:r>
              <a:rPr lang="en-GB" dirty="0"/>
              <a:t>In the end, there will be only winners, but </a:t>
            </a:r>
          </a:p>
        </p:txBody>
      </p:sp>
    </p:spTree>
    <p:extLst>
      <p:ext uri="{BB962C8B-B14F-4D97-AF65-F5344CB8AC3E}">
        <p14:creationId xmlns:p14="http://schemas.microsoft.com/office/powerpoint/2010/main" val="3115400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A5C910-77BE-2663-D4EE-76F80E6C465F}"/>
              </a:ext>
            </a:extLst>
          </p:cNvPr>
          <p:cNvSpPr>
            <a:spLocks noGrp="1"/>
          </p:cNvSpPr>
          <p:nvPr>
            <p:ph type="body" idx="105"/>
          </p:nvPr>
        </p:nvSpPr>
        <p:spPr/>
        <p:txBody>
          <a:bodyPr/>
          <a:lstStyle/>
          <a:p>
            <a:endParaRPr lang="en-GB"/>
          </a:p>
        </p:txBody>
      </p:sp>
      <p:sp>
        <p:nvSpPr>
          <p:cNvPr id="3" name="Title 2">
            <a:extLst>
              <a:ext uri="{FF2B5EF4-FFF2-40B4-BE49-F238E27FC236}">
                <a16:creationId xmlns:a16="http://schemas.microsoft.com/office/drawing/2014/main" id="{24C29E7A-5618-CF04-8E4F-418A8735A556}"/>
              </a:ext>
            </a:extLst>
          </p:cNvPr>
          <p:cNvSpPr>
            <a:spLocks noGrp="1"/>
          </p:cNvSpPr>
          <p:nvPr>
            <p:ph type="title" idx="106"/>
          </p:nvPr>
        </p:nvSpPr>
        <p:spPr/>
        <p:txBody>
          <a:bodyPr/>
          <a:lstStyle/>
          <a:p>
            <a:r>
              <a:rPr lang="en-GB" dirty="0"/>
              <a:t>Taxation anti-virtuous cycle</a:t>
            </a:r>
          </a:p>
        </p:txBody>
      </p:sp>
      <p:sp>
        <p:nvSpPr>
          <p:cNvPr id="4" name="Text Placeholder 3">
            <a:extLst>
              <a:ext uri="{FF2B5EF4-FFF2-40B4-BE49-F238E27FC236}">
                <a16:creationId xmlns:a16="http://schemas.microsoft.com/office/drawing/2014/main" id="{DE6B671B-0078-FAB3-3CC4-8EBFC6A18C8E}"/>
              </a:ext>
            </a:extLst>
          </p:cNvPr>
          <p:cNvSpPr>
            <a:spLocks noGrp="1"/>
          </p:cNvSpPr>
          <p:nvPr>
            <p:ph type="body" idx="107"/>
          </p:nvPr>
        </p:nvSpPr>
        <p:spPr/>
        <p:txBody>
          <a:bodyPr/>
          <a:lstStyle/>
          <a:p>
            <a:r>
              <a:rPr lang="en-GB" dirty="0"/>
              <a:t>AI </a:t>
            </a:r>
          </a:p>
        </p:txBody>
      </p:sp>
    </p:spTree>
    <p:extLst>
      <p:ext uri="{BB962C8B-B14F-4D97-AF65-F5344CB8AC3E}">
        <p14:creationId xmlns:p14="http://schemas.microsoft.com/office/powerpoint/2010/main" val="3840020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0B9622-A09A-7513-315E-35EA1E80C8B1}"/>
              </a:ext>
            </a:extLst>
          </p:cNvPr>
          <p:cNvSpPr>
            <a:spLocks noGrp="1"/>
          </p:cNvSpPr>
          <p:nvPr>
            <p:ph type="body" idx="105"/>
          </p:nvPr>
        </p:nvSpPr>
        <p:spPr/>
        <p:txBody>
          <a:bodyPr/>
          <a:lstStyle/>
          <a:p>
            <a:endParaRPr lang="en-GB"/>
          </a:p>
        </p:txBody>
      </p:sp>
      <p:sp>
        <p:nvSpPr>
          <p:cNvPr id="3" name="Title 2">
            <a:extLst>
              <a:ext uri="{FF2B5EF4-FFF2-40B4-BE49-F238E27FC236}">
                <a16:creationId xmlns:a16="http://schemas.microsoft.com/office/drawing/2014/main" id="{BB4194A1-D2AE-AB61-74F4-3C4543BB9E8A}"/>
              </a:ext>
            </a:extLst>
          </p:cNvPr>
          <p:cNvSpPr>
            <a:spLocks noGrp="1"/>
          </p:cNvSpPr>
          <p:nvPr>
            <p:ph type="title" idx="106"/>
          </p:nvPr>
        </p:nvSpPr>
        <p:spPr/>
        <p:txBody>
          <a:bodyPr/>
          <a:lstStyle/>
          <a:p>
            <a:r>
              <a:rPr lang="en-GB" dirty="0"/>
              <a:t>Deflation impact on different sectors</a:t>
            </a:r>
          </a:p>
        </p:txBody>
      </p:sp>
      <p:sp>
        <p:nvSpPr>
          <p:cNvPr id="4" name="Text Placeholder 3">
            <a:extLst>
              <a:ext uri="{FF2B5EF4-FFF2-40B4-BE49-F238E27FC236}">
                <a16:creationId xmlns:a16="http://schemas.microsoft.com/office/drawing/2014/main" id="{D8726084-0313-3631-AB83-081DC89D3D95}"/>
              </a:ext>
            </a:extLst>
          </p:cNvPr>
          <p:cNvSpPr>
            <a:spLocks noGrp="1"/>
          </p:cNvSpPr>
          <p:nvPr>
            <p:ph type="body" idx="107"/>
          </p:nvPr>
        </p:nvSpPr>
        <p:spPr/>
        <p:txBody>
          <a:bodyPr/>
          <a:lstStyle/>
          <a:p>
            <a:r>
              <a:rPr lang="en-GB" dirty="0"/>
              <a:t>Software </a:t>
            </a:r>
          </a:p>
          <a:p>
            <a:r>
              <a:rPr lang="en-GB" dirty="0"/>
              <a:t>White collar</a:t>
            </a:r>
          </a:p>
          <a:p>
            <a:r>
              <a:rPr lang="en-GB" dirty="0"/>
              <a:t>Blue collar</a:t>
            </a:r>
          </a:p>
          <a:p>
            <a:r>
              <a:rPr lang="en-GB" dirty="0"/>
              <a:t>Agri foods</a:t>
            </a:r>
          </a:p>
          <a:p>
            <a:r>
              <a:rPr lang="en-GB" dirty="0"/>
              <a:t>Real estate</a:t>
            </a:r>
          </a:p>
        </p:txBody>
      </p:sp>
    </p:spTree>
    <p:extLst>
      <p:ext uri="{BB962C8B-B14F-4D97-AF65-F5344CB8AC3E}">
        <p14:creationId xmlns:p14="http://schemas.microsoft.com/office/powerpoint/2010/main" val="3555451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0B7A9D-C072-DC3E-5DFE-1D3FFC9C6737}"/>
              </a:ext>
            </a:extLst>
          </p:cNvPr>
          <p:cNvSpPr>
            <a:spLocks noGrp="1"/>
          </p:cNvSpPr>
          <p:nvPr>
            <p:ph type="body" idx="105"/>
          </p:nvPr>
        </p:nvSpPr>
        <p:spPr/>
        <p:txBody>
          <a:bodyPr/>
          <a:lstStyle/>
          <a:p>
            <a:endParaRPr lang="en-GB" dirty="0"/>
          </a:p>
        </p:txBody>
      </p:sp>
      <p:sp>
        <p:nvSpPr>
          <p:cNvPr id="3" name="Title 2">
            <a:extLst>
              <a:ext uri="{FF2B5EF4-FFF2-40B4-BE49-F238E27FC236}">
                <a16:creationId xmlns:a16="http://schemas.microsoft.com/office/drawing/2014/main" id="{06B47B81-9185-426D-C528-C9AEADFCA5FA}"/>
              </a:ext>
            </a:extLst>
          </p:cNvPr>
          <p:cNvSpPr>
            <a:spLocks noGrp="1"/>
          </p:cNvSpPr>
          <p:nvPr>
            <p:ph type="title" idx="106"/>
          </p:nvPr>
        </p:nvSpPr>
        <p:spPr/>
        <p:txBody>
          <a:bodyPr/>
          <a:lstStyle/>
          <a:p>
            <a:r>
              <a:rPr lang="en-GB" dirty="0"/>
              <a:t>Traditional UBI Characteristics</a:t>
            </a:r>
          </a:p>
        </p:txBody>
      </p:sp>
      <p:sp>
        <p:nvSpPr>
          <p:cNvPr id="4" name="Text Placeholder 3">
            <a:extLst>
              <a:ext uri="{FF2B5EF4-FFF2-40B4-BE49-F238E27FC236}">
                <a16:creationId xmlns:a16="http://schemas.microsoft.com/office/drawing/2014/main" id="{2B008A07-815C-F75E-398F-3B10BDA1E0E5}"/>
              </a:ext>
            </a:extLst>
          </p:cNvPr>
          <p:cNvSpPr>
            <a:spLocks noGrp="1"/>
          </p:cNvSpPr>
          <p:nvPr>
            <p:ph type="body" idx="107"/>
          </p:nvPr>
        </p:nvSpPr>
        <p:spPr/>
        <p:txBody>
          <a:bodyPr/>
          <a:lstStyle/>
          <a:p>
            <a:r>
              <a:rPr lang="en-GB" dirty="0"/>
              <a:t>Should it be universal or means tested?</a:t>
            </a:r>
          </a:p>
          <a:p>
            <a:r>
              <a:rPr lang="en-GB" dirty="0"/>
              <a:t>Who gets it? How much? Who is worthy?</a:t>
            </a:r>
          </a:p>
          <a:p>
            <a:r>
              <a:rPr lang="en-GB" dirty="0"/>
              <a:t>Who decides who gets it? </a:t>
            </a:r>
          </a:p>
          <a:p>
            <a:endParaRPr lang="en-GB" dirty="0"/>
          </a:p>
        </p:txBody>
      </p:sp>
    </p:spTree>
    <p:extLst>
      <p:ext uri="{BB962C8B-B14F-4D97-AF65-F5344CB8AC3E}">
        <p14:creationId xmlns:p14="http://schemas.microsoft.com/office/powerpoint/2010/main" val="261606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777240" y="914400"/>
            <a:ext cx="7315200" cy="365760"/>
          </a:xfrm>
          <a:prstGeom prst="rect">
            <a:avLst/>
          </a:prstGeom>
          <a:noFill/>
          <a:ln/>
        </p:spPr>
        <p:txBody>
          <a:bodyPr wrap="square" lIns="0" tIns="0" rIns="0" bIns="0" rtlCol="0"/>
          <a:lstStyle/>
          <a:p>
            <a:pPr marL="0" indent="0">
              <a:buNone/>
            </a:pPr>
            <a:r>
              <a:rPr lang="en-US" sz="1100" kern="0" spc="600" dirty="0">
                <a:solidFill>
                  <a:srgbClr val="C58A4D"/>
                </a:solidFill>
                <a:latin typeface="Consolas" pitchFamily="34" charset="0"/>
                <a:ea typeface="Consolas" pitchFamily="34" charset="-122"/>
                <a:cs typeface="Consolas" pitchFamily="34" charset="-120"/>
              </a:rPr>
              <a:t>ACT I</a:t>
            </a:r>
            <a:endParaRPr lang="en-US" sz="1100" dirty="0"/>
          </a:p>
        </p:txBody>
      </p:sp>
      <p:sp>
        <p:nvSpPr>
          <p:cNvPr id="3" name="Text 2"/>
          <p:cNvSpPr>
            <a:spLocks noGrp="1"/>
          </p:cNvSpPr>
          <p:nvPr>
            <p:ph type="title" idx="103" hasCustomPrompt="1"/>
          </p:nvPr>
        </p:nvSpPr>
        <p:spPr>
          <a:xfrm>
            <a:off x="777240" y="1828800"/>
            <a:ext cx="10515600" cy="3200400"/>
          </a:xfrm>
          <a:prstGeom prst="rect">
            <a:avLst/>
          </a:prstGeom>
          <a:noFill/>
          <a:ln/>
        </p:spPr>
        <p:txBody>
          <a:bodyPr wrap="square" lIns="0" tIns="0" rIns="0" bIns="0" rtlCol="0"/>
          <a:lstStyle/>
          <a:p>
            <a:pPr marL="0" indent="0" algn="l">
              <a:lnSpc>
                <a:spcPct val="105000"/>
              </a:lnSpc>
              <a:buNone/>
            </a:pPr>
            <a:r>
              <a:rPr lang="en-US" sz="7200" dirty="0">
                <a:solidFill>
                  <a:srgbClr val="F0EDE6"/>
                </a:solidFill>
                <a:latin typeface="Calibri Light" pitchFamily="34" charset="0"/>
                <a:ea typeface="Calibri Light" pitchFamily="34" charset="-122"/>
                <a:cs typeface="Calibri Light" pitchFamily="34" charset="-120"/>
              </a:rPr>
              <a:t>The economy doesn't adapt. It jumps.</a:t>
            </a:r>
            <a:endParaRPr lang="en-US" sz="7200" dirty="0"/>
          </a:p>
        </p:txBody>
      </p:sp>
      <p:sp>
        <p:nvSpPr>
          <p:cNvPr id="4" name="Text 2"/>
          <p:cNvSpPr>
            <a:spLocks noGrp="1"/>
          </p:cNvSpPr>
          <p:nvPr>
            <p:ph type="body" idx="104" hasCustomPrompt="1"/>
          </p:nvPr>
        </p:nvSpPr>
        <p:spPr>
          <a:xfrm>
            <a:off x="777240" y="5212080"/>
            <a:ext cx="8686800" cy="914400"/>
          </a:xfrm>
          <a:prstGeom prst="rect">
            <a:avLst/>
          </a:prstGeom>
          <a:noFill/>
          <a:ln/>
        </p:spPr>
        <p:txBody>
          <a:bodyPr wrap="square" lIns="0" tIns="0" rIns="0" bIns="0" rtlCol="0"/>
          <a:lstStyle/>
          <a:p>
            <a:pPr marL="0" indent="0">
              <a:buNone/>
            </a:pPr>
            <a:r>
              <a:rPr lang="en-US" sz="1400" dirty="0">
                <a:solidFill>
                  <a:srgbClr val="F0EDE6"/>
                </a:solidFill>
                <a:latin typeface="Calibri" pitchFamily="34" charset="0"/>
                <a:ea typeface="Calibri" pitchFamily="34" charset="-122"/>
                <a:cs typeface="Calibri" pitchFamily="34" charset="-120"/>
              </a:rPr>
              <a:t>Recursive AI self-improvement will displace workers before prices fall enough to compensate, while colliding with sovereign debt monetization. Axion is the parallel economy designed to clear comfortable life regardless of which way the legacy system breaks.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THE THESIS</a:t>
            </a:r>
            <a:endParaRPr lang="en-US" sz="1000" dirty="0"/>
          </a:p>
        </p:txBody>
      </p:sp>
      <p:sp>
        <p:nvSpPr>
          <p:cNvPr id="3"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r>
              <a:rPr lang="en-US" sz="3600" dirty="0">
                <a:solidFill>
                  <a:srgbClr val="0A0A0A"/>
                </a:solidFill>
                <a:latin typeface="Calibri Light" pitchFamily="34" charset="0"/>
                <a:ea typeface="Calibri Light" pitchFamily="34" charset="-122"/>
                <a:cs typeface="Calibri Light" pitchFamily="34" charset="-120"/>
              </a:rPr>
              <a:t>Two crises arriving at the same time.</a:t>
            </a:r>
            <a:endParaRPr lang="en-US" sz="3600" dirty="0"/>
          </a:p>
        </p:txBody>
      </p:sp>
      <p:sp>
        <p:nvSpPr>
          <p:cNvPr id="4"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AI labour displacement</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Recursive self-improvement compresses the displacement timeline</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Workers lose income before deflation lowers prices to compensate</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The transition is not gradual — it's a step change</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Sovereign debt monetisation</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Existing institutions cannot finance the transition without printing</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Currency debasement collides with displacement</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The legacy economy cannot deliver stable real-terms purchasing power</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MONTHLY CITIZEN DIVIDEND</a:t>
            </a:r>
            <a:endParaRPr lang="en-US" sz="1000" dirty="0"/>
          </a:p>
        </p:txBody>
      </p:sp>
      <p:pic>
        <p:nvPicPr>
          <p:cNvPr id="3" name="Image 0" descr="preencoded.png"/>
          <p:cNvPicPr>
            <a:picLocks noChangeAspect="1"/>
          </p:cNvPicPr>
          <p:nvPr/>
        </p:nvPicPr>
        <p:blipFill>
          <a:blip r:embed="rId3"/>
          <a:stretch>
            <a:fillRect/>
          </a:stretch>
        </p:blipFill>
        <p:spPr>
          <a:xfrm>
            <a:off x="548640" y="2331720"/>
            <a:ext cx="1005840" cy="1005840"/>
          </a:xfrm>
          <a:prstGeom prst="rect">
            <a:avLst/>
          </a:prstGeom>
        </p:spPr>
      </p:pic>
      <p:sp>
        <p:nvSpPr>
          <p:cNvPr id="4" name="Text 1"/>
          <p:cNvSpPr/>
          <p:nvPr/>
        </p:nvSpPr>
        <p:spPr>
          <a:xfrm>
            <a:off x="1691640" y="2011680"/>
            <a:ext cx="7315200" cy="1645920"/>
          </a:xfrm>
          <a:prstGeom prst="rect">
            <a:avLst/>
          </a:prstGeom>
          <a:noFill/>
          <a:ln/>
        </p:spPr>
        <p:txBody>
          <a:bodyPr wrap="square" lIns="0" tIns="0" rIns="0" bIns="0" rtlCol="0" anchor="t"/>
          <a:lstStyle/>
          <a:p>
            <a:pPr marL="0" indent="0">
              <a:buNone/>
            </a:pPr>
            <a:r>
              <a:rPr lang="en-US" sz="12000" dirty="0">
                <a:solidFill>
                  <a:srgbClr val="0A0A0A"/>
                </a:solidFill>
                <a:latin typeface="Calibri Light" pitchFamily="34" charset="0"/>
                <a:ea typeface="Calibri Light" pitchFamily="34" charset="-122"/>
                <a:cs typeface="Calibri Light" pitchFamily="34" charset="-120"/>
              </a:rPr>
              <a:t>2,500</a:t>
            </a:r>
            <a:endParaRPr lang="en-US" sz="12000" dirty="0"/>
          </a:p>
        </p:txBody>
      </p:sp>
      <p:sp>
        <p:nvSpPr>
          <p:cNvPr id="5" name="Text 2"/>
          <p:cNvSpPr/>
          <p:nvPr/>
        </p:nvSpPr>
        <p:spPr>
          <a:xfrm>
            <a:off x="5943600" y="3063240"/>
            <a:ext cx="2743200" cy="457200"/>
          </a:xfrm>
          <a:prstGeom prst="rect">
            <a:avLst/>
          </a:prstGeom>
          <a:noFill/>
          <a:ln/>
        </p:spPr>
        <p:txBody>
          <a:bodyPr wrap="square" lIns="0" tIns="0" rIns="0" bIns="0" rtlCol="0" anchor="ctr"/>
          <a:lstStyle/>
          <a:p>
            <a:pPr marL="0" indent="0">
              <a:buNone/>
            </a:pPr>
            <a:r>
              <a:rPr lang="en-US" sz="1300" kern="0" spc="600" dirty="0">
                <a:solidFill>
                  <a:srgbClr val="7A7568"/>
                </a:solidFill>
                <a:latin typeface="Consolas" pitchFamily="34" charset="0"/>
                <a:ea typeface="Consolas" pitchFamily="34" charset="-122"/>
                <a:cs typeface="Consolas" pitchFamily="34" charset="-120"/>
              </a:rPr>
              <a:t>/ MONTH</a:t>
            </a:r>
            <a:endParaRPr lang="en-US" sz="1300" dirty="0"/>
          </a:p>
        </p:txBody>
      </p:sp>
      <p:sp>
        <p:nvSpPr>
          <p:cNvPr id="6" name="Shape 3"/>
          <p:cNvSpPr/>
          <p:nvPr/>
        </p:nvSpPr>
        <p:spPr>
          <a:xfrm>
            <a:off x="548640" y="4297680"/>
            <a:ext cx="548640" cy="0"/>
          </a:xfrm>
          <a:prstGeom prst="line">
            <a:avLst/>
          </a:prstGeom>
          <a:noFill/>
          <a:ln w="15875">
            <a:solidFill>
              <a:srgbClr val="C58A4D"/>
            </a:solidFill>
            <a:prstDash val="solid"/>
          </a:ln>
        </p:spPr>
        <p:txBody>
          <a:bodyPr/>
          <a:lstStyle/>
          <a:p>
            <a:endParaRPr lang="en-GB"/>
          </a:p>
        </p:txBody>
      </p:sp>
      <p:sp>
        <p:nvSpPr>
          <p:cNvPr id="7" name="Text 4"/>
          <p:cNvSpPr/>
          <p:nvPr/>
        </p:nvSpPr>
        <p:spPr>
          <a:xfrm>
            <a:off x="548640" y="4480560"/>
            <a:ext cx="10058400" cy="548640"/>
          </a:xfrm>
          <a:prstGeom prst="rect">
            <a:avLst/>
          </a:prstGeom>
          <a:noFill/>
          <a:ln/>
        </p:spPr>
        <p:txBody>
          <a:bodyPr wrap="square" lIns="0" tIns="0" rIns="0" bIns="0" rtlCol="0" anchor="ctr"/>
          <a:lstStyle/>
          <a:p>
            <a:pPr marL="0" indent="0">
              <a:buNone/>
            </a:pPr>
            <a:r>
              <a:rPr lang="en-US" sz="2600" dirty="0">
                <a:solidFill>
                  <a:srgbClr val="0A0A0A"/>
                </a:solidFill>
                <a:latin typeface="Calibri Light" pitchFamily="34" charset="0"/>
                <a:ea typeface="Calibri Light" pitchFamily="34" charset="-122"/>
                <a:cs typeface="Calibri Light" pitchFamily="34" charset="-120"/>
              </a:rPr>
              <a:t>Clears comfortable life inside any colony.</a:t>
            </a:r>
            <a:endParaRPr lang="en-US" sz="2600" dirty="0"/>
          </a:p>
        </p:txBody>
      </p:sp>
      <p:sp>
        <p:nvSpPr>
          <p:cNvPr id="8" name="Text 5"/>
          <p:cNvSpPr/>
          <p:nvPr/>
        </p:nvSpPr>
        <p:spPr>
          <a:xfrm>
            <a:off x="548640" y="5120640"/>
            <a:ext cx="10058400" cy="914400"/>
          </a:xfrm>
          <a:prstGeom prst="rect">
            <a:avLst/>
          </a:prstGeom>
          <a:noFill/>
          <a:ln/>
        </p:spPr>
        <p:txBody>
          <a:bodyPr wrap="square" lIns="0" tIns="0" rIns="0" bIns="0" rtlCol="0" anchor="ctr"/>
          <a:lstStyle/>
          <a:p>
            <a:pPr marL="0" indent="0">
              <a:lnSpc>
                <a:spcPct val="150000"/>
              </a:lnSpc>
              <a:buNone/>
            </a:pPr>
            <a:r>
              <a:rPr lang="en-US" sz="1300" dirty="0">
                <a:solidFill>
                  <a:srgbClr val="0A0A0A">
                    <a:alpha val="75000"/>
                  </a:srgbClr>
                </a:solidFill>
                <a:latin typeface="Calibri" pitchFamily="34" charset="0"/>
                <a:ea typeface="Calibri" pitchFamily="34" charset="-122"/>
                <a:cs typeface="Calibri" pitchFamily="34" charset="-120"/>
              </a:rPr>
              <a:t>Backed 1:1 by USDC reserves held by the Fisc. Non-tradeable outside the protocol; auto-converted to USDC at the boundary. The Fisc operates as a currency board rather than a central bank.</a:t>
            </a:r>
            <a:endParaRPr lang="en-US" sz="1300" dirty="0"/>
          </a:p>
        </p:txBody>
      </p:sp>
      <p:sp>
        <p:nvSpPr>
          <p:cNvPr id="9"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endParaRPr lang="en-US" sz="3600" dirty="0"/>
          </a:p>
        </p:txBody>
      </p:sp>
      <p:sp>
        <p:nvSpPr>
          <p:cNvPr id="10"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PROTOCOL METRICS</a:t>
            </a:r>
            <a:endParaRPr lang="en-US" sz="1000" dirty="0"/>
          </a:p>
        </p:txBody>
      </p:sp>
      <p:sp>
        <p:nvSpPr>
          <p:cNvPr id="3"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r>
              <a:rPr lang="en-US" sz="3600" dirty="0">
                <a:solidFill>
                  <a:srgbClr val="0A0A0A"/>
                </a:solidFill>
                <a:latin typeface="Calibri Light" pitchFamily="34" charset="0"/>
                <a:ea typeface="Calibri Light" pitchFamily="34" charset="-122"/>
                <a:cs typeface="Calibri Light" pitchFamily="34" charset="-120"/>
              </a:rPr>
              <a:t>Live, on Base.</a:t>
            </a:r>
            <a:endParaRPr lang="en-US" sz="3600" dirty="0"/>
          </a:p>
        </p:txBody>
      </p:sp>
      <p:sp>
        <p:nvSpPr>
          <p:cNvPr id="4" name="Shape 2"/>
          <p:cNvSpPr/>
          <p:nvPr/>
        </p:nvSpPr>
        <p:spPr>
          <a:xfrm>
            <a:off x="548640" y="3017520"/>
            <a:ext cx="3520440" cy="3108960"/>
          </a:xfrm>
          <a:prstGeom prst="rect">
            <a:avLst/>
          </a:prstGeom>
          <a:solidFill>
            <a:srgbClr val="FAF7EE"/>
          </a:solidFill>
          <a:ln w="6350">
            <a:solidFill>
              <a:srgbClr val="EDE7D8"/>
            </a:solidFill>
            <a:prstDash val="solid"/>
          </a:ln>
        </p:spPr>
        <p:txBody>
          <a:bodyPr/>
          <a:lstStyle/>
          <a:p>
            <a:endParaRPr lang="en-GB"/>
          </a:p>
        </p:txBody>
      </p:sp>
      <p:sp>
        <p:nvSpPr>
          <p:cNvPr id="5" name="Shape 3"/>
          <p:cNvSpPr/>
          <p:nvPr/>
        </p:nvSpPr>
        <p:spPr>
          <a:xfrm>
            <a:off x="685800" y="3154680"/>
            <a:ext cx="274320" cy="0"/>
          </a:xfrm>
          <a:prstGeom prst="line">
            <a:avLst/>
          </a:prstGeom>
          <a:noFill/>
          <a:ln w="12700">
            <a:solidFill>
              <a:srgbClr val="C58A4D"/>
            </a:solidFill>
            <a:prstDash val="solid"/>
          </a:ln>
        </p:spPr>
        <p:txBody>
          <a:bodyPr/>
          <a:lstStyle/>
          <a:p>
            <a:endParaRPr lang="en-GB"/>
          </a:p>
        </p:txBody>
      </p:sp>
      <p:sp>
        <p:nvSpPr>
          <p:cNvPr id="6" name="Text 4"/>
          <p:cNvSpPr/>
          <p:nvPr/>
        </p:nvSpPr>
        <p:spPr>
          <a:xfrm>
            <a:off x="868680" y="3246120"/>
            <a:ext cx="301752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MOND SUPPLY</a:t>
            </a:r>
            <a:endParaRPr lang="en-US" sz="900" dirty="0"/>
          </a:p>
        </p:txBody>
      </p:sp>
      <p:pic>
        <p:nvPicPr>
          <p:cNvPr id="7" name="Image 0" descr="preencoded.png"/>
          <p:cNvPicPr>
            <a:picLocks noChangeAspect="1"/>
          </p:cNvPicPr>
          <p:nvPr/>
        </p:nvPicPr>
        <p:blipFill>
          <a:blip r:embed="rId3"/>
          <a:stretch>
            <a:fillRect/>
          </a:stretch>
        </p:blipFill>
        <p:spPr>
          <a:xfrm>
            <a:off x="868680" y="4114800"/>
            <a:ext cx="457200" cy="457200"/>
          </a:xfrm>
          <a:prstGeom prst="rect">
            <a:avLst/>
          </a:prstGeom>
        </p:spPr>
      </p:pic>
      <p:sp>
        <p:nvSpPr>
          <p:cNvPr id="8" name="Text 5"/>
          <p:cNvSpPr/>
          <p:nvPr/>
        </p:nvSpPr>
        <p:spPr>
          <a:xfrm>
            <a:off x="1417320" y="3977640"/>
            <a:ext cx="2560320" cy="82296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847,291</a:t>
            </a:r>
            <a:endParaRPr lang="en-US" sz="4400" dirty="0"/>
          </a:p>
        </p:txBody>
      </p:sp>
      <p:sp>
        <p:nvSpPr>
          <p:cNvPr id="9" name="Text 6"/>
          <p:cNvSpPr/>
          <p:nvPr/>
        </p:nvSpPr>
        <p:spPr>
          <a:xfrm>
            <a:off x="868680" y="5074920"/>
            <a:ext cx="2926080" cy="822960"/>
          </a:xfrm>
          <a:prstGeom prst="rect">
            <a:avLst/>
          </a:prstGeom>
          <a:noFill/>
          <a:ln/>
        </p:spPr>
        <p:txBody>
          <a:bodyPr wrap="square" lIns="0" tIns="0" rIns="0" bIns="0" rtlCol="0" anchor="ctr"/>
          <a:lstStyle/>
          <a:p>
            <a:pPr marL="0" indent="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Total minted, May 2026</a:t>
            </a:r>
            <a:endParaRPr lang="en-US" sz="1100" dirty="0"/>
          </a:p>
        </p:txBody>
      </p:sp>
      <p:sp>
        <p:nvSpPr>
          <p:cNvPr id="10" name="Shape 7"/>
          <p:cNvSpPr/>
          <p:nvPr/>
        </p:nvSpPr>
        <p:spPr>
          <a:xfrm>
            <a:off x="4251960" y="3017520"/>
            <a:ext cx="3520440" cy="3108960"/>
          </a:xfrm>
          <a:prstGeom prst="rect">
            <a:avLst/>
          </a:prstGeom>
          <a:solidFill>
            <a:srgbClr val="FAF7EE"/>
          </a:solidFill>
          <a:ln w="6350">
            <a:solidFill>
              <a:srgbClr val="EDE7D8"/>
            </a:solidFill>
            <a:prstDash val="solid"/>
          </a:ln>
        </p:spPr>
        <p:txBody>
          <a:bodyPr/>
          <a:lstStyle/>
          <a:p>
            <a:endParaRPr lang="en-GB"/>
          </a:p>
        </p:txBody>
      </p:sp>
      <p:sp>
        <p:nvSpPr>
          <p:cNvPr id="11" name="Shape 8"/>
          <p:cNvSpPr/>
          <p:nvPr/>
        </p:nvSpPr>
        <p:spPr>
          <a:xfrm>
            <a:off x="4389120" y="3154680"/>
            <a:ext cx="274320" cy="0"/>
          </a:xfrm>
          <a:prstGeom prst="line">
            <a:avLst/>
          </a:prstGeom>
          <a:noFill/>
          <a:ln w="12700">
            <a:solidFill>
              <a:srgbClr val="C58A4D"/>
            </a:solidFill>
            <a:prstDash val="solid"/>
          </a:ln>
        </p:spPr>
        <p:txBody>
          <a:bodyPr/>
          <a:lstStyle/>
          <a:p>
            <a:endParaRPr lang="en-GB"/>
          </a:p>
        </p:txBody>
      </p:sp>
      <p:sp>
        <p:nvSpPr>
          <p:cNvPr id="12" name="Text 9"/>
          <p:cNvSpPr/>
          <p:nvPr/>
        </p:nvSpPr>
        <p:spPr>
          <a:xfrm>
            <a:off x="4572000" y="3246120"/>
            <a:ext cx="301752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COVER RATIO</a:t>
            </a:r>
            <a:endParaRPr lang="en-US" sz="900" dirty="0"/>
          </a:p>
        </p:txBody>
      </p:sp>
      <p:sp>
        <p:nvSpPr>
          <p:cNvPr id="13" name="Text 10"/>
          <p:cNvSpPr/>
          <p:nvPr/>
        </p:nvSpPr>
        <p:spPr>
          <a:xfrm>
            <a:off x="4572000" y="3977640"/>
            <a:ext cx="3017520" cy="82296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101.4%</a:t>
            </a:r>
            <a:endParaRPr lang="en-US" sz="4400" dirty="0"/>
          </a:p>
        </p:txBody>
      </p:sp>
      <p:sp>
        <p:nvSpPr>
          <p:cNvPr id="14" name="Text 11"/>
          <p:cNvSpPr/>
          <p:nvPr/>
        </p:nvSpPr>
        <p:spPr>
          <a:xfrm>
            <a:off x="4572000" y="5074920"/>
            <a:ext cx="2926080" cy="822960"/>
          </a:xfrm>
          <a:prstGeom prst="rect">
            <a:avLst/>
          </a:prstGeom>
          <a:noFill/>
          <a:ln/>
        </p:spPr>
        <p:txBody>
          <a:bodyPr wrap="square" lIns="0" tIns="0" rIns="0" bIns="0" rtlCol="0" anchor="ctr"/>
          <a:lstStyle/>
          <a:p>
            <a:pPr marL="0" indent="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USDC reserves vs MOND outstanding</a:t>
            </a:r>
            <a:endParaRPr lang="en-US" sz="1100" dirty="0"/>
          </a:p>
        </p:txBody>
      </p:sp>
      <p:sp>
        <p:nvSpPr>
          <p:cNvPr id="15" name="Shape 12"/>
          <p:cNvSpPr/>
          <p:nvPr/>
        </p:nvSpPr>
        <p:spPr>
          <a:xfrm>
            <a:off x="7955280" y="3017520"/>
            <a:ext cx="3520440" cy="3108960"/>
          </a:xfrm>
          <a:prstGeom prst="rect">
            <a:avLst/>
          </a:prstGeom>
          <a:solidFill>
            <a:srgbClr val="FAF7EE"/>
          </a:solidFill>
          <a:ln w="6350">
            <a:solidFill>
              <a:srgbClr val="EDE7D8"/>
            </a:solidFill>
            <a:prstDash val="solid"/>
          </a:ln>
        </p:spPr>
        <p:txBody>
          <a:bodyPr/>
          <a:lstStyle/>
          <a:p>
            <a:endParaRPr lang="en-GB"/>
          </a:p>
        </p:txBody>
      </p:sp>
      <p:sp>
        <p:nvSpPr>
          <p:cNvPr id="16" name="Shape 13"/>
          <p:cNvSpPr/>
          <p:nvPr/>
        </p:nvSpPr>
        <p:spPr>
          <a:xfrm>
            <a:off x="8092440" y="3154680"/>
            <a:ext cx="274320" cy="0"/>
          </a:xfrm>
          <a:prstGeom prst="line">
            <a:avLst/>
          </a:prstGeom>
          <a:noFill/>
          <a:ln w="12700">
            <a:solidFill>
              <a:srgbClr val="C58A4D"/>
            </a:solidFill>
            <a:prstDash val="solid"/>
          </a:ln>
        </p:spPr>
        <p:txBody>
          <a:bodyPr/>
          <a:lstStyle/>
          <a:p>
            <a:endParaRPr lang="en-GB"/>
          </a:p>
        </p:txBody>
      </p:sp>
      <p:sp>
        <p:nvSpPr>
          <p:cNvPr id="17" name="Text 14"/>
          <p:cNvSpPr/>
          <p:nvPr/>
        </p:nvSpPr>
        <p:spPr>
          <a:xfrm>
            <a:off x="8275320" y="3246120"/>
            <a:ext cx="301752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CITIZENS</a:t>
            </a:r>
            <a:endParaRPr lang="en-US" sz="900" dirty="0"/>
          </a:p>
        </p:txBody>
      </p:sp>
      <p:sp>
        <p:nvSpPr>
          <p:cNvPr id="18" name="Text 15"/>
          <p:cNvSpPr/>
          <p:nvPr/>
        </p:nvSpPr>
        <p:spPr>
          <a:xfrm>
            <a:off x="8275320" y="3977640"/>
            <a:ext cx="3017520" cy="82296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3,912</a:t>
            </a:r>
            <a:endParaRPr lang="en-US" sz="4400" dirty="0"/>
          </a:p>
        </p:txBody>
      </p:sp>
      <p:sp>
        <p:nvSpPr>
          <p:cNvPr id="19" name="Text 16"/>
          <p:cNvSpPr/>
          <p:nvPr/>
        </p:nvSpPr>
        <p:spPr>
          <a:xfrm>
            <a:off x="8275320" y="5074920"/>
            <a:ext cx="2926080" cy="822960"/>
          </a:xfrm>
          <a:prstGeom prst="rect">
            <a:avLst/>
          </a:prstGeom>
          <a:noFill/>
          <a:ln/>
        </p:spPr>
        <p:txBody>
          <a:bodyPr wrap="square" lIns="0" tIns="0" rIns="0" bIns="0" rtlCol="0" anchor="ctr"/>
          <a:lstStyle/>
          <a:p>
            <a:pPr marL="0" indent="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Colony 01, founding cohort</a:t>
            </a:r>
            <a:endParaRPr lang="en-US" sz="1100" dirty="0"/>
          </a:p>
        </p:txBody>
      </p:sp>
      <p:sp>
        <p:nvSpPr>
          <p:cNvPr id="20"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DESIGN PRINCIPLE</a:t>
            </a:r>
            <a:endParaRPr lang="en-US" sz="1000" dirty="0"/>
          </a:p>
        </p:txBody>
      </p:sp>
      <p:sp>
        <p:nvSpPr>
          <p:cNvPr id="3" name="Shape 1"/>
          <p:cNvSpPr/>
          <p:nvPr/>
        </p:nvSpPr>
        <p:spPr>
          <a:xfrm>
            <a:off x="548640" y="2743200"/>
            <a:ext cx="731520" cy="0"/>
          </a:xfrm>
          <a:prstGeom prst="line">
            <a:avLst/>
          </a:prstGeom>
          <a:noFill/>
          <a:ln w="19050">
            <a:solidFill>
              <a:srgbClr val="C58A4D"/>
            </a:solidFill>
            <a:prstDash val="solid"/>
          </a:ln>
        </p:spPr>
        <p:txBody>
          <a:bodyPr/>
          <a:lstStyle/>
          <a:p>
            <a:endParaRPr lang="en-GB"/>
          </a:p>
        </p:txBody>
      </p:sp>
      <p:sp>
        <p:nvSpPr>
          <p:cNvPr id="4" name="Text 2"/>
          <p:cNvSpPr/>
          <p:nvPr/>
        </p:nvSpPr>
        <p:spPr>
          <a:xfrm>
            <a:off x="548640" y="3017520"/>
            <a:ext cx="10972800" cy="2286000"/>
          </a:xfrm>
          <a:prstGeom prst="rect">
            <a:avLst/>
          </a:prstGeom>
          <a:noFill/>
          <a:ln/>
        </p:spPr>
        <p:txBody>
          <a:bodyPr wrap="square" lIns="0" tIns="0" rIns="0" bIns="0" rtlCol="0" anchor="ctr"/>
          <a:lstStyle/>
          <a:p>
            <a:pPr marL="0" indent="0">
              <a:lnSpc>
                <a:spcPct val="110000"/>
              </a:lnSpc>
              <a:buNone/>
            </a:pPr>
            <a:r>
              <a:rPr lang="en-US" sz="5600" i="1" dirty="0">
                <a:solidFill>
                  <a:srgbClr val="0A0A0A"/>
                </a:solidFill>
                <a:latin typeface="Calibri Light" pitchFamily="34" charset="0"/>
                <a:ea typeface="Calibri Light" pitchFamily="34" charset="-122"/>
                <a:cs typeface="Calibri Light" pitchFamily="34" charset="-120"/>
              </a:rPr>
              <a:t>Modified Newtonian dynamics, in monetary form.</a:t>
            </a:r>
            <a:endParaRPr lang="en-US" sz="5600" dirty="0"/>
          </a:p>
        </p:txBody>
      </p:sp>
      <p:sp>
        <p:nvSpPr>
          <p:cNvPr id="5" name="Text 3"/>
          <p:cNvSpPr/>
          <p:nvPr/>
        </p:nvSpPr>
        <p:spPr>
          <a:xfrm>
            <a:off x="548640" y="5486400"/>
            <a:ext cx="10058400" cy="365760"/>
          </a:xfrm>
          <a:prstGeom prst="rect">
            <a:avLst/>
          </a:prstGeom>
          <a:noFill/>
          <a:ln/>
        </p:spPr>
        <p:txBody>
          <a:bodyPr wrap="square" lIns="0" tIns="0" rIns="0" bIns="0" rtlCol="0" anchor="ctr"/>
          <a:lstStyle/>
          <a:p>
            <a:pPr marL="0" indent="0">
              <a:buNone/>
            </a:pPr>
            <a:r>
              <a:rPr lang="en-US" sz="1100" kern="0" spc="400" dirty="0">
                <a:solidFill>
                  <a:srgbClr val="7A7568"/>
                </a:solidFill>
                <a:latin typeface="Consolas" pitchFamily="34" charset="0"/>
                <a:ea typeface="Consolas" pitchFamily="34" charset="-122"/>
                <a:cs typeface="Consolas" pitchFamily="34" charset="-120"/>
              </a:rPr>
              <a:t>— THE AXION WHITEPAPER, MAY 2026</a:t>
            </a:r>
            <a:endParaRPr lang="en-US" sz="1100" dirty="0"/>
          </a:p>
        </p:txBody>
      </p:sp>
      <p:sp>
        <p:nvSpPr>
          <p:cNvPr id="6"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endParaRPr lang="en-US" sz="3600" dirty="0"/>
          </a:p>
        </p:txBody>
      </p:sp>
      <p:sp>
        <p:nvSpPr>
          <p:cNvPr id="7"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9D998E"/>
                </a:solidFill>
                <a:latin typeface="Consolas" pitchFamily="34" charset="0"/>
                <a:ea typeface="Consolas" pitchFamily="34" charset="-122"/>
                <a:cs typeface="Consolas" pitchFamily="34" charset="-120"/>
              </a:rPr>
              <a:t>INSIDE THE COLONY</a:t>
            </a:r>
            <a:endParaRPr lang="en-US" sz="1000" dirty="0"/>
          </a:p>
        </p:txBody>
      </p:sp>
      <p:sp>
        <p:nvSpPr>
          <p:cNvPr id="3"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r>
              <a:rPr lang="en-US" sz="3600" dirty="0">
                <a:solidFill>
                  <a:srgbClr val="F0EDE6"/>
                </a:solidFill>
                <a:latin typeface="Calibri Light" pitchFamily="34" charset="0"/>
                <a:ea typeface="Calibri Light" pitchFamily="34" charset="-122"/>
                <a:cs typeface="Calibri Light" pitchFamily="34" charset="-120"/>
              </a:rPr>
              <a:t>A closed-loop economic infrastructure.</a:t>
            </a:r>
            <a:endParaRPr lang="en-US" sz="3600" dirty="0"/>
          </a:p>
        </p:txBody>
      </p:sp>
      <p:sp>
        <p:nvSpPr>
          <p:cNvPr id="4" name="Text 2"/>
          <p:cNvSpPr/>
          <p:nvPr/>
        </p:nvSpPr>
        <p:spPr>
          <a:xfrm>
            <a:off x="548640" y="3017520"/>
            <a:ext cx="9144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01</a:t>
            </a:r>
            <a:endParaRPr lang="en-US" sz="1100" dirty="0"/>
          </a:p>
        </p:txBody>
      </p:sp>
      <p:sp>
        <p:nvSpPr>
          <p:cNvPr id="5" name="Shape 3"/>
          <p:cNvSpPr/>
          <p:nvPr/>
        </p:nvSpPr>
        <p:spPr>
          <a:xfrm>
            <a:off x="548640" y="3383280"/>
            <a:ext cx="457200" cy="0"/>
          </a:xfrm>
          <a:prstGeom prst="line">
            <a:avLst/>
          </a:prstGeom>
          <a:noFill/>
          <a:ln w="12700">
            <a:solidFill>
              <a:srgbClr val="C58A4D"/>
            </a:solidFill>
            <a:prstDash val="solid"/>
          </a:ln>
        </p:spPr>
        <p:txBody>
          <a:bodyPr/>
          <a:lstStyle/>
          <a:p>
            <a:endParaRPr lang="en-GB"/>
          </a:p>
        </p:txBody>
      </p:sp>
      <p:sp>
        <p:nvSpPr>
          <p:cNvPr id="6" name="Text 4"/>
          <p:cNvSpPr/>
          <p:nvPr/>
        </p:nvSpPr>
        <p:spPr>
          <a:xfrm>
            <a:off x="548640" y="3611880"/>
            <a:ext cx="3474720" cy="822960"/>
          </a:xfrm>
          <a:prstGeom prst="rect">
            <a:avLst/>
          </a:prstGeom>
          <a:noFill/>
          <a:ln/>
        </p:spPr>
        <p:txBody>
          <a:bodyPr wrap="square" lIns="0" tIns="0" rIns="0" bIns="0" rtlCol="0" anchor="ctr"/>
          <a:lstStyle/>
          <a:p>
            <a:pPr marL="0" indent="0">
              <a:lnSpc>
                <a:spcPct val="120000"/>
              </a:lnSpc>
              <a:buNone/>
            </a:pPr>
            <a:r>
              <a:rPr lang="en-US" sz="1700" b="1" dirty="0">
                <a:solidFill>
                  <a:srgbClr val="F0EDE6"/>
                </a:solidFill>
                <a:latin typeface="Calibri" pitchFamily="34" charset="0"/>
                <a:ea typeface="Calibri" pitchFamily="34" charset="-122"/>
                <a:cs typeface="Calibri" pitchFamily="34" charset="-120"/>
              </a:rPr>
              <a:t>MOND is the only currency</a:t>
            </a:r>
            <a:endParaRPr lang="en-US" sz="1700" dirty="0"/>
          </a:p>
        </p:txBody>
      </p:sp>
      <p:sp>
        <p:nvSpPr>
          <p:cNvPr id="7" name="Text 5"/>
          <p:cNvSpPr/>
          <p:nvPr/>
        </p:nvSpPr>
        <p:spPr>
          <a:xfrm>
            <a:off x="548640" y="4480560"/>
            <a:ext cx="3474720" cy="1645920"/>
          </a:xfrm>
          <a:prstGeom prst="rect">
            <a:avLst/>
          </a:prstGeom>
          <a:noFill/>
          <a:ln/>
        </p:spPr>
        <p:txBody>
          <a:bodyPr wrap="square" lIns="0" tIns="0" rIns="0" bIns="0" rtlCol="0" anchor="ctr"/>
          <a:lstStyle/>
          <a:p>
            <a:pPr marL="0" indent="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All transactions inside the colony settle in MOND. The Fisc converts at the boundary.</a:t>
            </a:r>
            <a:endParaRPr lang="en-US" sz="1200" dirty="0"/>
          </a:p>
        </p:txBody>
      </p:sp>
      <p:sp>
        <p:nvSpPr>
          <p:cNvPr id="8" name="Text 6"/>
          <p:cNvSpPr/>
          <p:nvPr/>
        </p:nvSpPr>
        <p:spPr>
          <a:xfrm>
            <a:off x="4389120" y="3017520"/>
            <a:ext cx="9144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02</a:t>
            </a:r>
            <a:endParaRPr lang="en-US" sz="1100" dirty="0"/>
          </a:p>
        </p:txBody>
      </p:sp>
      <p:sp>
        <p:nvSpPr>
          <p:cNvPr id="9" name="Shape 7"/>
          <p:cNvSpPr/>
          <p:nvPr/>
        </p:nvSpPr>
        <p:spPr>
          <a:xfrm>
            <a:off x="4389120" y="3383280"/>
            <a:ext cx="457200" cy="0"/>
          </a:xfrm>
          <a:prstGeom prst="line">
            <a:avLst/>
          </a:prstGeom>
          <a:noFill/>
          <a:ln w="12700">
            <a:solidFill>
              <a:srgbClr val="C58A4D"/>
            </a:solidFill>
            <a:prstDash val="solid"/>
          </a:ln>
        </p:spPr>
        <p:txBody>
          <a:bodyPr/>
          <a:lstStyle/>
          <a:p>
            <a:endParaRPr lang="en-GB"/>
          </a:p>
        </p:txBody>
      </p:sp>
      <p:sp>
        <p:nvSpPr>
          <p:cNvPr id="10" name="Text 8"/>
          <p:cNvSpPr/>
          <p:nvPr/>
        </p:nvSpPr>
        <p:spPr>
          <a:xfrm>
            <a:off x="4389120" y="3611880"/>
            <a:ext cx="3474720" cy="822960"/>
          </a:xfrm>
          <a:prstGeom prst="rect">
            <a:avLst/>
          </a:prstGeom>
          <a:noFill/>
          <a:ln/>
        </p:spPr>
        <p:txBody>
          <a:bodyPr wrap="square" lIns="0" tIns="0" rIns="0" bIns="0" rtlCol="0" anchor="ctr"/>
          <a:lstStyle/>
          <a:p>
            <a:pPr marL="0" indent="0">
              <a:lnSpc>
                <a:spcPct val="120000"/>
              </a:lnSpc>
              <a:buNone/>
            </a:pPr>
            <a:r>
              <a:rPr lang="en-US" sz="1700" b="1" dirty="0">
                <a:solidFill>
                  <a:srgbClr val="F0EDE6"/>
                </a:solidFill>
                <a:latin typeface="Calibri" pitchFamily="34" charset="0"/>
                <a:ea typeface="Calibri" pitchFamily="34" charset="-122"/>
                <a:cs typeface="Calibri" pitchFamily="34" charset="-120"/>
              </a:rPr>
              <a:t>Every citizen is a shareholder</a:t>
            </a:r>
            <a:endParaRPr lang="en-US" sz="1700" dirty="0"/>
          </a:p>
        </p:txBody>
      </p:sp>
      <p:sp>
        <p:nvSpPr>
          <p:cNvPr id="11" name="Text 9"/>
          <p:cNvSpPr/>
          <p:nvPr/>
        </p:nvSpPr>
        <p:spPr>
          <a:xfrm>
            <a:off x="4389120" y="4480560"/>
            <a:ext cx="3474720" cy="1645920"/>
          </a:xfrm>
          <a:prstGeom prst="rect">
            <a:avLst/>
          </a:prstGeom>
          <a:noFill/>
          <a:ln/>
        </p:spPr>
        <p:txBody>
          <a:bodyPr wrap="square" lIns="0" tIns="0" rIns="0" bIns="0" rtlCol="0" anchor="ctr"/>
          <a:lstStyle/>
          <a:p>
            <a:pPr marL="0" indent="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Income arrives through share dividends, not wages. The protocol replaces both labour markets and welfare.</a:t>
            </a:r>
            <a:endParaRPr lang="en-US" sz="1200" dirty="0"/>
          </a:p>
        </p:txBody>
      </p:sp>
      <p:sp>
        <p:nvSpPr>
          <p:cNvPr id="12" name="Text 10"/>
          <p:cNvSpPr/>
          <p:nvPr/>
        </p:nvSpPr>
        <p:spPr>
          <a:xfrm>
            <a:off x="8229600" y="3017520"/>
            <a:ext cx="9144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03</a:t>
            </a:r>
            <a:endParaRPr lang="en-US" sz="1100" dirty="0"/>
          </a:p>
        </p:txBody>
      </p:sp>
      <p:sp>
        <p:nvSpPr>
          <p:cNvPr id="13" name="Shape 11"/>
          <p:cNvSpPr/>
          <p:nvPr/>
        </p:nvSpPr>
        <p:spPr>
          <a:xfrm>
            <a:off x="8229600" y="3383280"/>
            <a:ext cx="457200" cy="0"/>
          </a:xfrm>
          <a:prstGeom prst="line">
            <a:avLst/>
          </a:prstGeom>
          <a:noFill/>
          <a:ln w="12700">
            <a:solidFill>
              <a:srgbClr val="C58A4D"/>
            </a:solidFill>
            <a:prstDash val="solid"/>
          </a:ln>
        </p:spPr>
        <p:txBody>
          <a:bodyPr/>
          <a:lstStyle/>
          <a:p>
            <a:endParaRPr lang="en-GB"/>
          </a:p>
        </p:txBody>
      </p:sp>
      <p:sp>
        <p:nvSpPr>
          <p:cNvPr id="14" name="Text 12"/>
          <p:cNvSpPr/>
          <p:nvPr/>
        </p:nvSpPr>
        <p:spPr>
          <a:xfrm>
            <a:off x="8229600" y="3611880"/>
            <a:ext cx="3474720" cy="822960"/>
          </a:xfrm>
          <a:prstGeom prst="rect">
            <a:avLst/>
          </a:prstGeom>
          <a:noFill/>
          <a:ln/>
        </p:spPr>
        <p:txBody>
          <a:bodyPr wrap="square" lIns="0" tIns="0" rIns="0" bIns="0" rtlCol="0" anchor="ctr"/>
          <a:lstStyle/>
          <a:p>
            <a:pPr marL="0" indent="0">
              <a:lnSpc>
                <a:spcPct val="120000"/>
              </a:lnSpc>
              <a:buNone/>
            </a:pPr>
            <a:r>
              <a:rPr lang="en-US" sz="1700" b="1" dirty="0">
                <a:solidFill>
                  <a:srgbClr val="F0EDE6"/>
                </a:solidFill>
                <a:latin typeface="Calibri" pitchFamily="34" charset="0"/>
                <a:ea typeface="Calibri" pitchFamily="34" charset="-122"/>
                <a:cs typeface="Calibri" pitchFamily="34" charset="-120"/>
              </a:rPr>
              <a:t>Stable real-terms purchasing power</a:t>
            </a:r>
            <a:endParaRPr lang="en-US" sz="1700" dirty="0"/>
          </a:p>
        </p:txBody>
      </p:sp>
      <p:sp>
        <p:nvSpPr>
          <p:cNvPr id="15" name="Text 13"/>
          <p:cNvSpPr/>
          <p:nvPr/>
        </p:nvSpPr>
        <p:spPr>
          <a:xfrm>
            <a:off x="8229600" y="4480560"/>
            <a:ext cx="3474720" cy="1645920"/>
          </a:xfrm>
          <a:prstGeom prst="rect">
            <a:avLst/>
          </a:prstGeom>
          <a:noFill/>
          <a:ln/>
        </p:spPr>
        <p:txBody>
          <a:bodyPr wrap="square" lIns="0" tIns="0" rIns="0" bIns="0" rtlCol="0" anchor="ctr"/>
          <a:lstStyle/>
          <a:p>
            <a:pPr marL="0" indent="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Citizens are insulated from outside-economy volatility. Comfortable life clears regardless of legacy conditions.</a:t>
            </a:r>
            <a:endParaRPr lang="en-US" sz="1200" dirty="0"/>
          </a:p>
        </p:txBody>
      </p:sp>
      <p:sp>
        <p:nvSpPr>
          <p:cNvPr id="16"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D998E"/>
                </a:solidFill>
                <a:latin typeface="Consolas"/>
                <a:ea typeface="Consolas"/>
                <a:cs typeface="Consola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023360" y="2286000"/>
            <a:ext cx="4114800" cy="1371600"/>
          </a:xfrm>
          <a:prstGeom prst="rect">
            <a:avLst/>
          </a:prstGeom>
        </p:spPr>
      </p:pic>
      <p:sp>
        <p:nvSpPr>
          <p:cNvPr id="3" name="Text 0"/>
          <p:cNvSpPr/>
          <p:nvPr/>
        </p:nvSpPr>
        <p:spPr>
          <a:xfrm>
            <a:off x="548640" y="4114800"/>
            <a:ext cx="11091672" cy="548640"/>
          </a:xfrm>
          <a:prstGeom prst="rect">
            <a:avLst/>
          </a:prstGeom>
          <a:noFill/>
          <a:ln/>
        </p:spPr>
        <p:txBody>
          <a:bodyPr wrap="square" lIns="0" tIns="0" rIns="0" bIns="0" rtlCol="0" anchor="ctr"/>
          <a:lstStyle/>
          <a:p>
            <a:pPr marL="0" indent="0" algn="ctr">
              <a:buNone/>
            </a:pPr>
            <a:r>
              <a:rPr lang="en-US" sz="3200" dirty="0">
                <a:solidFill>
                  <a:srgbClr val="F0EDE6"/>
                </a:solidFill>
                <a:latin typeface="Calibri Light" pitchFamily="34" charset="0"/>
                <a:ea typeface="Calibri Light" pitchFamily="34" charset="-122"/>
                <a:cs typeface="Calibri Light" pitchFamily="34" charset="-120"/>
              </a:rPr>
              <a:t>The unit of account.</a:t>
            </a:r>
            <a:endParaRPr lang="en-US" sz="3200" dirty="0"/>
          </a:p>
        </p:txBody>
      </p:sp>
      <p:sp>
        <p:nvSpPr>
          <p:cNvPr id="4" name="Text 1"/>
          <p:cNvSpPr/>
          <p:nvPr/>
        </p:nvSpPr>
        <p:spPr>
          <a:xfrm>
            <a:off x="548640" y="4709160"/>
            <a:ext cx="11091672" cy="457200"/>
          </a:xfrm>
          <a:prstGeom prst="rect">
            <a:avLst/>
          </a:prstGeom>
          <a:noFill/>
          <a:ln/>
        </p:spPr>
        <p:txBody>
          <a:bodyPr wrap="square" lIns="0" tIns="0" rIns="0" bIns="0" rtlCol="0" anchor="ctr"/>
          <a:lstStyle/>
          <a:p>
            <a:pPr marL="0" indent="0" algn="ctr">
              <a:buNone/>
            </a:pPr>
            <a:r>
              <a:rPr lang="en-US" sz="1400" dirty="0">
                <a:solidFill>
                  <a:srgbClr val="F0EDE6">
                    <a:alpha val="70000"/>
                  </a:srgbClr>
                </a:solidFill>
                <a:latin typeface="Calibri" pitchFamily="34" charset="0"/>
                <a:ea typeface="Calibri" pitchFamily="34" charset="-122"/>
                <a:cs typeface="Calibri" pitchFamily="34" charset="-120"/>
              </a:rPr>
              <a:t>Closed-loop, non-tradeable outside the protocol, USDC-backed at the boundary.</a:t>
            </a:r>
            <a:endParaRPr lang="en-US" sz="1400" dirty="0"/>
          </a:p>
        </p:txBody>
      </p:sp>
      <p:sp>
        <p:nvSpPr>
          <p:cNvPr id="5" name="Shape 2"/>
          <p:cNvSpPr/>
          <p:nvPr/>
        </p:nvSpPr>
        <p:spPr>
          <a:xfrm>
            <a:off x="5394960" y="5440680"/>
            <a:ext cx="1371600" cy="0"/>
          </a:xfrm>
          <a:prstGeom prst="line">
            <a:avLst/>
          </a:prstGeom>
          <a:noFill/>
          <a:ln w="15875">
            <a:solidFill>
              <a:srgbClr val="C58A4D"/>
            </a:solidFill>
            <a:prstDash val="solid"/>
          </a:ln>
        </p:spPr>
        <p:txBody>
          <a:bodyPr/>
          <a:lstStyle/>
          <a:p>
            <a:endParaRPr lang="en-GB"/>
          </a:p>
        </p:txBody>
      </p:sp>
      <p:sp>
        <p:nvSpPr>
          <p:cNvPr id="6" name="Shape 3"/>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7" name="Text 4"/>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400" dirty="0">
                <a:solidFill>
                  <a:srgbClr val="9D998E"/>
                </a:solidFill>
                <a:latin typeface="Consolas" pitchFamily="34" charset="0"/>
                <a:ea typeface="Consolas" pitchFamily="34" charset="-122"/>
                <a:cs typeface="Consolas" pitchFamily="34" charset="-120"/>
              </a:rPr>
              <a:t>MILGROM 1983  ·  MODIFIED NEWTONIAN DYNAMICS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THE PROTOCOL</a:t>
            </a:r>
            <a:endParaRPr lang="en-US" sz="1000" dirty="0"/>
          </a:p>
        </p:txBody>
      </p:sp>
      <p:sp>
        <p:nvSpPr>
          <p:cNvPr id="3"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r>
              <a:rPr lang="en-US" sz="3600" dirty="0">
                <a:solidFill>
                  <a:srgbClr val="0A0A0A"/>
                </a:solidFill>
                <a:latin typeface="Calibri Light" pitchFamily="34" charset="0"/>
                <a:ea typeface="Calibri Light" pitchFamily="34" charset="-122"/>
                <a:cs typeface="Calibri Light" pitchFamily="34" charset="-120"/>
              </a:rPr>
              <a:t>How the colony economy works.</a:t>
            </a:r>
            <a:endParaRPr lang="en-US" sz="3600" dirty="0"/>
          </a:p>
        </p:txBody>
      </p:sp>
      <p:sp>
        <p:nvSpPr>
          <p:cNvPr id="4"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Currency layer</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MOND is the sole unit of account</a:t>
            </a:r>
            <a:endParaRPr lang="en-US" sz="1600" dirty="0"/>
          </a:p>
          <a:p>
            <a:pPr marL="1028700" lvl="2"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Backed 1:1 by USDC at the boundary</a:t>
            </a:r>
            <a:endParaRPr lang="en-US" sz="1600" dirty="0"/>
          </a:p>
          <a:p>
            <a:pPr marL="1028700" lvl="2"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Non-tradeable outside the protocol</a:t>
            </a:r>
            <a:endParaRPr lang="en-US" sz="1600" dirty="0"/>
          </a:p>
          <a:p>
            <a:pPr marL="1028700" lvl="2"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Auto-converted to USDC on external transactions</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Income layer</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Citizens receive share dividends, not wages</a:t>
            </a:r>
            <a:endParaRPr lang="en-US" sz="1600" dirty="0"/>
          </a:p>
          <a:p>
            <a:pPr marL="1028700" lvl="2"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Founders and investors hold permanent shares</a:t>
            </a:r>
            <a:endParaRPr lang="en-US" sz="1600" dirty="0"/>
          </a:p>
          <a:p>
            <a:pPr marL="1028700" lvl="2"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Workers receive time-limited shares (crypto-native salary)</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PROJECTED COLONY GROWTH</a:t>
            </a:r>
            <a:endParaRPr lang="en-US" sz="1000" dirty="0"/>
          </a:p>
        </p:txBody>
      </p:sp>
      <p:sp>
        <p:nvSpPr>
          <p:cNvPr id="3"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r>
              <a:rPr lang="en-US" sz="3600" dirty="0">
                <a:solidFill>
                  <a:srgbClr val="0A0A0A"/>
                </a:solidFill>
                <a:latin typeface="Calibri Light" pitchFamily="34" charset="0"/>
                <a:ea typeface="Calibri Light" pitchFamily="34" charset="-122"/>
                <a:cs typeface="Calibri Light" pitchFamily="34" charset="-120"/>
              </a:rPr>
              <a:t>MOND supply, 10-year horizon.</a:t>
            </a:r>
            <a:endParaRPr lang="en-US" sz="3600" dirty="0"/>
          </a:p>
        </p:txBody>
      </p:sp>
      <p:graphicFrame>
        <p:nvGraphicFramePr>
          <p:cNvPr id="4" name="Chart 0"/>
          <p:cNvGraphicFramePr/>
          <p:nvPr/>
        </p:nvGraphicFramePr>
        <p:xfrm>
          <a:off x="548640" y="2926080"/>
          <a:ext cx="11091672"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77240" y="914400"/>
            <a:ext cx="73152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THE ASK</a:t>
            </a:r>
            <a:endParaRPr lang="en-US" sz="1100" dirty="0"/>
          </a:p>
        </p:txBody>
      </p:sp>
      <p:sp>
        <p:nvSpPr>
          <p:cNvPr id="3" name="Shape 1"/>
          <p:cNvSpPr/>
          <p:nvPr/>
        </p:nvSpPr>
        <p:spPr>
          <a:xfrm>
            <a:off x="777240" y="1371600"/>
            <a:ext cx="548640" cy="0"/>
          </a:xfrm>
          <a:prstGeom prst="line">
            <a:avLst/>
          </a:prstGeom>
          <a:noFill/>
          <a:ln w="12700">
            <a:solidFill>
              <a:srgbClr val="C58A4D"/>
            </a:solidFill>
            <a:prstDash val="solid"/>
          </a:ln>
        </p:spPr>
        <p:txBody>
          <a:bodyPr/>
          <a:lstStyle/>
          <a:p>
            <a:endParaRPr lang="en-GB"/>
          </a:p>
        </p:txBody>
      </p:sp>
      <p:sp>
        <p:nvSpPr>
          <p:cNvPr id="4" name="Text 2"/>
          <p:cNvSpPr/>
          <p:nvPr/>
        </p:nvSpPr>
        <p:spPr>
          <a:xfrm>
            <a:off x="777240" y="1828800"/>
            <a:ext cx="10972800" cy="1371600"/>
          </a:xfrm>
          <a:prstGeom prst="rect">
            <a:avLst/>
          </a:prstGeom>
          <a:noFill/>
          <a:ln/>
        </p:spPr>
        <p:txBody>
          <a:bodyPr wrap="square" lIns="0" tIns="0" rIns="0" bIns="0" rtlCol="0" anchor="ctr"/>
          <a:lstStyle/>
          <a:p>
            <a:pPr marL="0" indent="0">
              <a:buNone/>
            </a:pPr>
            <a:r>
              <a:rPr lang="en-US" sz="7200" dirty="0">
                <a:solidFill>
                  <a:srgbClr val="F0EDE6"/>
                </a:solidFill>
                <a:latin typeface="Calibri Light" pitchFamily="34" charset="0"/>
                <a:ea typeface="Calibri Light" pitchFamily="34" charset="-122"/>
                <a:cs typeface="Calibri Light" pitchFamily="34" charset="-120"/>
              </a:rPr>
              <a:t>Reg CF.  $1M.  $10M cap.</a:t>
            </a:r>
            <a:endParaRPr lang="en-US" sz="7200" dirty="0"/>
          </a:p>
        </p:txBody>
      </p:sp>
      <p:sp>
        <p:nvSpPr>
          <p:cNvPr id="5" name="Text 3"/>
          <p:cNvSpPr/>
          <p:nvPr/>
        </p:nvSpPr>
        <p:spPr>
          <a:xfrm>
            <a:off x="777240" y="3566160"/>
            <a:ext cx="10058400" cy="1097280"/>
          </a:xfrm>
          <a:prstGeom prst="rect">
            <a:avLst/>
          </a:prstGeom>
          <a:noFill/>
          <a:ln/>
        </p:spPr>
        <p:txBody>
          <a:bodyPr wrap="square" lIns="0" tIns="0" rIns="0" bIns="0" rtlCol="0" anchor="ctr"/>
          <a:lstStyle/>
          <a:p>
            <a:pPr marL="0" indent="0">
              <a:lnSpc>
                <a:spcPct val="140000"/>
              </a:lnSpc>
              <a:buNone/>
            </a:pPr>
            <a:r>
              <a:rPr lang="en-US" sz="1800" dirty="0">
                <a:solidFill>
                  <a:srgbClr val="F0EDE6">
                    <a:alpha val="75000"/>
                  </a:srgbClr>
                </a:solidFill>
                <a:latin typeface="Calibri" pitchFamily="34" charset="0"/>
                <a:ea typeface="Calibri" pitchFamily="34" charset="-122"/>
                <a:cs typeface="Calibri" pitchFamily="34" charset="-120"/>
              </a:rPr>
              <a:t>Wefunder. SAFE instrument. To deploy the first Earth colony, hire the founding CTO, and ship the protocol to mainnet by Q4 2026.</a:t>
            </a:r>
            <a:endParaRPr lang="en-US" sz="1800" dirty="0"/>
          </a:p>
        </p:txBody>
      </p:sp>
      <p:sp>
        <p:nvSpPr>
          <p:cNvPr id="6" name="Shape 4"/>
          <p:cNvSpPr/>
          <p:nvPr/>
        </p:nvSpPr>
        <p:spPr>
          <a:xfrm>
            <a:off x="777240" y="5120640"/>
            <a:ext cx="4114800" cy="640080"/>
          </a:xfrm>
          <a:prstGeom prst="rect">
            <a:avLst/>
          </a:prstGeom>
          <a:solidFill>
            <a:srgbClr val="C58A4D"/>
          </a:solidFill>
          <a:ln/>
        </p:spPr>
        <p:txBody>
          <a:bodyPr/>
          <a:lstStyle/>
          <a:p>
            <a:endParaRPr lang="en-GB"/>
          </a:p>
        </p:txBody>
      </p:sp>
      <p:sp>
        <p:nvSpPr>
          <p:cNvPr id="7" name="Text 5"/>
          <p:cNvSpPr/>
          <p:nvPr/>
        </p:nvSpPr>
        <p:spPr>
          <a:xfrm>
            <a:off x="777240" y="5120640"/>
            <a:ext cx="4114800" cy="640080"/>
          </a:xfrm>
          <a:prstGeom prst="rect">
            <a:avLst/>
          </a:prstGeom>
          <a:noFill/>
          <a:ln/>
        </p:spPr>
        <p:txBody>
          <a:bodyPr wrap="square" lIns="0" tIns="0" rIns="0" bIns="0" rtlCol="0" anchor="ctr"/>
          <a:lstStyle/>
          <a:p>
            <a:pPr marL="0" indent="0" algn="ctr">
              <a:buNone/>
            </a:pPr>
            <a:r>
              <a:rPr lang="en-US" sz="1200" b="1" kern="0" spc="400" dirty="0">
                <a:solidFill>
                  <a:srgbClr val="0A0A0A"/>
                </a:solidFill>
                <a:latin typeface="Consolas" pitchFamily="34" charset="0"/>
                <a:ea typeface="Consolas" pitchFamily="34" charset="-122"/>
                <a:cs typeface="Consolas" pitchFamily="34" charset="-120"/>
              </a:rPr>
              <a:t>WEFUNDER.COM/AXION</a:t>
            </a:r>
            <a:endParaRPr lang="en-US" sz="1200" dirty="0"/>
          </a:p>
        </p:txBody>
      </p:sp>
      <p:sp>
        <p:nvSpPr>
          <p:cNvPr id="8" name="Shape 6"/>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9" name="Text 7"/>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400" dirty="0">
                <a:solidFill>
                  <a:srgbClr val="9D998E"/>
                </a:solidFill>
                <a:latin typeface="Consolas" pitchFamily="34" charset="0"/>
                <a:ea typeface="Consolas" pitchFamily="34" charset="-122"/>
                <a:cs typeface="Consolas" pitchFamily="34" charset="-120"/>
              </a:rPr>
              <a:t>STEVE@AXION.FI  ·  AXION.FI</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041648" y="2743200"/>
            <a:ext cx="4114800" cy="1371600"/>
          </a:xfrm>
          <a:prstGeom prst="rect">
            <a:avLst/>
          </a:prstGeom>
        </p:spPr>
      </p:pic>
      <p:sp>
        <p:nvSpPr>
          <p:cNvPr id="3" name="Text 0"/>
          <p:cNvSpPr/>
          <p:nvPr/>
        </p:nvSpPr>
        <p:spPr>
          <a:xfrm>
            <a:off x="548640" y="4389120"/>
            <a:ext cx="11091672" cy="548640"/>
          </a:xfrm>
          <a:prstGeom prst="rect">
            <a:avLst/>
          </a:prstGeom>
          <a:noFill/>
          <a:ln/>
        </p:spPr>
        <p:txBody>
          <a:bodyPr wrap="square" lIns="0" tIns="0" rIns="0" bIns="0" rtlCol="0" anchor="ctr"/>
          <a:lstStyle/>
          <a:p>
            <a:pPr marL="0" indent="0" algn="ctr">
              <a:buNone/>
            </a:pPr>
            <a:r>
              <a:rPr lang="en-US" sz="3200" dirty="0">
                <a:solidFill>
                  <a:srgbClr val="F0EDE6"/>
                </a:solidFill>
                <a:latin typeface="Calibri Light" pitchFamily="34" charset="0"/>
                <a:ea typeface="Calibri Light" pitchFamily="34" charset="-122"/>
                <a:cs typeface="Calibri Light" pitchFamily="34" charset="-120"/>
              </a:rPr>
              <a:t>Thank you.</a:t>
            </a:r>
            <a:endParaRPr lang="en-US" sz="3200" dirty="0"/>
          </a:p>
        </p:txBody>
      </p:sp>
      <p:sp>
        <p:nvSpPr>
          <p:cNvPr id="4" name="Shape 1"/>
          <p:cNvSpPr/>
          <p:nvPr/>
        </p:nvSpPr>
        <p:spPr>
          <a:xfrm>
            <a:off x="5641848" y="5074920"/>
            <a:ext cx="914400" cy="0"/>
          </a:xfrm>
          <a:prstGeom prst="line">
            <a:avLst/>
          </a:prstGeom>
          <a:noFill/>
          <a:ln w="15875">
            <a:solidFill>
              <a:srgbClr val="C58A4D"/>
            </a:solidFill>
            <a:prstDash val="solid"/>
          </a:ln>
        </p:spPr>
        <p:txBody>
          <a:bodyPr/>
          <a:lstStyle/>
          <a:p>
            <a:endParaRPr lang="en-GB"/>
          </a:p>
        </p:txBody>
      </p:sp>
      <p:sp>
        <p:nvSpPr>
          <p:cNvPr id="5" name="Text 2"/>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400" dirty="0">
                <a:solidFill>
                  <a:srgbClr val="9D998E"/>
                </a:solidFill>
                <a:latin typeface="Consolas" pitchFamily="34" charset="0"/>
                <a:ea typeface="Consolas" pitchFamily="34" charset="-122"/>
                <a:cs typeface="Consolas" pitchFamily="34" charset="-120"/>
              </a:rPr>
              <a:t>MAY 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INSTRUCTIONS  ·  DELETE BEFORE PRESENTING</a:t>
            </a:r>
            <a:endParaRPr lang="en-US" sz="1000" dirty="0"/>
          </a:p>
        </p:txBody>
      </p:sp>
      <p:sp>
        <p:nvSpPr>
          <p:cNvPr id="3" name="Text 4"/>
          <p:cNvSpPr>
            <a:spLocks noGrp="1"/>
          </p:cNvSpPr>
          <p:nvPr>
            <p:ph type="title" idx="106" hasCustomPrompt="1"/>
          </p:nvPr>
        </p:nvSpPr>
        <p:spPr>
          <a:xfrm>
            <a:off x="548640" y="1783080"/>
            <a:ext cx="11091672" cy="914400"/>
          </a:xfrm>
          <a:prstGeom prst="rect">
            <a:avLst/>
          </a:prstGeom>
          <a:noFill/>
          <a:ln/>
        </p:spPr>
        <p:txBody>
          <a:bodyPr wrap="square" lIns="0" tIns="0" rIns="0" bIns="0" rtlCol="0"/>
          <a:lstStyle/>
          <a:p>
            <a:pPr marL="0" indent="0" algn="l">
              <a:buNone/>
            </a:pPr>
            <a:r>
              <a:rPr lang="en-US" sz="3600" dirty="0">
                <a:solidFill>
                  <a:srgbClr val="0A0A0A"/>
                </a:solidFill>
                <a:latin typeface="Calibri Light" pitchFamily="34" charset="0"/>
                <a:ea typeface="Calibri Light" pitchFamily="34" charset="-122"/>
                <a:cs typeface="Calibri Light" pitchFamily="34" charset="-120"/>
              </a:rPr>
              <a:t>How to use this template.</a:t>
            </a:r>
            <a:endParaRPr lang="en-US" sz="3600" dirty="0"/>
          </a:p>
        </p:txBody>
      </p:sp>
      <p:sp>
        <p:nvSpPr>
          <p:cNvPr id="4" name="Text 4"/>
          <p:cNvSpPr>
            <a:spLocks noGrp="1"/>
          </p:cNvSpPr>
          <p:nvPr>
            <p:ph type="body" idx="107"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Outline mode (Tab / Shift+Tab indenting)</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Use Home → New Slide and pick a layout (CONTENT_LIGHT, CONTENT_DARK, SECTION_DIVIDER, BLANK_LIGHT, BLANK_DARK)</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Click into the body placeholder and type. Press Tab to demote, Shift+Tab to promote.</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Up to 4 indent levels are supported and styled correctly.</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Reusing visual patterns from this deck</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Right-click any slide → Duplicate Slide. This preserves all custom layout work (TOC, metric grid, MOND brand page, the Ask, etc.) — just edit the text inside.</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MOND symbol PNGs are embedded on slides 5 and 6 — copy from there to reuse elsewhere.</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Brand colours</a:t>
            </a:r>
            <a:endParaRPr lang="en-US" sz="1600" dirty="0"/>
          </a:p>
          <a:p>
            <a:pPr marL="685800" lvl="1"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Paper #F6F2E9 · Ink #0A0A0A · Letter #F0EDE6 · Accent (copper) #C58A4D</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F2B2D-BB09-76CE-C212-2A653A4FBE17}"/>
            </a:ext>
          </a:extLst>
        </p:cNvPr>
        <p:cNvGrpSpPr/>
        <p:nvPr/>
      </p:nvGrpSpPr>
      <p:grpSpPr>
        <a:xfrm>
          <a:off x="0" y="0"/>
          <a:ext cx="0" cy="0"/>
          <a:chOff x="0" y="0"/>
          <a:chExt cx="0" cy="0"/>
        </a:xfrm>
      </p:grpSpPr>
      <p:sp>
        <p:nvSpPr>
          <p:cNvPr id="2" name="Text 4">
            <a:extLst>
              <a:ext uri="{FF2B5EF4-FFF2-40B4-BE49-F238E27FC236}">
                <a16:creationId xmlns:a16="http://schemas.microsoft.com/office/drawing/2014/main" id="{BA6BDDBB-A8CE-C60A-A591-36AD76502C3F}"/>
              </a:ext>
            </a:extLst>
          </p:cNvPr>
          <p:cNvSpPr>
            <a:spLocks noGrp="1"/>
          </p:cNvSpPr>
          <p:nvPr>
            <p:ph type="body" idx="105" hasCustomPrompt="1"/>
          </p:nvPr>
        </p:nvSpPr>
        <p:spPr>
          <a:xfrm>
            <a:off x="548640" y="1417320"/>
            <a:ext cx="11091672" cy="365760"/>
          </a:xfrm>
          <a:prstGeom prst="rect">
            <a:avLst/>
          </a:prstGeom>
          <a:noFill/>
          <a:ln/>
        </p:spPr>
        <p:txBody>
          <a:bodyPr wrap="square" lIns="0" tIns="0" rIns="0" bIns="0" rtlCol="0"/>
          <a:lstStyle/>
          <a:p>
            <a:pPr marL="0" indent="0">
              <a:buNone/>
            </a:pPr>
            <a:r>
              <a:rPr lang="en-US" sz="1000" kern="0" spc="300" dirty="0">
                <a:solidFill>
                  <a:srgbClr val="7A7568"/>
                </a:solidFill>
                <a:latin typeface="Consolas" pitchFamily="34" charset="0"/>
                <a:ea typeface="Consolas" pitchFamily="34" charset="-122"/>
                <a:cs typeface="Consolas" pitchFamily="34" charset="-120"/>
              </a:rPr>
              <a:t>CONTENTS</a:t>
            </a:r>
            <a:endParaRPr lang="en-US" sz="1000" dirty="0"/>
          </a:p>
        </p:txBody>
      </p:sp>
      <p:sp>
        <p:nvSpPr>
          <p:cNvPr id="4" name="Text 2">
            <a:extLst>
              <a:ext uri="{FF2B5EF4-FFF2-40B4-BE49-F238E27FC236}">
                <a16:creationId xmlns:a16="http://schemas.microsoft.com/office/drawing/2014/main" id="{86A362C4-741C-E3B0-B44E-CF8CFF02385D}"/>
              </a:ext>
            </a:extLst>
          </p:cNvPr>
          <p:cNvSpPr/>
          <p:nvPr/>
        </p:nvSpPr>
        <p:spPr>
          <a:xfrm>
            <a:off x="548640" y="306324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01</a:t>
            </a:r>
            <a:endParaRPr lang="en-US" sz="1200" dirty="0"/>
          </a:p>
        </p:txBody>
      </p:sp>
      <p:sp>
        <p:nvSpPr>
          <p:cNvPr id="5" name="Text 3">
            <a:extLst>
              <a:ext uri="{FF2B5EF4-FFF2-40B4-BE49-F238E27FC236}">
                <a16:creationId xmlns:a16="http://schemas.microsoft.com/office/drawing/2014/main" id="{BE958AAC-5CEA-C4C3-7102-F168ED280A1B}"/>
              </a:ext>
            </a:extLst>
          </p:cNvPr>
          <p:cNvSpPr/>
          <p:nvPr/>
        </p:nvSpPr>
        <p:spPr>
          <a:xfrm>
            <a:off x="1280160" y="306324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Great Collision</a:t>
            </a:r>
            <a:endParaRPr lang="en-US" sz="1800" dirty="0"/>
          </a:p>
        </p:txBody>
      </p:sp>
      <p:sp>
        <p:nvSpPr>
          <p:cNvPr id="6" name="Text 4">
            <a:extLst>
              <a:ext uri="{FF2B5EF4-FFF2-40B4-BE49-F238E27FC236}">
                <a16:creationId xmlns:a16="http://schemas.microsoft.com/office/drawing/2014/main" id="{44A6AB47-6525-FE24-20A7-9B17B6FA70D5}"/>
              </a:ext>
            </a:extLst>
          </p:cNvPr>
          <p:cNvSpPr/>
          <p:nvPr/>
        </p:nvSpPr>
        <p:spPr>
          <a:xfrm>
            <a:off x="6217920" y="306324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Why the next 24 months break the legacy system</a:t>
            </a:r>
            <a:endParaRPr lang="en-US" sz="1300" dirty="0"/>
          </a:p>
        </p:txBody>
      </p:sp>
      <p:sp>
        <p:nvSpPr>
          <p:cNvPr id="7" name="Text 5">
            <a:extLst>
              <a:ext uri="{FF2B5EF4-FFF2-40B4-BE49-F238E27FC236}">
                <a16:creationId xmlns:a16="http://schemas.microsoft.com/office/drawing/2014/main" id="{9B353DBE-F6E0-8083-539A-5ED889C90F4D}"/>
              </a:ext>
            </a:extLst>
          </p:cNvPr>
          <p:cNvSpPr/>
          <p:nvPr/>
        </p:nvSpPr>
        <p:spPr>
          <a:xfrm>
            <a:off x="548640" y="365760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02</a:t>
            </a:r>
            <a:endParaRPr lang="en-US" sz="1200" dirty="0"/>
          </a:p>
        </p:txBody>
      </p:sp>
      <p:sp>
        <p:nvSpPr>
          <p:cNvPr id="8" name="Text 6">
            <a:extLst>
              <a:ext uri="{FF2B5EF4-FFF2-40B4-BE49-F238E27FC236}">
                <a16:creationId xmlns:a16="http://schemas.microsoft.com/office/drawing/2014/main" id="{8E2622F4-16B1-9166-F53A-E3CF3C306087}"/>
              </a:ext>
            </a:extLst>
          </p:cNvPr>
          <p:cNvSpPr/>
          <p:nvPr/>
        </p:nvSpPr>
        <p:spPr>
          <a:xfrm>
            <a:off x="1280160" y="365760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Axion Protocol</a:t>
            </a:r>
            <a:endParaRPr lang="en-US" sz="1800" dirty="0"/>
          </a:p>
        </p:txBody>
      </p:sp>
      <p:sp>
        <p:nvSpPr>
          <p:cNvPr id="9" name="Text 7">
            <a:extLst>
              <a:ext uri="{FF2B5EF4-FFF2-40B4-BE49-F238E27FC236}">
                <a16:creationId xmlns:a16="http://schemas.microsoft.com/office/drawing/2014/main" id="{F773EF85-8A2F-A0EB-A8F5-2DAD4652E26E}"/>
              </a:ext>
            </a:extLst>
          </p:cNvPr>
          <p:cNvSpPr/>
          <p:nvPr/>
        </p:nvSpPr>
        <p:spPr>
          <a:xfrm>
            <a:off x="6217920" y="365760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A parallel economic infrastructure</a:t>
            </a:r>
            <a:endParaRPr lang="en-US" sz="1300" dirty="0"/>
          </a:p>
        </p:txBody>
      </p:sp>
      <p:sp>
        <p:nvSpPr>
          <p:cNvPr id="10" name="Text 8">
            <a:extLst>
              <a:ext uri="{FF2B5EF4-FFF2-40B4-BE49-F238E27FC236}">
                <a16:creationId xmlns:a16="http://schemas.microsoft.com/office/drawing/2014/main" id="{34536FB2-BD61-400F-634C-D281A2D05E83}"/>
              </a:ext>
            </a:extLst>
          </p:cNvPr>
          <p:cNvSpPr/>
          <p:nvPr/>
        </p:nvSpPr>
        <p:spPr>
          <a:xfrm>
            <a:off x="548640" y="425196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03</a:t>
            </a:r>
            <a:endParaRPr lang="en-US" sz="1200" dirty="0"/>
          </a:p>
        </p:txBody>
      </p:sp>
      <p:sp>
        <p:nvSpPr>
          <p:cNvPr id="11" name="Text 9">
            <a:extLst>
              <a:ext uri="{FF2B5EF4-FFF2-40B4-BE49-F238E27FC236}">
                <a16:creationId xmlns:a16="http://schemas.microsoft.com/office/drawing/2014/main" id="{C06B5646-4267-F854-84CA-3A54C41BCCDC}"/>
              </a:ext>
            </a:extLst>
          </p:cNvPr>
          <p:cNvSpPr/>
          <p:nvPr/>
        </p:nvSpPr>
        <p:spPr>
          <a:xfrm>
            <a:off x="1280160" y="425196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MOND, the unit of account</a:t>
            </a:r>
            <a:endParaRPr lang="en-US" sz="1800" dirty="0"/>
          </a:p>
        </p:txBody>
      </p:sp>
      <p:sp>
        <p:nvSpPr>
          <p:cNvPr id="12" name="Text 10">
            <a:extLst>
              <a:ext uri="{FF2B5EF4-FFF2-40B4-BE49-F238E27FC236}">
                <a16:creationId xmlns:a16="http://schemas.microsoft.com/office/drawing/2014/main" id="{81CDE659-8445-95D2-4212-97389A14DE75}"/>
              </a:ext>
            </a:extLst>
          </p:cNvPr>
          <p:cNvSpPr/>
          <p:nvPr/>
        </p:nvSpPr>
        <p:spPr>
          <a:xfrm>
            <a:off x="6217920" y="425196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How dividends replace wages</a:t>
            </a:r>
            <a:endParaRPr lang="en-US" sz="1300" dirty="0"/>
          </a:p>
        </p:txBody>
      </p:sp>
      <p:sp>
        <p:nvSpPr>
          <p:cNvPr id="13" name="Text 11">
            <a:extLst>
              <a:ext uri="{FF2B5EF4-FFF2-40B4-BE49-F238E27FC236}">
                <a16:creationId xmlns:a16="http://schemas.microsoft.com/office/drawing/2014/main" id="{F226B686-DCD3-01DC-4CDC-B8D085C224E0}"/>
              </a:ext>
            </a:extLst>
          </p:cNvPr>
          <p:cNvSpPr/>
          <p:nvPr/>
        </p:nvSpPr>
        <p:spPr>
          <a:xfrm>
            <a:off x="548640" y="484632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04</a:t>
            </a:r>
            <a:endParaRPr lang="en-US" sz="1200" dirty="0"/>
          </a:p>
        </p:txBody>
      </p:sp>
      <p:sp>
        <p:nvSpPr>
          <p:cNvPr id="14" name="Text 12">
            <a:extLst>
              <a:ext uri="{FF2B5EF4-FFF2-40B4-BE49-F238E27FC236}">
                <a16:creationId xmlns:a16="http://schemas.microsoft.com/office/drawing/2014/main" id="{E39B4BC2-3C4D-1CC4-E7EC-699EC2C737D6}"/>
              </a:ext>
            </a:extLst>
          </p:cNvPr>
          <p:cNvSpPr/>
          <p:nvPr/>
        </p:nvSpPr>
        <p:spPr>
          <a:xfrm>
            <a:off x="1280160" y="484632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Earth Colony Model</a:t>
            </a:r>
            <a:endParaRPr lang="en-US" sz="1800" dirty="0"/>
          </a:p>
        </p:txBody>
      </p:sp>
      <p:sp>
        <p:nvSpPr>
          <p:cNvPr id="15" name="Text 13">
            <a:extLst>
              <a:ext uri="{FF2B5EF4-FFF2-40B4-BE49-F238E27FC236}">
                <a16:creationId xmlns:a16="http://schemas.microsoft.com/office/drawing/2014/main" id="{48773F96-5AE4-B2E2-CD8F-F984E579A1FC}"/>
              </a:ext>
            </a:extLst>
          </p:cNvPr>
          <p:cNvSpPr/>
          <p:nvPr/>
        </p:nvSpPr>
        <p:spPr>
          <a:xfrm>
            <a:off x="6217920" y="484632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From design to deployment</a:t>
            </a:r>
            <a:endParaRPr lang="en-US" sz="1300" dirty="0"/>
          </a:p>
        </p:txBody>
      </p:sp>
      <p:sp>
        <p:nvSpPr>
          <p:cNvPr id="16" name="Text 14">
            <a:extLst>
              <a:ext uri="{FF2B5EF4-FFF2-40B4-BE49-F238E27FC236}">
                <a16:creationId xmlns:a16="http://schemas.microsoft.com/office/drawing/2014/main" id="{EDA1AA20-E0D8-5792-F63C-1DDA93E1FF49}"/>
              </a:ext>
            </a:extLst>
          </p:cNvPr>
          <p:cNvSpPr/>
          <p:nvPr/>
        </p:nvSpPr>
        <p:spPr>
          <a:xfrm>
            <a:off x="548640" y="544068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05</a:t>
            </a:r>
            <a:endParaRPr lang="en-US" sz="1200" dirty="0"/>
          </a:p>
        </p:txBody>
      </p:sp>
      <p:sp>
        <p:nvSpPr>
          <p:cNvPr id="17" name="Text 15">
            <a:extLst>
              <a:ext uri="{FF2B5EF4-FFF2-40B4-BE49-F238E27FC236}">
                <a16:creationId xmlns:a16="http://schemas.microsoft.com/office/drawing/2014/main" id="{E64E5B76-A395-8FB5-5585-5C215B0B6DC7}"/>
              </a:ext>
            </a:extLst>
          </p:cNvPr>
          <p:cNvSpPr/>
          <p:nvPr/>
        </p:nvSpPr>
        <p:spPr>
          <a:xfrm>
            <a:off x="1280160" y="544068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Roadmap &amp; ask</a:t>
            </a:r>
            <a:endParaRPr lang="en-US" sz="1800" dirty="0"/>
          </a:p>
        </p:txBody>
      </p:sp>
      <p:sp>
        <p:nvSpPr>
          <p:cNvPr id="18" name="Text 16">
            <a:extLst>
              <a:ext uri="{FF2B5EF4-FFF2-40B4-BE49-F238E27FC236}">
                <a16:creationId xmlns:a16="http://schemas.microsoft.com/office/drawing/2014/main" id="{A64D78A3-B595-11AA-CAB4-7D8BE5328B14}"/>
              </a:ext>
            </a:extLst>
          </p:cNvPr>
          <p:cNvSpPr/>
          <p:nvPr/>
        </p:nvSpPr>
        <p:spPr>
          <a:xfrm>
            <a:off x="6217920" y="544068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What we need to make it real</a:t>
            </a:r>
            <a:endParaRPr lang="en-US" sz="1300" dirty="0"/>
          </a:p>
        </p:txBody>
      </p:sp>
      <p:sp>
        <p:nvSpPr>
          <p:cNvPr id="19" name="Text 4">
            <a:extLst>
              <a:ext uri="{FF2B5EF4-FFF2-40B4-BE49-F238E27FC236}">
                <a16:creationId xmlns:a16="http://schemas.microsoft.com/office/drawing/2014/main" id="{2DF7AC7F-231A-B09C-6580-B5EBB895C20E}"/>
              </a:ext>
            </a:extLst>
          </p:cNvPr>
          <p:cNvSpPr>
            <a:spLocks noGrp="1"/>
          </p:cNvSpPr>
          <p:nvPr>
            <p:ph type="body" idx="107" hasCustomPrompt="1"/>
          </p:nvPr>
        </p:nvSpPr>
        <p:spPr>
          <a:xfrm>
            <a:off x="579120" y="1897847"/>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a:p>
            <a:pPr marL="342900" indent="-342900">
              <a:spcAft>
                <a:spcPts val="800"/>
              </a:spcAft>
              <a:buSzPct val="100000"/>
              <a:buChar char="■"/>
            </a:pPr>
            <a:endParaRPr lang="en-US" dirty="0"/>
          </a:p>
        </p:txBody>
      </p:sp>
      <p:sp>
        <p:nvSpPr>
          <p:cNvPr id="25" name="Slide Number Placeholder 0">
            <a:extLst>
              <a:ext uri="{FF2B5EF4-FFF2-40B4-BE49-F238E27FC236}">
                <a16:creationId xmlns:a16="http://schemas.microsoft.com/office/drawing/2014/main" id="{1BBBA3D7-49A4-AD2E-4D18-9E0FC4442E4F}"/>
              </a:ext>
            </a:extLst>
          </p:cNvPr>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lang="en-US" b="0"/>
              <a:t>22</a:t>
            </a:fld>
            <a:endParaRPr lang="en-US"/>
          </a:p>
        </p:txBody>
      </p:sp>
    </p:spTree>
    <p:extLst>
      <p:ext uri="{BB962C8B-B14F-4D97-AF65-F5344CB8AC3E}">
        <p14:creationId xmlns:p14="http://schemas.microsoft.com/office/powerpoint/2010/main" val="2261596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TotalTime>
  <Words>923</Words>
  <Application>Microsoft Office PowerPoint</Application>
  <PresentationFormat>Widescreen</PresentationFormat>
  <Paragraphs>179</Paragraphs>
  <Slides>22</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Consolas</vt:lpstr>
      <vt:lpstr>Office Theme</vt:lpstr>
      <vt:lpstr>PowerPoint Presentation</vt:lpstr>
      <vt:lpstr>PowerPoint Presentation</vt:lpstr>
      <vt:lpstr>Scarcity and Abundance</vt:lpstr>
      <vt:lpstr>PowerPoint Presentation</vt:lpstr>
      <vt:lpstr>AI  &amp; Robotics Employment Impact</vt:lpstr>
      <vt:lpstr>Navigating the Transition</vt:lpstr>
      <vt:lpstr>Taxation anti-virtuous cycle</vt:lpstr>
      <vt:lpstr>Deflation impact on different sectors</vt:lpstr>
      <vt:lpstr>Traditional UBI Characteristics</vt:lpstr>
      <vt:lpstr>The economy doesn't adapt. It jumps.</vt:lpstr>
      <vt:lpstr>Two crises arriving at the same time.</vt:lpstr>
      <vt:lpstr>PowerPoint Presentation</vt:lpstr>
      <vt:lpstr>Live, on Base.</vt:lpstr>
      <vt:lpstr>PowerPoint Presentation</vt:lpstr>
      <vt:lpstr>A closed-loop economic infrastructure.</vt:lpstr>
      <vt:lpstr>PowerPoint Presentation</vt:lpstr>
      <vt:lpstr>How the colony economy works.</vt:lpstr>
      <vt:lpstr>MOND supply, 10-year horizon.</vt:lpstr>
      <vt:lpstr>PowerPoint Presentation</vt:lpstr>
      <vt:lpstr>PowerPoint Presentation</vt:lpstr>
      <vt:lpstr>How to use this template.</vt:lpstr>
      <vt:lpstr>PowerPoint Presentation</vt:lpstr>
    </vt:vector>
  </TitlesOfParts>
  <Company>Axion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AXION Presentation Template v3</dc:title>
  <dc:subject>PptxGenJS Presentation</dc:subject>
  <dc:creator>Axion Inc.</dc:creator>
  <cp:lastModifiedBy>Steve Tillotson</cp:lastModifiedBy>
  <cp:revision>1</cp:revision>
  <dcterms:created xsi:type="dcterms:W3CDTF">2026-05-20T08:43:53Z</dcterms:created>
  <dcterms:modified xsi:type="dcterms:W3CDTF">2026-05-20T15:32:43Z</dcterms:modified>
</cp:coreProperties>
</file>