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MOND Supply (thousands)</c:v>
                </c:pt>
              </c:strCache>
            </c:strRef>
          </c:tx>
          <c:spPr>
            <a:solidFill>
              <a:srgbClr val="C58A4D"/>
            </a:solidFill>
            <a:ln w="38100" cap="flat">
              <a:solidFill>
                <a:srgbClr val="C58A4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58A4D"/>
              </a:solidFill>
              <a:ln w="9525" cap="flat">
                <a:solidFill>
                  <a:srgbClr val="C58A4D"/>
                </a:solidFill>
                <a:prstDash val="solid"/>
                <a:round/>
              </a:ln>
              <a:effectLst/>
            </c:spPr>
          </c:marker>
          <c:cat>
            <c:multiLvlStrRef>
              <c:f>Sheet1!$A$2:$A$11</c:f>
              <c:multiLvlStrCache>
                <c:ptCount val="10"/>
                <c:lvl>
                  <c:pt idx="0">
                    <c:v>Y1</c:v>
                  </c:pt>
                  <c:pt idx="1">
                    <c:v>Y2</c:v>
                  </c:pt>
                  <c:pt idx="2">
                    <c:v>Y3</c:v>
                  </c:pt>
                  <c:pt idx="3">
                    <c:v>Y4</c:v>
                  </c:pt>
                  <c:pt idx="4">
                    <c:v>Y5</c:v>
                  </c:pt>
                  <c:pt idx="5">
                    <c:v>Y6</c:v>
                  </c:pt>
                  <c:pt idx="6">
                    <c:v>Y7</c:v>
                  </c:pt>
                  <c:pt idx="7">
                    <c:v>Y8</c:v>
                  </c:pt>
                  <c:pt idx="8">
                    <c:v>Y9</c:v>
                  </c:pt>
                  <c:pt idx="9">
                    <c:v>Y10</c:v>
                  </c:pt>
                </c:lvl>
              </c:multiLvlStrCache>
            </c:multiLvlStrRef>
          </c:cat>
          <c:val>
            <c:numRef>
              <c:f>Sheet1!$B$2:$B$11</c:f>
              <c:numCache>
                <c:formatCode>General</c:formatCode>
                <c:ptCount val="10"/>
                <c:pt idx="0">
                  <c:v>120</c:v>
                </c:pt>
                <c:pt idx="1">
                  <c:v>285</c:v>
                </c:pt>
                <c:pt idx="2">
                  <c:v>540</c:v>
                </c:pt>
                <c:pt idx="3">
                  <c:v>892</c:v>
                </c:pt>
                <c:pt idx="4">
                  <c:v>1320</c:v>
                </c:pt>
                <c:pt idx="5">
                  <c:v>1825</c:v>
                </c:pt>
                <c:pt idx="6">
                  <c:v>2410</c:v>
                </c:pt>
                <c:pt idx="7">
                  <c:v>3080</c:v>
                </c:pt>
                <c:pt idx="8">
                  <c:v>3855</c:v>
                </c:pt>
                <c:pt idx="9">
                  <c:v>4720</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7A7568"/>
                </a:solidFill>
                <a:latin typeface="Consolas"/>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DE7D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A7568"/>
                </a:solidFill>
                <a:latin typeface="Consolas"/>
              </a:defRPr>
            </a:pPr>
            <a:endParaRPr lang="en-US"/>
          </a:p>
        </c:txPr>
        <c:crossAx val="2094734554"/>
        <c:crosses val="autoZero"/>
        <c:crossBetween val="between"/>
      </c:valAx>
      <c:spPr>
        <a:solidFill>
          <a:srgbClr val="F6F2E9"/>
        </a:solidFill>
        <a:ln>
          <a:noFill/>
        </a:ln>
        <a:effectLst/>
      </c:spPr>
    </c:plotArea>
    <c:plotVisOnly val="1"/>
    <c:dispBlanksAs val="span"/>
  </c:chart>
  <c:spPr>
    <a:solidFill>
      <a:srgbClr val="F6F2E9"/>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_LIGHT">
    <p:bg>
      <p:bgPr>
        <a:solidFill>
          <a:srgbClr val="F6F2E9"/>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57200"/>
            <a:ext cx="1188720" cy="393192"/>
          </a:xfrm>
          <a:prstGeom prst="rect">
            <a:avLst/>
          </a:prstGeom>
        </p:spPr>
      </p:pic>
      <p:sp>
        <p:nvSpPr>
          <p:cNvPr id="3" name="Shape 0"/>
          <p:cNvSpPr/>
          <p:nvPr/>
        </p:nvSpPr>
        <p:spPr>
          <a:xfrm>
            <a:off x="548640" y="1051560"/>
            <a:ext cx="11091672" cy="0"/>
          </a:xfrm>
          <a:prstGeom prst="line">
            <a:avLst/>
          </a:prstGeom>
          <a:noFill/>
          <a:ln w="6350">
            <a:solidFill>
              <a:srgbClr val="EDE7D8"/>
            </a:solidFill>
            <a:prstDash val="solid"/>
          </a:ln>
        </p:spPr>
      </p:sp>
      <p:sp>
        <p:nvSpPr>
          <p:cNvPr id="4" name="Shape 1"/>
          <p:cNvSpPr/>
          <p:nvPr/>
        </p:nvSpPr>
        <p:spPr>
          <a:xfrm>
            <a:off x="548640" y="6446520"/>
            <a:ext cx="11091672" cy="0"/>
          </a:xfrm>
          <a:prstGeom prst="line">
            <a:avLst/>
          </a:prstGeom>
          <a:noFill/>
          <a:ln w="6350">
            <a:solidFill>
              <a:srgbClr val="EDE7D8"/>
            </a:solidFill>
            <a:prstDash val="solid"/>
          </a:ln>
        </p:spPr>
      </p:sp>
      <p:sp>
        <p:nvSpPr>
          <p:cNvPr id="5" name="Text 2"/>
          <p:cNvSpPr/>
          <p:nvPr/>
        </p:nvSpPr>
        <p:spPr>
          <a:xfrm>
            <a:off x="548640" y="6537960"/>
            <a:ext cx="2743200" cy="228600"/>
          </a:xfrm>
          <a:prstGeom prst="rect">
            <a:avLst/>
          </a:prstGeom>
          <a:noFill/>
          <a:ln/>
        </p:spPr>
        <p:txBody>
          <a:bodyPr wrap="square" lIns="0" tIns="0" rIns="0" bIns="0" rtlCol="0" anchor="ctr"/>
          <a:lstStyle/>
          <a:p>
            <a:pPr indent="0" marL="0">
              <a:buNone/>
            </a:pPr>
            <a:r>
              <a:rPr lang="en-US" sz="800" spc="400" kern="0" dirty="0">
                <a:solidFill>
                  <a:srgbClr val="7A7568"/>
                </a:solidFill>
                <a:latin typeface="Consolas" pitchFamily="34" charset="0"/>
                <a:ea typeface="Consolas" pitchFamily="34" charset="-122"/>
                <a:cs typeface="Consolas" pitchFamily="34" charset="-120"/>
              </a:rPr>
              <a:t>AXION INC.</a:t>
            </a:r>
            <a:endParaRPr lang="en-US" sz="800" dirty="0"/>
          </a:p>
        </p:txBody>
      </p:sp>
      <p:sp>
        <p:nvSpPr>
          <p:cNvPr id="6" name="Text 3"/>
          <p:cNvSpPr/>
          <p:nvPr/>
        </p:nvSpPr>
        <p:spPr>
          <a:xfrm>
            <a:off x="3474720" y="6537960"/>
            <a:ext cx="5239512" cy="228600"/>
          </a:xfrm>
          <a:prstGeom prst="rect">
            <a:avLst/>
          </a:prstGeom>
          <a:noFill/>
          <a:ln/>
        </p:spPr>
        <p:txBody>
          <a:bodyPr wrap="square" lIns="0" tIns="0" rIns="0" bIns="0" rtlCol="0" anchor="ctr"/>
          <a:lstStyle/>
          <a:p>
            <a:pPr algn="ctr" indent="0" marL="0">
              <a:buNone/>
            </a:pPr>
            <a:r>
              <a:rPr lang="en-US" sz="800" spc="400" kern="0" dirty="0">
                <a:solidFill>
                  <a:srgbClr val="7A7568"/>
                </a:solidFill>
                <a:latin typeface="Consolas" pitchFamily="34" charset="0"/>
                <a:ea typeface="Consolas" pitchFamily="34" charset="-122"/>
                <a:cs typeface="Consolas" pitchFamily="34" charset="-120"/>
              </a:rPr>
              <a:t>THE GREAT COLLISION  ·  CONFIDENTIAL</a:t>
            </a:r>
            <a:endParaRPr lang="en-US" sz="800" dirty="0"/>
          </a:p>
        </p:txBody>
      </p:sp>
      <p:sp>
        <p:nvSpPr>
          <p:cNvPr id="7" name="Text 4"/>
          <p:cNvSpPr/>
          <p:nvPr>
            <p:ph idx="105" type="body" hasCustomPrompt="1"/>
          </p:nvPr>
        </p:nvSpPr>
        <p:spPr>
          <a:xfrm>
            <a:off x="548640" y="1417320"/>
            <a:ext cx="11091672" cy="365760"/>
          </a:xfrm>
          <a:prstGeom prst="rect">
            <a:avLst/>
          </a:prstGeom>
          <a:noFill/>
          <a:ln/>
        </p:spPr>
        <p:txBody>
          <a:bodyPr wrap="square" rtlCol="0"/>
          <a:lstStyle>
            <a:lvl1pPr indent="0" marL="0">
              <a:buNone/>
              <a:defRPr lang="en-US" sz="1000" spc="300" kern="0" dirty="0">
                <a:solidFill>
                  <a:srgbClr val="7A7568"/>
                </a:solidFill>
                <a:latin typeface="Consolas" pitchFamily="34" charset="0"/>
                <a:ea typeface="Consolas" pitchFamily="34" charset="-122"/>
                <a:cs typeface="Consolas" pitchFamily="34" charset="-120"/>
              </a:defRPr>
            </a:lvl1pPr>
          </a:lstStyle>
          <a:p>
            <a:pPr indent="0" marL="0">
              <a:buNone/>
            </a:pPr>
            <a:r>
              <a:rPr lang="en-US" sz="1000" spc="300" kern="0" dirty="0">
                <a:solidFill>
                  <a:srgbClr val="7A7568"/>
                </a:solidFill>
                <a:latin typeface="Consolas" pitchFamily="34" charset="0"/>
                <a:ea typeface="Consolas" pitchFamily="34" charset="-122"/>
                <a:cs typeface="Consolas" pitchFamily="34" charset="-120"/>
              </a:rPr>
              <a:t>EYEBROW</a:t>
            </a:r>
            <a:endParaRPr lang="en-US" sz="1000" dirty="0"/>
          </a:p>
        </p:txBody>
      </p:sp>
      <p:sp>
        <p:nvSpPr>
          <p:cNvPr id="8" name="Text 4"/>
          <p:cNvSpPr/>
          <p:nvPr>
            <p:ph idx="106" type="title" hasCustomPrompt="1"/>
          </p:nvPr>
        </p:nvSpPr>
        <p:spPr>
          <a:xfrm>
            <a:off x="548640" y="1783080"/>
            <a:ext cx="11091672" cy="914400"/>
          </a:xfrm>
          <a:prstGeom prst="rect">
            <a:avLst/>
          </a:prstGeom>
          <a:noFill/>
          <a:ln/>
        </p:spPr>
        <p:txBody>
          <a:bodyPr wrap="square" rtlCol="0"/>
          <a:lstStyle>
            <a:lvl1pPr algn="l" indent="0" marL="0">
              <a:buNone/>
              <a:defRPr lang="en-US" sz="3600" dirty="0">
                <a:solidFill>
                  <a:srgbClr val="0A0A0A"/>
                </a:solidFill>
                <a:latin typeface="Calibri Light" pitchFamily="34" charset="0"/>
                <a:ea typeface="Calibri Light" pitchFamily="34" charset="-122"/>
                <a:cs typeface="Calibri Light" pitchFamily="34" charset="-120"/>
              </a:defRPr>
            </a:lvl1pPr>
          </a:lstStyle>
          <a:p>
            <a:pPr algn="l" indent="0" marL="0">
              <a:buNone/>
            </a:pPr>
            <a:r>
              <a:rPr lang="en-US" sz="3600" dirty="0">
                <a:solidFill>
                  <a:srgbClr val="0A0A0A"/>
                </a:solidFill>
                <a:latin typeface="Calibri Light" pitchFamily="34" charset="0"/>
                <a:ea typeface="Calibri Light" pitchFamily="34" charset="-122"/>
                <a:cs typeface="Calibri Light" pitchFamily="34" charset="-120"/>
              </a:rPr>
              <a:t>Click to add title</a:t>
            </a:r>
            <a:endParaRPr lang="en-US" sz="3600" dirty="0"/>
          </a:p>
        </p:txBody>
      </p:sp>
      <p:sp>
        <p:nvSpPr>
          <p:cNvPr id="9" name="Text 4"/>
          <p:cNvSpPr/>
          <p:nvPr>
            <p:ph idx="107" type="body" hasCustomPrompt="1"/>
          </p:nvPr>
        </p:nvSpPr>
        <p:spPr>
          <a:xfrm>
            <a:off x="548640" y="2926080"/>
            <a:ext cx="11091672" cy="3291840"/>
          </a:xfrm>
          <a:prstGeom prst="rect">
            <a:avLst/>
          </a:prstGeom>
          <a:noFill/>
          <a:ln/>
        </p:spPr>
        <p:txBody>
          <a:bodyPr wrap="square" rtlCol="0"/>
          <a:lstStyle>
            <a:lvl1pPr marL="342900" indent="-342900">
              <a:spcAft>
                <a:spcPts val="800"/>
              </a:spcAft>
              <a:buSzPct val="100000"/>
              <a:buChar char="■"/>
              <a:defRPr lang="en-US" sz="1600" dirty="0">
                <a:solidFill>
                  <a:srgbClr val="0A0A0A"/>
                </a:solidFill>
                <a:latin typeface="Calibri" pitchFamily="34" charset="0"/>
                <a:ea typeface="Calibri" pitchFamily="34" charset="-122"/>
                <a:cs typeface="Calibri" pitchFamily="34" charset="-120"/>
              </a:defRPr>
            </a:lvl1pPr>
          </a:lstStyle>
          <a:p>
            <a:pPr marL="342900"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Click to add text</a:t>
            </a:r>
            <a:endParaRPr lang="en-US" sz="1600" dirty="0"/>
          </a:p>
        </p:txBody>
      </p:sp>
      <p:sp>
        <p:nvSpPr>
          <p:cNvPr id="25" name="Slide Number Placeholder 0"/>
          <p:cNvSpPr>
            <a:spLocks noGrp="1"/>
          </p:cNvSpPr>
          <p:nvPr>
            <p:ph type="sldNum" sz="quarter" idx="4294967295"/>
          </p:nvPr>
        </p:nvSpPr>
        <p:spPr>
          <a:xfrm>
            <a:off x="8897112" y="6537960"/>
            <a:ext cx="2743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A7568"/>
                </a:solidFill>
                <a:latin typeface="Consolas"/>
                <a:ea typeface="Consolas"/>
                <a:cs typeface="Consolas"/>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0A0A0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57200"/>
            <a:ext cx="1188720" cy="393192"/>
          </a:xfrm>
          <a:prstGeom prst="rect">
            <a:avLst/>
          </a:prstGeom>
        </p:spPr>
      </p:pic>
      <p:sp>
        <p:nvSpPr>
          <p:cNvPr id="3" name="Shape 0"/>
          <p:cNvSpPr/>
          <p:nvPr/>
        </p:nvSpPr>
        <p:spPr>
          <a:xfrm>
            <a:off x="548640" y="1051560"/>
            <a:ext cx="11091672" cy="0"/>
          </a:xfrm>
          <a:prstGeom prst="line">
            <a:avLst/>
          </a:prstGeom>
          <a:noFill/>
          <a:ln w="6350">
            <a:solidFill>
              <a:srgbClr val="2A2A2A"/>
            </a:solidFill>
            <a:prstDash val="solid"/>
          </a:ln>
        </p:spPr>
      </p:sp>
      <p:sp>
        <p:nvSpPr>
          <p:cNvPr id="4" name="Shape 1"/>
          <p:cNvSpPr/>
          <p:nvPr/>
        </p:nvSpPr>
        <p:spPr>
          <a:xfrm>
            <a:off x="548640" y="6446520"/>
            <a:ext cx="11091672" cy="0"/>
          </a:xfrm>
          <a:prstGeom prst="line">
            <a:avLst/>
          </a:prstGeom>
          <a:noFill/>
          <a:ln w="6350">
            <a:solidFill>
              <a:srgbClr val="2A2A2A"/>
            </a:solidFill>
            <a:prstDash val="solid"/>
          </a:ln>
        </p:spPr>
      </p:sp>
      <p:sp>
        <p:nvSpPr>
          <p:cNvPr id="5" name="Text 2"/>
          <p:cNvSpPr/>
          <p:nvPr/>
        </p:nvSpPr>
        <p:spPr>
          <a:xfrm>
            <a:off x="548640" y="6537960"/>
            <a:ext cx="2743200" cy="228600"/>
          </a:xfrm>
          <a:prstGeom prst="rect">
            <a:avLst/>
          </a:prstGeom>
          <a:noFill/>
          <a:ln/>
        </p:spPr>
        <p:txBody>
          <a:bodyPr wrap="square" lIns="0" tIns="0" rIns="0" bIns="0" rtlCol="0" anchor="ctr"/>
          <a:lstStyle/>
          <a:p>
            <a:pPr indent="0" marL="0">
              <a:buNone/>
            </a:pPr>
            <a:r>
              <a:rPr lang="en-US" sz="800" spc="400" kern="0" dirty="0">
                <a:solidFill>
                  <a:srgbClr val="9D998E"/>
                </a:solidFill>
                <a:latin typeface="Consolas" pitchFamily="34" charset="0"/>
                <a:ea typeface="Consolas" pitchFamily="34" charset="-122"/>
                <a:cs typeface="Consolas" pitchFamily="34" charset="-120"/>
              </a:rPr>
              <a:t>AXION INC.</a:t>
            </a:r>
            <a:endParaRPr lang="en-US" sz="800" dirty="0"/>
          </a:p>
        </p:txBody>
      </p:sp>
      <p:sp>
        <p:nvSpPr>
          <p:cNvPr id="6" name="Text 3"/>
          <p:cNvSpPr/>
          <p:nvPr/>
        </p:nvSpPr>
        <p:spPr>
          <a:xfrm>
            <a:off x="3474720" y="6537960"/>
            <a:ext cx="5239512" cy="228600"/>
          </a:xfrm>
          <a:prstGeom prst="rect">
            <a:avLst/>
          </a:prstGeom>
          <a:noFill/>
          <a:ln/>
        </p:spPr>
        <p:txBody>
          <a:bodyPr wrap="square" lIns="0" tIns="0" rIns="0" bIns="0" rtlCol="0" anchor="ctr"/>
          <a:lstStyle/>
          <a:p>
            <a:pPr algn="ctr" indent="0" marL="0">
              <a:buNone/>
            </a:pPr>
            <a:r>
              <a:rPr lang="en-US" sz="800" spc="400" kern="0" dirty="0">
                <a:solidFill>
                  <a:srgbClr val="9D998E"/>
                </a:solidFill>
                <a:latin typeface="Consolas" pitchFamily="34" charset="0"/>
                <a:ea typeface="Consolas" pitchFamily="34" charset="-122"/>
                <a:cs typeface="Consolas" pitchFamily="34" charset="-120"/>
              </a:rPr>
              <a:t>THE GREAT COLLISION  ·  CONFIDENTIAL</a:t>
            </a:r>
            <a:endParaRPr lang="en-US" sz="800" dirty="0"/>
          </a:p>
        </p:txBody>
      </p:sp>
      <p:sp>
        <p:nvSpPr>
          <p:cNvPr id="7" name="Text 4"/>
          <p:cNvSpPr/>
          <p:nvPr>
            <p:ph idx="105" type="body" hasCustomPrompt="1"/>
          </p:nvPr>
        </p:nvSpPr>
        <p:spPr>
          <a:xfrm>
            <a:off x="548640" y="1417320"/>
            <a:ext cx="11091672" cy="365760"/>
          </a:xfrm>
          <a:prstGeom prst="rect">
            <a:avLst/>
          </a:prstGeom>
          <a:noFill/>
          <a:ln/>
        </p:spPr>
        <p:txBody>
          <a:bodyPr wrap="square" rtlCol="0"/>
          <a:lstStyle>
            <a:lvl1pPr indent="0" marL="0">
              <a:buNone/>
              <a:defRPr lang="en-US" sz="1000" spc="300" kern="0" dirty="0">
                <a:solidFill>
                  <a:srgbClr val="9D998E"/>
                </a:solidFill>
                <a:latin typeface="Consolas" pitchFamily="34" charset="0"/>
                <a:ea typeface="Consolas" pitchFamily="34" charset="-122"/>
                <a:cs typeface="Consolas" pitchFamily="34" charset="-120"/>
              </a:defRPr>
            </a:lvl1pPr>
          </a:lstStyle>
          <a:p>
            <a:pPr indent="0" marL="0">
              <a:buNone/>
            </a:pPr>
            <a:r>
              <a:rPr lang="en-US" sz="1000" spc="300" kern="0" dirty="0">
                <a:solidFill>
                  <a:srgbClr val="9D998E"/>
                </a:solidFill>
                <a:latin typeface="Consolas" pitchFamily="34" charset="0"/>
                <a:ea typeface="Consolas" pitchFamily="34" charset="-122"/>
                <a:cs typeface="Consolas" pitchFamily="34" charset="-120"/>
              </a:rPr>
              <a:t>EYEBROW</a:t>
            </a:r>
            <a:endParaRPr lang="en-US" sz="1000" dirty="0"/>
          </a:p>
        </p:txBody>
      </p:sp>
      <p:sp>
        <p:nvSpPr>
          <p:cNvPr id="8" name="Text 4"/>
          <p:cNvSpPr/>
          <p:nvPr>
            <p:ph idx="106" type="title" hasCustomPrompt="1"/>
          </p:nvPr>
        </p:nvSpPr>
        <p:spPr>
          <a:xfrm>
            <a:off x="548640" y="1783080"/>
            <a:ext cx="11091672" cy="914400"/>
          </a:xfrm>
          <a:prstGeom prst="rect">
            <a:avLst/>
          </a:prstGeom>
          <a:noFill/>
          <a:ln/>
        </p:spPr>
        <p:txBody>
          <a:bodyPr wrap="square" rtlCol="0"/>
          <a:lstStyle>
            <a:lvl1pPr algn="l" indent="0" marL="0">
              <a:buNone/>
              <a:defRPr lang="en-US" sz="3600" dirty="0">
                <a:solidFill>
                  <a:srgbClr val="F0EDE6"/>
                </a:solidFill>
                <a:latin typeface="Calibri Light" pitchFamily="34" charset="0"/>
                <a:ea typeface="Calibri Light" pitchFamily="34" charset="-122"/>
                <a:cs typeface="Calibri Light" pitchFamily="34" charset="-120"/>
              </a:defRPr>
            </a:lvl1pPr>
          </a:lstStyle>
          <a:p>
            <a:pPr algn="l" indent="0" marL="0">
              <a:buNone/>
            </a:pPr>
            <a:r>
              <a:rPr lang="en-US" sz="3600" dirty="0">
                <a:solidFill>
                  <a:srgbClr val="F0EDE6"/>
                </a:solidFill>
                <a:latin typeface="Calibri Light" pitchFamily="34" charset="0"/>
                <a:ea typeface="Calibri Light" pitchFamily="34" charset="-122"/>
                <a:cs typeface="Calibri Light" pitchFamily="34" charset="-120"/>
              </a:rPr>
              <a:t>Click to add title</a:t>
            </a:r>
            <a:endParaRPr lang="en-US" sz="3600" dirty="0"/>
          </a:p>
        </p:txBody>
      </p:sp>
      <p:sp>
        <p:nvSpPr>
          <p:cNvPr id="9" name="Text 4"/>
          <p:cNvSpPr/>
          <p:nvPr>
            <p:ph idx="107" type="body" hasCustomPrompt="1"/>
          </p:nvPr>
        </p:nvSpPr>
        <p:spPr>
          <a:xfrm>
            <a:off x="548640" y="2926080"/>
            <a:ext cx="11091672" cy="3291840"/>
          </a:xfrm>
          <a:prstGeom prst="rect">
            <a:avLst/>
          </a:prstGeom>
          <a:noFill/>
          <a:ln/>
        </p:spPr>
        <p:txBody>
          <a:bodyPr wrap="square" rtlCol="0"/>
          <a:lstStyle>
            <a:lvl1pPr marL="342900" indent="-342900">
              <a:spcAft>
                <a:spcPts val="800"/>
              </a:spcAft>
              <a:buSzPct val="100000"/>
              <a:buChar char="■"/>
              <a:defRPr lang="en-US" sz="1600" dirty="0">
                <a:solidFill>
                  <a:srgbClr val="F0EDE6"/>
                </a:solidFill>
                <a:latin typeface="Calibri" pitchFamily="34" charset="0"/>
                <a:ea typeface="Calibri" pitchFamily="34" charset="-122"/>
                <a:cs typeface="Calibri" pitchFamily="34" charset="-120"/>
              </a:defRPr>
            </a:lvl1pPr>
          </a:lstStyle>
          <a:p>
            <a:pPr marL="342900" indent="-342900">
              <a:spcAft>
                <a:spcPts val="800"/>
              </a:spcAft>
              <a:buSzPct val="100000"/>
              <a:buChar char="■"/>
            </a:pPr>
            <a:r>
              <a:rPr lang="en-US" sz="1600" dirty="0">
                <a:solidFill>
                  <a:srgbClr val="F0EDE6"/>
                </a:solidFill>
                <a:latin typeface="Calibri" pitchFamily="34" charset="0"/>
                <a:ea typeface="Calibri" pitchFamily="34" charset="-122"/>
                <a:cs typeface="Calibri" pitchFamily="34" charset="-120"/>
              </a:rPr>
              <a:t>Click to add text</a:t>
            </a:r>
            <a:endParaRPr lang="en-US" sz="1600" dirty="0"/>
          </a:p>
        </p:txBody>
      </p:sp>
      <p:sp>
        <p:nvSpPr>
          <p:cNvPr id="25" name="Slide Number Placeholder 0"/>
          <p:cNvSpPr>
            <a:spLocks noGrp="1"/>
          </p:cNvSpPr>
          <p:nvPr>
            <p:ph type="sldNum" sz="quarter" idx="4294967295"/>
          </p:nvPr>
        </p:nvSpPr>
        <p:spPr>
          <a:xfrm>
            <a:off x="8897112" y="6537960"/>
            <a:ext cx="2743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9D998E"/>
                </a:solidFill>
                <a:latin typeface="Consolas"/>
                <a:ea typeface="Consolas"/>
                <a:cs typeface="Consolas"/>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_DARK">
    <p:bg>
      <p:bgPr>
        <a:solidFill>
          <a:srgbClr val="0A0A0A"/>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_LIGHT">
    <p:bg>
      <p:bgPr>
        <a:solidFill>
          <a:srgbClr val="F6F2E9"/>
        </a:solidFill>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_DIVIDER">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548640" y="6446520"/>
            <a:ext cx="11091672" cy="0"/>
          </a:xfrm>
          <a:prstGeom prst="line">
            <a:avLst/>
          </a:prstGeom>
          <a:noFill/>
          <a:ln w="6350">
            <a:solidFill>
              <a:srgbClr val="2A2A2A"/>
            </a:solidFill>
            <a:prstDash val="solid"/>
          </a:ln>
        </p:spPr>
      </p:sp>
      <p:sp>
        <p:nvSpPr>
          <p:cNvPr id="3" name="Text 1"/>
          <p:cNvSpPr/>
          <p:nvPr>
            <p:ph idx="101" type="body" hasCustomPrompt="1"/>
          </p:nvPr>
        </p:nvSpPr>
        <p:spPr>
          <a:xfrm>
            <a:off x="777240" y="914400"/>
            <a:ext cx="7315200" cy="365760"/>
          </a:xfrm>
          <a:prstGeom prst="rect">
            <a:avLst/>
          </a:prstGeom>
          <a:noFill/>
          <a:ln/>
        </p:spPr>
        <p:txBody>
          <a:bodyPr wrap="square" rtlCol="0"/>
          <a:lstStyle>
            <a:lvl1pPr indent="0" marL="0">
              <a:buNone/>
              <a:defRPr lang="en-US" sz="1100" spc="600" kern="0" dirty="0">
                <a:solidFill>
                  <a:srgbClr val="C58A4D"/>
                </a:solidFill>
                <a:latin typeface="Consolas" pitchFamily="34" charset="0"/>
                <a:ea typeface="Consolas" pitchFamily="34" charset="-122"/>
                <a:cs typeface="Consolas" pitchFamily="34" charset="-120"/>
              </a:defRPr>
            </a:lvl1pPr>
          </a:lstStyle>
          <a:p>
            <a:pPr indent="0" marL="0">
              <a:buNone/>
            </a:pPr>
            <a:r>
              <a:rPr lang="en-US" sz="1100" spc="600" kern="0" dirty="0">
                <a:solidFill>
                  <a:srgbClr val="C58A4D"/>
                </a:solidFill>
                <a:latin typeface="Consolas" pitchFamily="34" charset="0"/>
                <a:ea typeface="Consolas" pitchFamily="34" charset="-122"/>
                <a:cs typeface="Consolas" pitchFamily="34" charset="-120"/>
              </a:rPr>
              <a:t>ACT I</a:t>
            </a:r>
            <a:endParaRPr lang="en-US" sz="1100" dirty="0"/>
          </a:p>
        </p:txBody>
      </p:sp>
      <p:sp>
        <p:nvSpPr>
          <p:cNvPr id="4" name="Shape 1"/>
          <p:cNvSpPr/>
          <p:nvPr/>
        </p:nvSpPr>
        <p:spPr>
          <a:xfrm>
            <a:off x="777240" y="1371600"/>
            <a:ext cx="548640" cy="0"/>
          </a:xfrm>
          <a:prstGeom prst="line">
            <a:avLst/>
          </a:prstGeom>
          <a:noFill/>
          <a:ln w="12700">
            <a:solidFill>
              <a:srgbClr val="C58A4D"/>
            </a:solidFill>
            <a:prstDash val="solid"/>
          </a:ln>
        </p:spPr>
      </p:sp>
      <p:sp>
        <p:nvSpPr>
          <p:cNvPr id="5" name="Text 2"/>
          <p:cNvSpPr/>
          <p:nvPr>
            <p:ph idx="103" type="title" hasCustomPrompt="1"/>
          </p:nvPr>
        </p:nvSpPr>
        <p:spPr>
          <a:xfrm>
            <a:off x="777240" y="1828800"/>
            <a:ext cx="10515600" cy="3200400"/>
          </a:xfrm>
          <a:prstGeom prst="rect">
            <a:avLst/>
          </a:prstGeom>
          <a:noFill/>
          <a:ln/>
        </p:spPr>
        <p:txBody>
          <a:bodyPr wrap="square" rtlCol="0"/>
          <a:lstStyle>
            <a:lvl1pPr algn="l" indent="0" marL="0">
              <a:lnSpc>
                <a:spcPct val="105000"/>
              </a:lnSpc>
              <a:buNone/>
              <a:defRPr lang="en-US" sz="7200" dirty="0">
                <a:solidFill>
                  <a:srgbClr val="F0EDE6"/>
                </a:solidFill>
                <a:latin typeface="Calibri Light" pitchFamily="34" charset="0"/>
                <a:ea typeface="Calibri Light" pitchFamily="34" charset="-122"/>
                <a:cs typeface="Calibri Light" pitchFamily="34" charset="-120"/>
              </a:defRPr>
            </a:lvl1pPr>
          </a:lstStyle>
          <a:p>
            <a:pPr algn="l" indent="0" marL="0">
              <a:lnSpc>
                <a:spcPct val="105000"/>
              </a:lnSpc>
              <a:buNone/>
            </a:pPr>
            <a:r>
              <a:rPr lang="en-US" sz="7200" dirty="0">
                <a:solidFill>
                  <a:srgbClr val="F0EDE6"/>
                </a:solidFill>
                <a:latin typeface="Calibri Light" pitchFamily="34" charset="0"/>
                <a:ea typeface="Calibri Light" pitchFamily="34" charset="-122"/>
                <a:cs typeface="Calibri Light" pitchFamily="34" charset="-120"/>
              </a:rPr>
              <a:t>Section headline</a:t>
            </a:r>
            <a:endParaRPr lang="en-US" sz="7200" dirty="0"/>
          </a:p>
        </p:txBody>
      </p:sp>
      <p:sp>
        <p:nvSpPr>
          <p:cNvPr id="6" name="Text 2"/>
          <p:cNvSpPr/>
          <p:nvPr>
            <p:ph idx="104" type="body" hasCustomPrompt="1"/>
          </p:nvPr>
        </p:nvSpPr>
        <p:spPr>
          <a:xfrm>
            <a:off x="777240" y="5212080"/>
            <a:ext cx="8686800" cy="914400"/>
          </a:xfrm>
          <a:prstGeom prst="rect">
            <a:avLst/>
          </a:prstGeom>
          <a:noFill/>
          <a:ln/>
        </p:spPr>
        <p:txBody>
          <a:bodyPr wrap="square" rtlCol="0"/>
          <a:lstStyle>
            <a:lvl1pPr indent="0" marL="0">
              <a:buNone/>
              <a:defRPr lang="en-US" sz="1400" dirty="0">
                <a:solidFill>
                  <a:srgbClr val="F0EDE6"/>
                </a:solidFill>
                <a:latin typeface="Calibri" pitchFamily="34" charset="0"/>
                <a:ea typeface="Calibri" pitchFamily="34" charset="-122"/>
                <a:cs typeface="Calibri" pitchFamily="34" charset="-120"/>
              </a:defRPr>
            </a:lvl1pPr>
          </a:lstStyle>
          <a:p>
            <a:pPr indent="0" marL="0">
              <a:buNone/>
            </a:pPr>
            <a:r>
              <a:rPr lang="en-US" sz="1400" dirty="0">
                <a:solidFill>
                  <a:srgbClr val="F0EDE6"/>
                </a:solidFill>
                <a:latin typeface="Calibri" pitchFamily="34" charset="0"/>
                <a:ea typeface="Calibri" pitchFamily="34" charset="-122"/>
                <a:cs typeface="Calibri" pitchFamily="34" charset="-120"/>
              </a:rPr>
              <a:t>Optional section lede</a:t>
            </a:r>
            <a:endParaRPr lang="en-US" sz="1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897112" y="6537960"/>
            <a:ext cx="2743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A7568"/>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7240" y="2011680"/>
            <a:ext cx="4114800" cy="1371600"/>
          </a:xfrm>
          <a:prstGeom prst="rect">
            <a:avLst/>
          </a:prstGeom>
        </p:spPr>
      </p:pic>
      <p:sp>
        <p:nvSpPr>
          <p:cNvPr id="3" name="Shape 0"/>
          <p:cNvSpPr/>
          <p:nvPr/>
        </p:nvSpPr>
        <p:spPr>
          <a:xfrm>
            <a:off x="5212080" y="2103120"/>
            <a:ext cx="0" cy="1188720"/>
          </a:xfrm>
          <a:prstGeom prst="line">
            <a:avLst/>
          </a:prstGeom>
          <a:noFill/>
          <a:ln w="15875">
            <a:solidFill>
              <a:srgbClr val="C58A4D"/>
            </a:solidFill>
            <a:prstDash val="solid"/>
          </a:ln>
        </p:spPr>
      </p:sp>
      <p:sp>
        <p:nvSpPr>
          <p:cNvPr id="4" name="Text 1"/>
          <p:cNvSpPr/>
          <p:nvPr/>
        </p:nvSpPr>
        <p:spPr>
          <a:xfrm>
            <a:off x="5486400" y="2103120"/>
            <a:ext cx="5943600" cy="548640"/>
          </a:xfrm>
          <a:prstGeom prst="rect">
            <a:avLst/>
          </a:prstGeom>
          <a:noFill/>
          <a:ln/>
        </p:spPr>
        <p:txBody>
          <a:bodyPr wrap="square" lIns="0" tIns="0" rIns="0" bIns="0" rtlCol="0" anchor="ctr"/>
          <a:lstStyle/>
          <a:p>
            <a:pPr indent="0" marL="0">
              <a:buNone/>
            </a:pPr>
            <a:r>
              <a:rPr lang="en-US" sz="2800" dirty="0">
                <a:solidFill>
                  <a:srgbClr val="F0EDE6"/>
                </a:solidFill>
                <a:latin typeface="Calibri Light" pitchFamily="34" charset="0"/>
                <a:ea typeface="Calibri Light" pitchFamily="34" charset="-122"/>
                <a:cs typeface="Calibri Light" pitchFamily="34" charset="-120"/>
              </a:rPr>
              <a:t>Presentation Title Goes Here</a:t>
            </a:r>
            <a:endParaRPr lang="en-US" sz="2800" dirty="0"/>
          </a:p>
        </p:txBody>
      </p:sp>
      <p:sp>
        <p:nvSpPr>
          <p:cNvPr id="5" name="Text 2"/>
          <p:cNvSpPr/>
          <p:nvPr/>
        </p:nvSpPr>
        <p:spPr>
          <a:xfrm>
            <a:off x="5486400" y="2697480"/>
            <a:ext cx="5943600" cy="365760"/>
          </a:xfrm>
          <a:prstGeom prst="rect">
            <a:avLst/>
          </a:prstGeom>
          <a:noFill/>
          <a:ln/>
        </p:spPr>
        <p:txBody>
          <a:bodyPr wrap="square" lIns="0" tIns="0" rIns="0" bIns="0" rtlCol="0" anchor="ctr"/>
          <a:lstStyle/>
          <a:p>
            <a:pPr indent="0" marL="0">
              <a:buNone/>
            </a:pPr>
            <a:r>
              <a:rPr lang="en-US" sz="1400" dirty="0">
                <a:solidFill>
                  <a:srgbClr val="F0EDE6">
                    <a:alpha val="65000"/>
                  </a:srgbClr>
                </a:solidFill>
                <a:latin typeface="Calibri" pitchFamily="34" charset="0"/>
                <a:ea typeface="Calibri" pitchFamily="34" charset="-122"/>
                <a:cs typeface="Calibri" pitchFamily="34" charset="-120"/>
              </a:rPr>
              <a:t>Optional subtitle, project name, or audience</a:t>
            </a:r>
            <a:endParaRPr lang="en-US" sz="1400" dirty="0"/>
          </a:p>
        </p:txBody>
      </p:sp>
      <p:sp>
        <p:nvSpPr>
          <p:cNvPr id="6" name="Text 3"/>
          <p:cNvSpPr/>
          <p:nvPr/>
        </p:nvSpPr>
        <p:spPr>
          <a:xfrm>
            <a:off x="5486400" y="3108960"/>
            <a:ext cx="6675120" cy="365760"/>
          </a:xfrm>
          <a:prstGeom prst="rect">
            <a:avLst/>
          </a:prstGeom>
          <a:noFill/>
          <a:ln/>
        </p:spPr>
        <p:txBody>
          <a:bodyPr wrap="square" lIns="0" tIns="0" rIns="0" bIns="0" rtlCol="0" anchor="ctr"/>
          <a:lstStyle/>
          <a:p>
            <a:pPr indent="0" marL="0">
              <a:buNone/>
            </a:pPr>
            <a:r>
              <a:rPr lang="en-US" sz="1000" spc="400" kern="0" dirty="0">
                <a:solidFill>
                  <a:srgbClr val="C58A4D"/>
                </a:solidFill>
                <a:latin typeface="Consolas" pitchFamily="34" charset="0"/>
                <a:ea typeface="Consolas" pitchFamily="34" charset="-122"/>
                <a:cs typeface="Consolas" pitchFamily="34" charset="-120"/>
              </a:rPr>
              <a:t>MAY 2026  ·  STEVE [SURNAME], FOUNDER</a:t>
            </a:r>
            <a:endParaRPr lang="en-US" sz="1000" dirty="0"/>
          </a:p>
        </p:txBody>
      </p:sp>
      <p:sp>
        <p:nvSpPr>
          <p:cNvPr id="7" name="Shape 4"/>
          <p:cNvSpPr/>
          <p:nvPr/>
        </p:nvSpPr>
        <p:spPr>
          <a:xfrm>
            <a:off x="548640" y="6446520"/>
            <a:ext cx="11091672" cy="0"/>
          </a:xfrm>
          <a:prstGeom prst="line">
            <a:avLst/>
          </a:prstGeom>
          <a:noFill/>
          <a:ln w="6350">
            <a:solidFill>
              <a:srgbClr val="2A2A2A"/>
            </a:solidFill>
            <a:prstDash val="solid"/>
          </a:ln>
        </p:spPr>
      </p:sp>
      <p:sp>
        <p:nvSpPr>
          <p:cNvPr id="8" name="Text 5"/>
          <p:cNvSpPr/>
          <p:nvPr/>
        </p:nvSpPr>
        <p:spPr>
          <a:xfrm>
            <a:off x="548640" y="6537960"/>
            <a:ext cx="11091672" cy="228600"/>
          </a:xfrm>
          <a:prstGeom prst="rect">
            <a:avLst/>
          </a:prstGeom>
          <a:noFill/>
          <a:ln/>
        </p:spPr>
        <p:txBody>
          <a:bodyPr wrap="square" lIns="0" tIns="0" rIns="0" bIns="0" rtlCol="0" anchor="ctr"/>
          <a:lstStyle/>
          <a:p>
            <a:pPr algn="ctr" indent="0" marL="0">
              <a:buNone/>
            </a:pPr>
            <a:r>
              <a:rPr lang="en-US" sz="900" spc="400" kern="0" dirty="0">
                <a:solidFill>
                  <a:srgbClr val="9D998E"/>
                </a:solidFill>
                <a:latin typeface="Consolas" pitchFamily="34" charset="0"/>
                <a:ea typeface="Consolas" pitchFamily="34" charset="-122"/>
                <a:cs typeface="Consolas" pitchFamily="34" charset="-120"/>
              </a:rPr>
              <a:t>CAPITALIST UBI.  NO TAX.  NO WELFARE.  EVERY CITIZEN A SHAREHOLDER.</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4"/>
          <p:cNvSpPr/>
          <p:nvPr>
            <p:ph idx="105" type="body" hasCustomPrompt="1"/>
          </p:nvPr>
        </p:nvSpPr>
        <p:spPr>
          <a:xfrm>
            <a:off x="548640" y="1417320"/>
            <a:ext cx="11091672" cy="365760"/>
          </a:xfrm>
          <a:prstGeom prst="rect">
            <a:avLst/>
          </a:prstGeom>
          <a:noFill/>
          <a:ln/>
        </p:spPr>
        <p:txBody>
          <a:bodyPr wrap="square" lIns="0" tIns="0" rIns="0" bIns="0" rtlCol="0"/>
          <a:lstStyle/>
          <a:p>
            <a:pPr indent="0" marL="0">
              <a:buNone/>
            </a:pPr>
            <a:r>
              <a:rPr lang="en-US" sz="1000" spc="300" kern="0" dirty="0">
                <a:solidFill>
                  <a:srgbClr val="7A7568"/>
                </a:solidFill>
                <a:latin typeface="Consolas" pitchFamily="34" charset="0"/>
                <a:ea typeface="Consolas" pitchFamily="34" charset="-122"/>
                <a:cs typeface="Consolas" pitchFamily="34" charset="-120"/>
              </a:rPr>
              <a:t>CONTENTS</a:t>
            </a:r>
            <a:endParaRPr lang="en-US" sz="1000" dirty="0"/>
          </a:p>
        </p:txBody>
      </p:sp>
      <p:sp>
        <p:nvSpPr>
          <p:cNvPr id="3" name="Text 4"/>
          <p:cNvSpPr/>
          <p:nvPr>
            <p:ph idx="106" type="title" hasCustomPrompt="1"/>
          </p:nvPr>
        </p:nvSpPr>
        <p:spPr>
          <a:xfrm>
            <a:off x="548640" y="1783080"/>
            <a:ext cx="11091672" cy="914400"/>
          </a:xfrm>
          <a:prstGeom prst="rect">
            <a:avLst/>
          </a:prstGeom>
          <a:noFill/>
          <a:ln/>
        </p:spPr>
        <p:txBody>
          <a:bodyPr wrap="square" lIns="0" tIns="0" rIns="0" bIns="0" rtlCol="0"/>
          <a:lstStyle/>
          <a:p>
            <a:pPr algn="l" indent="0" marL="0">
              <a:buNone/>
            </a:pPr>
            <a:r>
              <a:rPr lang="en-US" sz="3600" dirty="0">
                <a:solidFill>
                  <a:srgbClr val="0A0A0A"/>
                </a:solidFill>
                <a:latin typeface="Calibri Light" pitchFamily="34" charset="0"/>
                <a:ea typeface="Calibri Light" pitchFamily="34" charset="-122"/>
                <a:cs typeface="Calibri Light" pitchFamily="34" charset="-120"/>
              </a:rPr>
              <a:t>What we'll cover.</a:t>
            </a:r>
            <a:endParaRPr lang="en-US" sz="3600" dirty="0"/>
          </a:p>
        </p:txBody>
      </p:sp>
      <p:sp>
        <p:nvSpPr>
          <p:cNvPr id="4" name="Text 2"/>
          <p:cNvSpPr/>
          <p:nvPr/>
        </p:nvSpPr>
        <p:spPr>
          <a:xfrm>
            <a:off x="548640" y="3063240"/>
            <a:ext cx="548640" cy="457200"/>
          </a:xfrm>
          <a:prstGeom prst="rect">
            <a:avLst/>
          </a:prstGeom>
          <a:noFill/>
          <a:ln/>
        </p:spPr>
        <p:txBody>
          <a:bodyPr wrap="square" lIns="0" tIns="0" rIns="0" bIns="0" rtlCol="0" anchor="ctr"/>
          <a:lstStyle/>
          <a:p>
            <a:pPr indent="0" marL="0">
              <a:buNone/>
            </a:pPr>
            <a:r>
              <a:rPr lang="en-US" sz="1200" spc="400" kern="0" dirty="0">
                <a:solidFill>
                  <a:srgbClr val="C58A4D"/>
                </a:solidFill>
                <a:latin typeface="Consolas" pitchFamily="34" charset="0"/>
                <a:ea typeface="Consolas" pitchFamily="34" charset="-122"/>
                <a:cs typeface="Consolas" pitchFamily="34" charset="-120"/>
              </a:rPr>
              <a:t>01</a:t>
            </a:r>
            <a:endParaRPr lang="en-US" sz="1200" dirty="0"/>
          </a:p>
        </p:txBody>
      </p:sp>
      <p:sp>
        <p:nvSpPr>
          <p:cNvPr id="5" name="Text 3"/>
          <p:cNvSpPr/>
          <p:nvPr/>
        </p:nvSpPr>
        <p:spPr>
          <a:xfrm>
            <a:off x="1280160" y="3063240"/>
            <a:ext cx="4754880" cy="457200"/>
          </a:xfrm>
          <a:prstGeom prst="rect">
            <a:avLst/>
          </a:prstGeom>
          <a:noFill/>
          <a:ln/>
        </p:spPr>
        <p:txBody>
          <a:bodyPr wrap="square" lIns="0" tIns="0" rIns="0" bIns="0" rtlCol="0" anchor="ctr"/>
          <a:lstStyle/>
          <a:p>
            <a:pPr indent="0" marL="0">
              <a:buNone/>
            </a:pPr>
            <a:r>
              <a:rPr lang="en-US" sz="1800" dirty="0">
                <a:solidFill>
                  <a:srgbClr val="0A0A0A"/>
                </a:solidFill>
                <a:latin typeface="Calibri" pitchFamily="34" charset="0"/>
                <a:ea typeface="Calibri" pitchFamily="34" charset="-122"/>
                <a:cs typeface="Calibri" pitchFamily="34" charset="-120"/>
              </a:rPr>
              <a:t>The Great Collision</a:t>
            </a:r>
            <a:endParaRPr lang="en-US" sz="1800" dirty="0"/>
          </a:p>
        </p:txBody>
      </p:sp>
      <p:sp>
        <p:nvSpPr>
          <p:cNvPr id="6" name="Text 4"/>
          <p:cNvSpPr/>
          <p:nvPr/>
        </p:nvSpPr>
        <p:spPr>
          <a:xfrm>
            <a:off x="6217920" y="3063240"/>
            <a:ext cx="5394960" cy="457200"/>
          </a:xfrm>
          <a:prstGeom prst="rect">
            <a:avLst/>
          </a:prstGeom>
          <a:noFill/>
          <a:ln/>
        </p:spPr>
        <p:txBody>
          <a:bodyPr wrap="square" lIns="0" tIns="0" rIns="0" bIns="0" rtlCol="0" anchor="ctr"/>
          <a:lstStyle/>
          <a:p>
            <a:pPr indent="0" marL="0">
              <a:buNone/>
            </a:pPr>
            <a:r>
              <a:rPr lang="en-US" sz="1300" dirty="0">
                <a:solidFill>
                  <a:srgbClr val="7A7568"/>
                </a:solidFill>
                <a:latin typeface="Calibri" pitchFamily="34" charset="0"/>
                <a:ea typeface="Calibri" pitchFamily="34" charset="-122"/>
                <a:cs typeface="Calibri" pitchFamily="34" charset="-120"/>
              </a:rPr>
              <a:t>Why the next 24 months break the legacy system</a:t>
            </a:r>
            <a:endParaRPr lang="en-US" sz="1300" dirty="0"/>
          </a:p>
        </p:txBody>
      </p:sp>
      <p:sp>
        <p:nvSpPr>
          <p:cNvPr id="7" name="Text 5"/>
          <p:cNvSpPr/>
          <p:nvPr/>
        </p:nvSpPr>
        <p:spPr>
          <a:xfrm>
            <a:off x="548640" y="3657600"/>
            <a:ext cx="548640" cy="457200"/>
          </a:xfrm>
          <a:prstGeom prst="rect">
            <a:avLst/>
          </a:prstGeom>
          <a:noFill/>
          <a:ln/>
        </p:spPr>
        <p:txBody>
          <a:bodyPr wrap="square" lIns="0" tIns="0" rIns="0" bIns="0" rtlCol="0" anchor="ctr"/>
          <a:lstStyle/>
          <a:p>
            <a:pPr indent="0" marL="0">
              <a:buNone/>
            </a:pPr>
            <a:r>
              <a:rPr lang="en-US" sz="1200" spc="400" kern="0" dirty="0">
                <a:solidFill>
                  <a:srgbClr val="C58A4D"/>
                </a:solidFill>
                <a:latin typeface="Consolas" pitchFamily="34" charset="0"/>
                <a:ea typeface="Consolas" pitchFamily="34" charset="-122"/>
                <a:cs typeface="Consolas" pitchFamily="34" charset="-120"/>
              </a:rPr>
              <a:t>02</a:t>
            </a:r>
            <a:endParaRPr lang="en-US" sz="1200" dirty="0"/>
          </a:p>
        </p:txBody>
      </p:sp>
      <p:sp>
        <p:nvSpPr>
          <p:cNvPr id="8" name="Text 6"/>
          <p:cNvSpPr/>
          <p:nvPr/>
        </p:nvSpPr>
        <p:spPr>
          <a:xfrm>
            <a:off x="1280160" y="3657600"/>
            <a:ext cx="4754880" cy="457200"/>
          </a:xfrm>
          <a:prstGeom prst="rect">
            <a:avLst/>
          </a:prstGeom>
          <a:noFill/>
          <a:ln/>
        </p:spPr>
        <p:txBody>
          <a:bodyPr wrap="square" lIns="0" tIns="0" rIns="0" bIns="0" rtlCol="0" anchor="ctr"/>
          <a:lstStyle/>
          <a:p>
            <a:pPr indent="0" marL="0">
              <a:buNone/>
            </a:pPr>
            <a:r>
              <a:rPr lang="en-US" sz="1800" dirty="0">
                <a:solidFill>
                  <a:srgbClr val="0A0A0A"/>
                </a:solidFill>
                <a:latin typeface="Calibri" pitchFamily="34" charset="0"/>
                <a:ea typeface="Calibri" pitchFamily="34" charset="-122"/>
                <a:cs typeface="Calibri" pitchFamily="34" charset="-120"/>
              </a:rPr>
              <a:t>The Axion Protocol</a:t>
            </a:r>
            <a:endParaRPr lang="en-US" sz="1800" dirty="0"/>
          </a:p>
        </p:txBody>
      </p:sp>
      <p:sp>
        <p:nvSpPr>
          <p:cNvPr id="9" name="Text 7"/>
          <p:cNvSpPr/>
          <p:nvPr/>
        </p:nvSpPr>
        <p:spPr>
          <a:xfrm>
            <a:off x="6217920" y="3657600"/>
            <a:ext cx="5394960" cy="457200"/>
          </a:xfrm>
          <a:prstGeom prst="rect">
            <a:avLst/>
          </a:prstGeom>
          <a:noFill/>
          <a:ln/>
        </p:spPr>
        <p:txBody>
          <a:bodyPr wrap="square" lIns="0" tIns="0" rIns="0" bIns="0" rtlCol="0" anchor="ctr"/>
          <a:lstStyle/>
          <a:p>
            <a:pPr indent="0" marL="0">
              <a:buNone/>
            </a:pPr>
            <a:r>
              <a:rPr lang="en-US" sz="1300" dirty="0">
                <a:solidFill>
                  <a:srgbClr val="7A7568"/>
                </a:solidFill>
                <a:latin typeface="Calibri" pitchFamily="34" charset="0"/>
                <a:ea typeface="Calibri" pitchFamily="34" charset="-122"/>
                <a:cs typeface="Calibri" pitchFamily="34" charset="-120"/>
              </a:rPr>
              <a:t>A parallel economic infrastructure</a:t>
            </a:r>
            <a:endParaRPr lang="en-US" sz="1300" dirty="0"/>
          </a:p>
        </p:txBody>
      </p:sp>
      <p:sp>
        <p:nvSpPr>
          <p:cNvPr id="10" name="Text 8"/>
          <p:cNvSpPr/>
          <p:nvPr/>
        </p:nvSpPr>
        <p:spPr>
          <a:xfrm>
            <a:off x="548640" y="4251960"/>
            <a:ext cx="548640" cy="457200"/>
          </a:xfrm>
          <a:prstGeom prst="rect">
            <a:avLst/>
          </a:prstGeom>
          <a:noFill/>
          <a:ln/>
        </p:spPr>
        <p:txBody>
          <a:bodyPr wrap="square" lIns="0" tIns="0" rIns="0" bIns="0" rtlCol="0" anchor="ctr"/>
          <a:lstStyle/>
          <a:p>
            <a:pPr indent="0" marL="0">
              <a:buNone/>
            </a:pPr>
            <a:r>
              <a:rPr lang="en-US" sz="1200" spc="400" kern="0" dirty="0">
                <a:solidFill>
                  <a:srgbClr val="C58A4D"/>
                </a:solidFill>
                <a:latin typeface="Consolas" pitchFamily="34" charset="0"/>
                <a:ea typeface="Consolas" pitchFamily="34" charset="-122"/>
                <a:cs typeface="Consolas" pitchFamily="34" charset="-120"/>
              </a:rPr>
              <a:t>03</a:t>
            </a:r>
            <a:endParaRPr lang="en-US" sz="1200" dirty="0"/>
          </a:p>
        </p:txBody>
      </p:sp>
      <p:sp>
        <p:nvSpPr>
          <p:cNvPr id="11" name="Text 9"/>
          <p:cNvSpPr/>
          <p:nvPr/>
        </p:nvSpPr>
        <p:spPr>
          <a:xfrm>
            <a:off x="1280160" y="4251960"/>
            <a:ext cx="4754880" cy="457200"/>
          </a:xfrm>
          <a:prstGeom prst="rect">
            <a:avLst/>
          </a:prstGeom>
          <a:noFill/>
          <a:ln/>
        </p:spPr>
        <p:txBody>
          <a:bodyPr wrap="square" lIns="0" tIns="0" rIns="0" bIns="0" rtlCol="0" anchor="ctr"/>
          <a:lstStyle/>
          <a:p>
            <a:pPr indent="0" marL="0">
              <a:buNone/>
            </a:pPr>
            <a:r>
              <a:rPr lang="en-US" sz="1800" dirty="0">
                <a:solidFill>
                  <a:srgbClr val="0A0A0A"/>
                </a:solidFill>
                <a:latin typeface="Calibri" pitchFamily="34" charset="0"/>
                <a:ea typeface="Calibri" pitchFamily="34" charset="-122"/>
                <a:cs typeface="Calibri" pitchFamily="34" charset="-120"/>
              </a:rPr>
              <a:t>MOND, the unit of account</a:t>
            </a:r>
            <a:endParaRPr lang="en-US" sz="1800" dirty="0"/>
          </a:p>
        </p:txBody>
      </p:sp>
      <p:sp>
        <p:nvSpPr>
          <p:cNvPr id="12" name="Text 10"/>
          <p:cNvSpPr/>
          <p:nvPr/>
        </p:nvSpPr>
        <p:spPr>
          <a:xfrm>
            <a:off x="6217920" y="4251960"/>
            <a:ext cx="5394960" cy="457200"/>
          </a:xfrm>
          <a:prstGeom prst="rect">
            <a:avLst/>
          </a:prstGeom>
          <a:noFill/>
          <a:ln/>
        </p:spPr>
        <p:txBody>
          <a:bodyPr wrap="square" lIns="0" tIns="0" rIns="0" bIns="0" rtlCol="0" anchor="ctr"/>
          <a:lstStyle/>
          <a:p>
            <a:pPr indent="0" marL="0">
              <a:buNone/>
            </a:pPr>
            <a:r>
              <a:rPr lang="en-US" sz="1300" dirty="0">
                <a:solidFill>
                  <a:srgbClr val="7A7568"/>
                </a:solidFill>
                <a:latin typeface="Calibri" pitchFamily="34" charset="0"/>
                <a:ea typeface="Calibri" pitchFamily="34" charset="-122"/>
                <a:cs typeface="Calibri" pitchFamily="34" charset="-120"/>
              </a:rPr>
              <a:t>How dividends replace wages</a:t>
            </a:r>
            <a:endParaRPr lang="en-US" sz="1300" dirty="0"/>
          </a:p>
        </p:txBody>
      </p:sp>
      <p:sp>
        <p:nvSpPr>
          <p:cNvPr id="13" name="Text 11"/>
          <p:cNvSpPr/>
          <p:nvPr/>
        </p:nvSpPr>
        <p:spPr>
          <a:xfrm>
            <a:off x="548640" y="4846320"/>
            <a:ext cx="548640" cy="457200"/>
          </a:xfrm>
          <a:prstGeom prst="rect">
            <a:avLst/>
          </a:prstGeom>
          <a:noFill/>
          <a:ln/>
        </p:spPr>
        <p:txBody>
          <a:bodyPr wrap="square" lIns="0" tIns="0" rIns="0" bIns="0" rtlCol="0" anchor="ctr"/>
          <a:lstStyle/>
          <a:p>
            <a:pPr indent="0" marL="0">
              <a:buNone/>
            </a:pPr>
            <a:r>
              <a:rPr lang="en-US" sz="1200" spc="400" kern="0" dirty="0">
                <a:solidFill>
                  <a:srgbClr val="C58A4D"/>
                </a:solidFill>
                <a:latin typeface="Consolas" pitchFamily="34" charset="0"/>
                <a:ea typeface="Consolas" pitchFamily="34" charset="-122"/>
                <a:cs typeface="Consolas" pitchFamily="34" charset="-120"/>
              </a:rPr>
              <a:t>04</a:t>
            </a:r>
            <a:endParaRPr lang="en-US" sz="1200" dirty="0"/>
          </a:p>
        </p:txBody>
      </p:sp>
      <p:sp>
        <p:nvSpPr>
          <p:cNvPr id="14" name="Text 12"/>
          <p:cNvSpPr/>
          <p:nvPr/>
        </p:nvSpPr>
        <p:spPr>
          <a:xfrm>
            <a:off x="1280160" y="4846320"/>
            <a:ext cx="4754880" cy="457200"/>
          </a:xfrm>
          <a:prstGeom prst="rect">
            <a:avLst/>
          </a:prstGeom>
          <a:noFill/>
          <a:ln/>
        </p:spPr>
        <p:txBody>
          <a:bodyPr wrap="square" lIns="0" tIns="0" rIns="0" bIns="0" rtlCol="0" anchor="ctr"/>
          <a:lstStyle/>
          <a:p>
            <a:pPr indent="0" marL="0">
              <a:buNone/>
            </a:pPr>
            <a:r>
              <a:rPr lang="en-US" sz="1800" dirty="0">
                <a:solidFill>
                  <a:srgbClr val="0A0A0A"/>
                </a:solidFill>
                <a:latin typeface="Calibri" pitchFamily="34" charset="0"/>
                <a:ea typeface="Calibri" pitchFamily="34" charset="-122"/>
                <a:cs typeface="Calibri" pitchFamily="34" charset="-120"/>
              </a:rPr>
              <a:t>The Earth Colony Model</a:t>
            </a:r>
            <a:endParaRPr lang="en-US" sz="1800" dirty="0"/>
          </a:p>
        </p:txBody>
      </p:sp>
      <p:sp>
        <p:nvSpPr>
          <p:cNvPr id="15" name="Text 13"/>
          <p:cNvSpPr/>
          <p:nvPr/>
        </p:nvSpPr>
        <p:spPr>
          <a:xfrm>
            <a:off x="6217920" y="4846320"/>
            <a:ext cx="5394960" cy="457200"/>
          </a:xfrm>
          <a:prstGeom prst="rect">
            <a:avLst/>
          </a:prstGeom>
          <a:noFill/>
          <a:ln/>
        </p:spPr>
        <p:txBody>
          <a:bodyPr wrap="square" lIns="0" tIns="0" rIns="0" bIns="0" rtlCol="0" anchor="ctr"/>
          <a:lstStyle/>
          <a:p>
            <a:pPr indent="0" marL="0">
              <a:buNone/>
            </a:pPr>
            <a:r>
              <a:rPr lang="en-US" sz="1300" dirty="0">
                <a:solidFill>
                  <a:srgbClr val="7A7568"/>
                </a:solidFill>
                <a:latin typeface="Calibri" pitchFamily="34" charset="0"/>
                <a:ea typeface="Calibri" pitchFamily="34" charset="-122"/>
                <a:cs typeface="Calibri" pitchFamily="34" charset="-120"/>
              </a:rPr>
              <a:t>From design to deployment</a:t>
            </a:r>
            <a:endParaRPr lang="en-US" sz="1300" dirty="0"/>
          </a:p>
        </p:txBody>
      </p:sp>
      <p:sp>
        <p:nvSpPr>
          <p:cNvPr id="16" name="Text 14"/>
          <p:cNvSpPr/>
          <p:nvPr/>
        </p:nvSpPr>
        <p:spPr>
          <a:xfrm>
            <a:off x="548640" y="5440680"/>
            <a:ext cx="548640" cy="457200"/>
          </a:xfrm>
          <a:prstGeom prst="rect">
            <a:avLst/>
          </a:prstGeom>
          <a:noFill/>
          <a:ln/>
        </p:spPr>
        <p:txBody>
          <a:bodyPr wrap="square" lIns="0" tIns="0" rIns="0" bIns="0" rtlCol="0" anchor="ctr"/>
          <a:lstStyle/>
          <a:p>
            <a:pPr indent="0" marL="0">
              <a:buNone/>
            </a:pPr>
            <a:r>
              <a:rPr lang="en-US" sz="1200" spc="400" kern="0" dirty="0">
                <a:solidFill>
                  <a:srgbClr val="C58A4D"/>
                </a:solidFill>
                <a:latin typeface="Consolas" pitchFamily="34" charset="0"/>
                <a:ea typeface="Consolas" pitchFamily="34" charset="-122"/>
                <a:cs typeface="Consolas" pitchFamily="34" charset="-120"/>
              </a:rPr>
              <a:t>05</a:t>
            </a:r>
            <a:endParaRPr lang="en-US" sz="1200" dirty="0"/>
          </a:p>
        </p:txBody>
      </p:sp>
      <p:sp>
        <p:nvSpPr>
          <p:cNvPr id="17" name="Text 15"/>
          <p:cNvSpPr/>
          <p:nvPr/>
        </p:nvSpPr>
        <p:spPr>
          <a:xfrm>
            <a:off x="1280160" y="5440680"/>
            <a:ext cx="4754880" cy="457200"/>
          </a:xfrm>
          <a:prstGeom prst="rect">
            <a:avLst/>
          </a:prstGeom>
          <a:noFill/>
          <a:ln/>
        </p:spPr>
        <p:txBody>
          <a:bodyPr wrap="square" lIns="0" tIns="0" rIns="0" bIns="0" rtlCol="0" anchor="ctr"/>
          <a:lstStyle/>
          <a:p>
            <a:pPr indent="0" marL="0">
              <a:buNone/>
            </a:pPr>
            <a:r>
              <a:rPr lang="en-US" sz="1800" dirty="0">
                <a:solidFill>
                  <a:srgbClr val="0A0A0A"/>
                </a:solidFill>
                <a:latin typeface="Calibri" pitchFamily="34" charset="0"/>
                <a:ea typeface="Calibri" pitchFamily="34" charset="-122"/>
                <a:cs typeface="Calibri" pitchFamily="34" charset="-120"/>
              </a:rPr>
              <a:t>Roadmap &amp; ask</a:t>
            </a:r>
            <a:endParaRPr lang="en-US" sz="1800" dirty="0"/>
          </a:p>
        </p:txBody>
      </p:sp>
      <p:sp>
        <p:nvSpPr>
          <p:cNvPr id="18" name="Text 16"/>
          <p:cNvSpPr/>
          <p:nvPr/>
        </p:nvSpPr>
        <p:spPr>
          <a:xfrm>
            <a:off x="6217920" y="5440680"/>
            <a:ext cx="5394960" cy="457200"/>
          </a:xfrm>
          <a:prstGeom prst="rect">
            <a:avLst/>
          </a:prstGeom>
          <a:noFill/>
          <a:ln/>
        </p:spPr>
        <p:txBody>
          <a:bodyPr wrap="square" lIns="0" tIns="0" rIns="0" bIns="0" rtlCol="0" anchor="ctr"/>
          <a:lstStyle/>
          <a:p>
            <a:pPr indent="0" marL="0">
              <a:buNone/>
            </a:pPr>
            <a:r>
              <a:rPr lang="en-US" sz="1300" dirty="0">
                <a:solidFill>
                  <a:srgbClr val="7A7568"/>
                </a:solidFill>
                <a:latin typeface="Calibri" pitchFamily="34" charset="0"/>
                <a:ea typeface="Calibri" pitchFamily="34" charset="-122"/>
                <a:cs typeface="Calibri" pitchFamily="34" charset="-120"/>
              </a:rPr>
              <a:t>What we need to make it real</a:t>
            </a:r>
            <a:endParaRPr lang="en-US" sz="1300" dirty="0"/>
          </a:p>
        </p:txBody>
      </p:sp>
      <p:sp>
        <p:nvSpPr>
          <p:cNvPr id="19" name="Text 4"/>
          <p:cNvSpPr/>
          <p:nvPr>
            <p:ph idx="107" type="body" hasCustomPrompt="1"/>
          </p:nvPr>
        </p:nvSpPr>
        <p:spPr>
          <a:xfrm>
            <a:off x="548640" y="2926080"/>
            <a:ext cx="11091672" cy="3291840"/>
          </a:xfrm>
          <a:prstGeom prst="rect">
            <a:avLst/>
          </a:prstGeom>
          <a:noFill/>
          <a:ln/>
        </p:spPr>
        <p:txBody>
          <a:bodyPr wrap="square" lIns="0" tIns="0" rIns="0" bIns="0" rtlCol="0"/>
          <a:lstStyle/>
          <a:p>
            <a:pPr marL="342900" indent="-342900">
              <a:spcAft>
                <a:spcPts val="800"/>
              </a:spcAft>
              <a:buSzPct val="100000"/>
              <a:buChar char="■"/>
            </a:pPr>
            <a:endParaRPr lang="en-US" sz="1600" dirty="0"/>
          </a:p>
        </p:txBody>
      </p:sp>
      <p:sp>
        <p:nvSpPr>
          <p:cNvPr id="25" name="Slide Number Placeholder 0"/>
          <p:cNvSpPr>
            <a:spLocks noGrp="1"/>
          </p:cNvSpPr>
          <p:nvPr>
            <p:ph type="sldNum" sz="quarter" idx="4294967295"/>
          </p:nvPr>
        </p:nvSpPr>
        <p:spPr>
          <a:xfrm>
            <a:off x="8897112" y="6537960"/>
            <a:ext cx="2743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A7568"/>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777240" y="914400"/>
            <a:ext cx="7315200" cy="365760"/>
          </a:xfrm>
          <a:prstGeom prst="rect">
            <a:avLst/>
          </a:prstGeom>
          <a:noFill/>
          <a:ln/>
        </p:spPr>
        <p:txBody>
          <a:bodyPr wrap="square" lIns="0" tIns="0" rIns="0" bIns="0" rtlCol="0"/>
          <a:lstStyle/>
          <a:p>
            <a:pPr indent="0" marL="0">
              <a:buNone/>
            </a:pPr>
            <a:r>
              <a:rPr lang="en-US" sz="1100" spc="600" kern="0" dirty="0">
                <a:solidFill>
                  <a:srgbClr val="C58A4D"/>
                </a:solidFill>
                <a:latin typeface="Consolas" pitchFamily="34" charset="0"/>
                <a:ea typeface="Consolas" pitchFamily="34" charset="-122"/>
                <a:cs typeface="Consolas" pitchFamily="34" charset="-120"/>
              </a:rPr>
              <a:t>ACT I</a:t>
            </a:r>
            <a:endParaRPr lang="en-US" sz="1100" dirty="0"/>
          </a:p>
        </p:txBody>
      </p:sp>
      <p:sp>
        <p:nvSpPr>
          <p:cNvPr id="3" name="Text 2"/>
          <p:cNvSpPr/>
          <p:nvPr>
            <p:ph idx="103" type="title" hasCustomPrompt="1"/>
          </p:nvPr>
        </p:nvSpPr>
        <p:spPr>
          <a:xfrm>
            <a:off x="777240" y="1828800"/>
            <a:ext cx="10515600" cy="3200400"/>
          </a:xfrm>
          <a:prstGeom prst="rect">
            <a:avLst/>
          </a:prstGeom>
          <a:noFill/>
          <a:ln/>
        </p:spPr>
        <p:txBody>
          <a:bodyPr wrap="square" lIns="0" tIns="0" rIns="0" bIns="0" rtlCol="0"/>
          <a:lstStyle/>
          <a:p>
            <a:pPr algn="l" indent="0" marL="0">
              <a:lnSpc>
                <a:spcPct val="105000"/>
              </a:lnSpc>
              <a:buNone/>
            </a:pPr>
            <a:r>
              <a:rPr lang="en-US" sz="7200" dirty="0">
                <a:solidFill>
                  <a:srgbClr val="F0EDE6"/>
                </a:solidFill>
                <a:latin typeface="Calibri Light" pitchFamily="34" charset="0"/>
                <a:ea typeface="Calibri Light" pitchFamily="34" charset="-122"/>
                <a:cs typeface="Calibri Light" pitchFamily="34" charset="-120"/>
              </a:rPr>
              <a:t>The economy doesn't adapt. It jumps.</a:t>
            </a:r>
            <a:endParaRPr lang="en-US" sz="7200" dirty="0"/>
          </a:p>
        </p:txBody>
      </p:sp>
      <p:sp>
        <p:nvSpPr>
          <p:cNvPr id="4" name="Text 2"/>
          <p:cNvSpPr/>
          <p:nvPr>
            <p:ph idx="104" type="body" hasCustomPrompt="1"/>
          </p:nvPr>
        </p:nvSpPr>
        <p:spPr>
          <a:xfrm>
            <a:off x="777240" y="5212080"/>
            <a:ext cx="8686800" cy="914400"/>
          </a:xfrm>
          <a:prstGeom prst="rect">
            <a:avLst/>
          </a:prstGeom>
          <a:noFill/>
          <a:ln/>
        </p:spPr>
        <p:txBody>
          <a:bodyPr wrap="square" lIns="0" tIns="0" rIns="0" bIns="0" rtlCol="0"/>
          <a:lstStyle/>
          <a:p>
            <a:pPr indent="0" marL="0">
              <a:buNone/>
            </a:pPr>
            <a:r>
              <a:rPr lang="en-US" sz="1400" dirty="0">
                <a:solidFill>
                  <a:srgbClr val="F0EDE6"/>
                </a:solidFill>
                <a:latin typeface="Calibri" pitchFamily="34" charset="0"/>
                <a:ea typeface="Calibri" pitchFamily="34" charset="-122"/>
                <a:cs typeface="Calibri" pitchFamily="34" charset="-120"/>
              </a:rPr>
              <a:t>Recursive AI self-improvement will displace workers before prices fall enough to compensate, while colliding with sovereign debt monetization. Axion is the parallel economy designed to clear comfortable life regardless of which way the legacy system breaks.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4"/>
          <p:cNvSpPr/>
          <p:nvPr>
            <p:ph idx="105" type="body" hasCustomPrompt="1"/>
          </p:nvPr>
        </p:nvSpPr>
        <p:spPr>
          <a:xfrm>
            <a:off x="548640" y="1417320"/>
            <a:ext cx="11091672" cy="365760"/>
          </a:xfrm>
          <a:prstGeom prst="rect">
            <a:avLst/>
          </a:prstGeom>
          <a:noFill/>
          <a:ln/>
        </p:spPr>
        <p:txBody>
          <a:bodyPr wrap="square" lIns="0" tIns="0" rIns="0" bIns="0" rtlCol="0"/>
          <a:lstStyle/>
          <a:p>
            <a:pPr indent="0" marL="0">
              <a:buNone/>
            </a:pPr>
            <a:r>
              <a:rPr lang="en-US" sz="1000" spc="300" kern="0" dirty="0">
                <a:solidFill>
                  <a:srgbClr val="7A7568"/>
                </a:solidFill>
                <a:latin typeface="Consolas" pitchFamily="34" charset="0"/>
                <a:ea typeface="Consolas" pitchFamily="34" charset="-122"/>
                <a:cs typeface="Consolas" pitchFamily="34" charset="-120"/>
              </a:rPr>
              <a:t>THE THESIS</a:t>
            </a:r>
            <a:endParaRPr lang="en-US" sz="1000" dirty="0"/>
          </a:p>
        </p:txBody>
      </p:sp>
      <p:sp>
        <p:nvSpPr>
          <p:cNvPr id="3" name="Text 4"/>
          <p:cNvSpPr/>
          <p:nvPr>
            <p:ph idx="106" type="title" hasCustomPrompt="1"/>
          </p:nvPr>
        </p:nvSpPr>
        <p:spPr>
          <a:xfrm>
            <a:off x="548640" y="1783080"/>
            <a:ext cx="11091672" cy="914400"/>
          </a:xfrm>
          <a:prstGeom prst="rect">
            <a:avLst/>
          </a:prstGeom>
          <a:noFill/>
          <a:ln/>
        </p:spPr>
        <p:txBody>
          <a:bodyPr wrap="square" lIns="0" tIns="0" rIns="0" bIns="0" rtlCol="0"/>
          <a:lstStyle/>
          <a:p>
            <a:pPr algn="l" indent="0" marL="0">
              <a:buNone/>
            </a:pPr>
            <a:r>
              <a:rPr lang="en-US" sz="3600" dirty="0">
                <a:solidFill>
                  <a:srgbClr val="0A0A0A"/>
                </a:solidFill>
                <a:latin typeface="Calibri Light" pitchFamily="34" charset="0"/>
                <a:ea typeface="Calibri Light" pitchFamily="34" charset="-122"/>
                <a:cs typeface="Calibri Light" pitchFamily="34" charset="-120"/>
              </a:rPr>
              <a:t>Two crises arriving at the same time.</a:t>
            </a:r>
            <a:endParaRPr lang="en-US" sz="3600" dirty="0"/>
          </a:p>
        </p:txBody>
      </p:sp>
      <p:sp>
        <p:nvSpPr>
          <p:cNvPr id="4" name="Text 4"/>
          <p:cNvSpPr/>
          <p:nvPr>
            <p:ph idx="107" type="body" hasCustomPrompt="1"/>
          </p:nvPr>
        </p:nvSpPr>
        <p:spPr>
          <a:xfrm>
            <a:off x="548640" y="2926080"/>
            <a:ext cx="11091672" cy="3291840"/>
          </a:xfrm>
          <a:prstGeom prst="rect">
            <a:avLst/>
          </a:prstGeom>
          <a:noFill/>
          <a:ln/>
        </p:spPr>
        <p:txBody>
          <a:bodyPr wrap="square" lIns="0" tIns="0" rIns="0" bIns="0" rtlCol="0"/>
          <a:lstStyle/>
          <a:p>
            <a:pPr marL="342900" indent="-342900">
              <a:spcAft>
                <a:spcPts val="800"/>
              </a:spcAft>
              <a:buSzPct val="100000"/>
              <a:buChar char="•"/>
            </a:pPr>
            <a:r>
              <a:rPr lang="en-US" sz="1600" b="1" dirty="0">
                <a:solidFill>
                  <a:srgbClr val="0A0A0A"/>
                </a:solidFill>
                <a:latin typeface="Calibri" pitchFamily="34" charset="0"/>
                <a:ea typeface="Calibri" pitchFamily="34" charset="-122"/>
                <a:cs typeface="Calibri" pitchFamily="34" charset="-120"/>
              </a:rPr>
              <a:t>AI labour displacement</a:t>
            </a:r>
            <a:endParaRPr lang="en-US" sz="1600" dirty="0"/>
          </a:p>
          <a:p>
            <a:pPr lvl="1" marL="685800"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Recursive self-improvement compresses the displacement timeline</a:t>
            </a:r>
            <a:endParaRPr lang="en-US" sz="1600" dirty="0"/>
          </a:p>
          <a:p>
            <a:pPr lvl="1" marL="685800"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Workers lose income before deflation lowers prices to compensate</a:t>
            </a:r>
            <a:endParaRPr lang="en-US" sz="1600" dirty="0"/>
          </a:p>
          <a:p>
            <a:pPr lvl="1" marL="685800"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The transition is not gradual — it's a step change</a:t>
            </a:r>
            <a:endParaRPr lang="en-US" sz="1600" dirty="0"/>
          </a:p>
          <a:p>
            <a:pPr marL="342900" indent="-342900">
              <a:spcAft>
                <a:spcPts val="800"/>
              </a:spcAft>
              <a:buSzPct val="100000"/>
              <a:buChar char="•"/>
            </a:pPr>
            <a:r>
              <a:rPr lang="en-US" sz="1600" b="1" dirty="0">
                <a:solidFill>
                  <a:srgbClr val="0A0A0A"/>
                </a:solidFill>
                <a:latin typeface="Calibri" pitchFamily="34" charset="0"/>
                <a:ea typeface="Calibri" pitchFamily="34" charset="-122"/>
                <a:cs typeface="Calibri" pitchFamily="34" charset="-120"/>
              </a:rPr>
              <a:t>Sovereign debt monetisation</a:t>
            </a:r>
            <a:endParaRPr lang="en-US" sz="1600" dirty="0"/>
          </a:p>
          <a:p>
            <a:pPr lvl="1" marL="685800"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Existing institutions cannot finance the transition without printing</a:t>
            </a:r>
            <a:endParaRPr lang="en-US" sz="1600" dirty="0"/>
          </a:p>
          <a:p>
            <a:pPr lvl="1" marL="685800"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Currency debasement collides with displacement</a:t>
            </a:r>
            <a:endParaRPr lang="en-US" sz="1600" dirty="0"/>
          </a:p>
          <a:p>
            <a:pPr lvl="1" marL="685800"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The legacy economy cannot deliver stable real-terms purchasing power</a:t>
            </a:r>
            <a:endParaRPr lang="en-US" sz="1600" dirty="0"/>
          </a:p>
        </p:txBody>
      </p:sp>
      <p:sp>
        <p:nvSpPr>
          <p:cNvPr id="25" name="Slide Number Placeholder 0"/>
          <p:cNvSpPr>
            <a:spLocks noGrp="1"/>
          </p:cNvSpPr>
          <p:nvPr>
            <p:ph type="sldNum" sz="quarter" idx="4294967295"/>
          </p:nvPr>
        </p:nvSpPr>
        <p:spPr>
          <a:xfrm>
            <a:off x="8897112" y="6537960"/>
            <a:ext cx="2743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A7568"/>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4"/>
          <p:cNvSpPr/>
          <p:nvPr>
            <p:ph idx="105" type="body" hasCustomPrompt="1"/>
          </p:nvPr>
        </p:nvSpPr>
        <p:spPr>
          <a:xfrm>
            <a:off x="548640" y="1417320"/>
            <a:ext cx="11091672" cy="365760"/>
          </a:xfrm>
          <a:prstGeom prst="rect">
            <a:avLst/>
          </a:prstGeom>
          <a:noFill/>
          <a:ln/>
        </p:spPr>
        <p:txBody>
          <a:bodyPr wrap="square" lIns="0" tIns="0" rIns="0" bIns="0" rtlCol="0"/>
          <a:lstStyle/>
          <a:p>
            <a:pPr indent="0" marL="0">
              <a:buNone/>
            </a:pPr>
            <a:r>
              <a:rPr lang="en-US" sz="1000" spc="300" kern="0" dirty="0">
                <a:solidFill>
                  <a:srgbClr val="7A7568"/>
                </a:solidFill>
                <a:latin typeface="Consolas" pitchFamily="34" charset="0"/>
                <a:ea typeface="Consolas" pitchFamily="34" charset="-122"/>
                <a:cs typeface="Consolas" pitchFamily="34" charset="-120"/>
              </a:rPr>
              <a:t>MONTHLY CITIZEN DIVIDEND</a:t>
            </a:r>
            <a:endParaRPr lang="en-US" sz="1000" dirty="0"/>
          </a:p>
        </p:txBody>
      </p:sp>
      <p:pic>
        <p:nvPicPr>
          <p:cNvPr id="3" name="Image 0" descr="preencoded.png">    </p:cNvPr>
          <p:cNvPicPr>
            <a:picLocks noChangeAspect="1"/>
          </p:cNvPicPr>
          <p:nvPr/>
        </p:nvPicPr>
        <p:blipFill>
          <a:blip r:embed="rId1"/>
          <a:stretch>
            <a:fillRect/>
          </a:stretch>
        </p:blipFill>
        <p:spPr>
          <a:xfrm>
            <a:off x="548640" y="2331720"/>
            <a:ext cx="1005840" cy="1005840"/>
          </a:xfrm>
          <a:prstGeom prst="rect">
            <a:avLst/>
          </a:prstGeom>
        </p:spPr>
      </p:pic>
      <p:sp>
        <p:nvSpPr>
          <p:cNvPr id="4" name="Text 1"/>
          <p:cNvSpPr/>
          <p:nvPr/>
        </p:nvSpPr>
        <p:spPr>
          <a:xfrm>
            <a:off x="1691640" y="2011680"/>
            <a:ext cx="7315200" cy="1645920"/>
          </a:xfrm>
          <a:prstGeom prst="rect">
            <a:avLst/>
          </a:prstGeom>
          <a:noFill/>
          <a:ln/>
        </p:spPr>
        <p:txBody>
          <a:bodyPr wrap="square" lIns="0" tIns="0" rIns="0" bIns="0" rtlCol="0" anchor="t"/>
          <a:lstStyle/>
          <a:p>
            <a:pPr indent="0" marL="0">
              <a:buNone/>
            </a:pPr>
            <a:r>
              <a:rPr lang="en-US" sz="12000" dirty="0">
                <a:solidFill>
                  <a:srgbClr val="0A0A0A"/>
                </a:solidFill>
                <a:latin typeface="Calibri Light" pitchFamily="34" charset="0"/>
                <a:ea typeface="Calibri Light" pitchFamily="34" charset="-122"/>
                <a:cs typeface="Calibri Light" pitchFamily="34" charset="-120"/>
              </a:rPr>
              <a:t>2,500</a:t>
            </a:r>
            <a:endParaRPr lang="en-US" sz="12000" dirty="0"/>
          </a:p>
        </p:txBody>
      </p:sp>
      <p:sp>
        <p:nvSpPr>
          <p:cNvPr id="5" name="Text 2"/>
          <p:cNvSpPr/>
          <p:nvPr/>
        </p:nvSpPr>
        <p:spPr>
          <a:xfrm>
            <a:off x="5943600" y="3063240"/>
            <a:ext cx="2743200" cy="457200"/>
          </a:xfrm>
          <a:prstGeom prst="rect">
            <a:avLst/>
          </a:prstGeom>
          <a:noFill/>
          <a:ln/>
        </p:spPr>
        <p:txBody>
          <a:bodyPr wrap="square" lIns="0" tIns="0" rIns="0" bIns="0" rtlCol="0" anchor="ctr"/>
          <a:lstStyle/>
          <a:p>
            <a:pPr indent="0" marL="0">
              <a:buNone/>
            </a:pPr>
            <a:r>
              <a:rPr lang="en-US" sz="1300" spc="600" kern="0" dirty="0">
                <a:solidFill>
                  <a:srgbClr val="7A7568"/>
                </a:solidFill>
                <a:latin typeface="Consolas" pitchFamily="34" charset="0"/>
                <a:ea typeface="Consolas" pitchFamily="34" charset="-122"/>
                <a:cs typeface="Consolas" pitchFamily="34" charset="-120"/>
              </a:rPr>
              <a:t>/ MONTH</a:t>
            </a:r>
            <a:endParaRPr lang="en-US" sz="1300" dirty="0"/>
          </a:p>
        </p:txBody>
      </p:sp>
      <p:sp>
        <p:nvSpPr>
          <p:cNvPr id="6" name="Shape 3"/>
          <p:cNvSpPr/>
          <p:nvPr/>
        </p:nvSpPr>
        <p:spPr>
          <a:xfrm>
            <a:off x="548640" y="4297680"/>
            <a:ext cx="548640" cy="0"/>
          </a:xfrm>
          <a:prstGeom prst="line">
            <a:avLst/>
          </a:prstGeom>
          <a:noFill/>
          <a:ln w="15875">
            <a:solidFill>
              <a:srgbClr val="C58A4D"/>
            </a:solidFill>
            <a:prstDash val="solid"/>
          </a:ln>
        </p:spPr>
      </p:sp>
      <p:sp>
        <p:nvSpPr>
          <p:cNvPr id="7" name="Text 4"/>
          <p:cNvSpPr/>
          <p:nvPr/>
        </p:nvSpPr>
        <p:spPr>
          <a:xfrm>
            <a:off x="548640" y="4480560"/>
            <a:ext cx="10058400" cy="548640"/>
          </a:xfrm>
          <a:prstGeom prst="rect">
            <a:avLst/>
          </a:prstGeom>
          <a:noFill/>
          <a:ln/>
        </p:spPr>
        <p:txBody>
          <a:bodyPr wrap="square" lIns="0" tIns="0" rIns="0" bIns="0" rtlCol="0" anchor="ctr"/>
          <a:lstStyle/>
          <a:p>
            <a:pPr indent="0" marL="0">
              <a:buNone/>
            </a:pPr>
            <a:r>
              <a:rPr lang="en-US" sz="2600" dirty="0">
                <a:solidFill>
                  <a:srgbClr val="0A0A0A"/>
                </a:solidFill>
                <a:latin typeface="Calibri Light" pitchFamily="34" charset="0"/>
                <a:ea typeface="Calibri Light" pitchFamily="34" charset="-122"/>
                <a:cs typeface="Calibri Light" pitchFamily="34" charset="-120"/>
              </a:rPr>
              <a:t>Clears comfortable life inside any colony.</a:t>
            </a:r>
            <a:endParaRPr lang="en-US" sz="2600" dirty="0"/>
          </a:p>
        </p:txBody>
      </p:sp>
      <p:sp>
        <p:nvSpPr>
          <p:cNvPr id="8" name="Text 5"/>
          <p:cNvSpPr/>
          <p:nvPr/>
        </p:nvSpPr>
        <p:spPr>
          <a:xfrm>
            <a:off x="548640" y="5120640"/>
            <a:ext cx="10058400" cy="914400"/>
          </a:xfrm>
          <a:prstGeom prst="rect">
            <a:avLst/>
          </a:prstGeom>
          <a:noFill/>
          <a:ln/>
        </p:spPr>
        <p:txBody>
          <a:bodyPr wrap="square" lIns="0" tIns="0" rIns="0" bIns="0" rtlCol="0" anchor="ctr"/>
          <a:lstStyle/>
          <a:p>
            <a:pPr indent="0" marL="0">
              <a:lnSpc>
                <a:spcPct val="150000"/>
              </a:lnSpc>
              <a:buNone/>
            </a:pPr>
            <a:r>
              <a:rPr lang="en-US" sz="1300" dirty="0">
                <a:solidFill>
                  <a:srgbClr val="0A0A0A">
                    <a:alpha val="75000"/>
                  </a:srgbClr>
                </a:solidFill>
                <a:latin typeface="Calibri" pitchFamily="34" charset="0"/>
                <a:ea typeface="Calibri" pitchFamily="34" charset="-122"/>
                <a:cs typeface="Calibri" pitchFamily="34" charset="-120"/>
              </a:rPr>
              <a:t>Backed 1:1 by USDC reserves held by the Fisc. Non-tradeable outside the protocol; auto-converted to USDC at the boundary. The Fisc operates as a currency board rather than a central bank.</a:t>
            </a:r>
            <a:endParaRPr lang="en-US" sz="1300" dirty="0"/>
          </a:p>
        </p:txBody>
      </p:sp>
      <p:sp>
        <p:nvSpPr>
          <p:cNvPr id="9" name="Text 4"/>
          <p:cNvSpPr/>
          <p:nvPr>
            <p:ph idx="106" type="title" hasCustomPrompt="1"/>
          </p:nvPr>
        </p:nvSpPr>
        <p:spPr>
          <a:xfrm>
            <a:off x="548640" y="1783080"/>
            <a:ext cx="11091672" cy="914400"/>
          </a:xfrm>
          <a:prstGeom prst="rect">
            <a:avLst/>
          </a:prstGeom>
          <a:noFill/>
          <a:ln/>
        </p:spPr>
        <p:txBody>
          <a:bodyPr wrap="square" lIns="0" tIns="0" rIns="0" bIns="0" rtlCol="0"/>
          <a:lstStyle/>
          <a:p>
            <a:pPr algn="l" indent="0" marL="0">
              <a:buNone/>
            </a:pPr>
            <a:endParaRPr lang="en-US" sz="3600" dirty="0"/>
          </a:p>
        </p:txBody>
      </p:sp>
      <p:sp>
        <p:nvSpPr>
          <p:cNvPr id="10" name="Text 4"/>
          <p:cNvSpPr/>
          <p:nvPr>
            <p:ph idx="107" type="body" hasCustomPrompt="1"/>
          </p:nvPr>
        </p:nvSpPr>
        <p:spPr>
          <a:xfrm>
            <a:off x="548640" y="2926080"/>
            <a:ext cx="11091672" cy="3291840"/>
          </a:xfrm>
          <a:prstGeom prst="rect">
            <a:avLst/>
          </a:prstGeom>
          <a:noFill/>
          <a:ln/>
        </p:spPr>
        <p:txBody>
          <a:bodyPr wrap="square" lIns="0" tIns="0" rIns="0" bIns="0" rtlCol="0"/>
          <a:lstStyle/>
          <a:p>
            <a:pPr marL="342900" indent="-342900">
              <a:spcAft>
                <a:spcPts val="800"/>
              </a:spcAft>
              <a:buSzPct val="100000"/>
              <a:buChar char="■"/>
            </a:pPr>
            <a:endParaRPr lang="en-US" sz="1600" dirty="0"/>
          </a:p>
        </p:txBody>
      </p:sp>
      <p:sp>
        <p:nvSpPr>
          <p:cNvPr id="25" name="Slide Number Placeholder 0"/>
          <p:cNvSpPr>
            <a:spLocks noGrp="1"/>
          </p:cNvSpPr>
          <p:nvPr>
            <p:ph type="sldNum" sz="quarter" idx="4294967295"/>
          </p:nvPr>
        </p:nvSpPr>
        <p:spPr>
          <a:xfrm>
            <a:off x="8897112" y="6537960"/>
            <a:ext cx="2743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A7568"/>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4"/>
          <p:cNvSpPr/>
          <p:nvPr>
            <p:ph idx="105" type="body" hasCustomPrompt="1"/>
          </p:nvPr>
        </p:nvSpPr>
        <p:spPr>
          <a:xfrm>
            <a:off x="548640" y="1417320"/>
            <a:ext cx="11091672" cy="365760"/>
          </a:xfrm>
          <a:prstGeom prst="rect">
            <a:avLst/>
          </a:prstGeom>
          <a:noFill/>
          <a:ln/>
        </p:spPr>
        <p:txBody>
          <a:bodyPr wrap="square" lIns="0" tIns="0" rIns="0" bIns="0" rtlCol="0"/>
          <a:lstStyle/>
          <a:p>
            <a:pPr indent="0" marL="0">
              <a:buNone/>
            </a:pPr>
            <a:r>
              <a:rPr lang="en-US" sz="1000" spc="300" kern="0" dirty="0">
                <a:solidFill>
                  <a:srgbClr val="7A7568"/>
                </a:solidFill>
                <a:latin typeface="Consolas" pitchFamily="34" charset="0"/>
                <a:ea typeface="Consolas" pitchFamily="34" charset="-122"/>
                <a:cs typeface="Consolas" pitchFamily="34" charset="-120"/>
              </a:rPr>
              <a:t>PROTOCOL METRICS</a:t>
            </a:r>
            <a:endParaRPr lang="en-US" sz="1000" dirty="0"/>
          </a:p>
        </p:txBody>
      </p:sp>
      <p:sp>
        <p:nvSpPr>
          <p:cNvPr id="3" name="Text 4"/>
          <p:cNvSpPr/>
          <p:nvPr>
            <p:ph idx="106" type="title" hasCustomPrompt="1"/>
          </p:nvPr>
        </p:nvSpPr>
        <p:spPr>
          <a:xfrm>
            <a:off x="548640" y="1783080"/>
            <a:ext cx="11091672" cy="914400"/>
          </a:xfrm>
          <a:prstGeom prst="rect">
            <a:avLst/>
          </a:prstGeom>
          <a:noFill/>
          <a:ln/>
        </p:spPr>
        <p:txBody>
          <a:bodyPr wrap="square" lIns="0" tIns="0" rIns="0" bIns="0" rtlCol="0"/>
          <a:lstStyle/>
          <a:p>
            <a:pPr algn="l" indent="0" marL="0">
              <a:buNone/>
            </a:pPr>
            <a:r>
              <a:rPr lang="en-US" sz="3600" dirty="0">
                <a:solidFill>
                  <a:srgbClr val="0A0A0A"/>
                </a:solidFill>
                <a:latin typeface="Calibri Light" pitchFamily="34" charset="0"/>
                <a:ea typeface="Calibri Light" pitchFamily="34" charset="-122"/>
                <a:cs typeface="Calibri Light" pitchFamily="34" charset="-120"/>
              </a:rPr>
              <a:t>Live, on Base.</a:t>
            </a:r>
            <a:endParaRPr lang="en-US" sz="3600" dirty="0"/>
          </a:p>
        </p:txBody>
      </p:sp>
      <p:sp>
        <p:nvSpPr>
          <p:cNvPr id="4" name="Shape 2"/>
          <p:cNvSpPr/>
          <p:nvPr/>
        </p:nvSpPr>
        <p:spPr>
          <a:xfrm>
            <a:off x="548640" y="3017520"/>
            <a:ext cx="3520440" cy="3108960"/>
          </a:xfrm>
          <a:prstGeom prst="rect">
            <a:avLst/>
          </a:prstGeom>
          <a:solidFill>
            <a:srgbClr val="FAF7EE"/>
          </a:solidFill>
          <a:ln w="6350">
            <a:solidFill>
              <a:srgbClr val="EDE7D8"/>
            </a:solidFill>
            <a:prstDash val="solid"/>
          </a:ln>
        </p:spPr>
      </p:sp>
      <p:sp>
        <p:nvSpPr>
          <p:cNvPr id="5" name="Shape 3"/>
          <p:cNvSpPr/>
          <p:nvPr/>
        </p:nvSpPr>
        <p:spPr>
          <a:xfrm>
            <a:off x="685800" y="3154680"/>
            <a:ext cx="274320" cy="0"/>
          </a:xfrm>
          <a:prstGeom prst="line">
            <a:avLst/>
          </a:prstGeom>
          <a:noFill/>
          <a:ln w="12700">
            <a:solidFill>
              <a:srgbClr val="C58A4D"/>
            </a:solidFill>
            <a:prstDash val="solid"/>
          </a:ln>
        </p:spPr>
      </p:sp>
      <p:sp>
        <p:nvSpPr>
          <p:cNvPr id="6" name="Text 4"/>
          <p:cNvSpPr/>
          <p:nvPr/>
        </p:nvSpPr>
        <p:spPr>
          <a:xfrm>
            <a:off x="868680" y="3246120"/>
            <a:ext cx="3017520" cy="274320"/>
          </a:xfrm>
          <a:prstGeom prst="rect">
            <a:avLst/>
          </a:prstGeom>
          <a:noFill/>
          <a:ln/>
        </p:spPr>
        <p:txBody>
          <a:bodyPr wrap="square" lIns="0" tIns="0" rIns="0" bIns="0" rtlCol="0" anchor="ctr"/>
          <a:lstStyle/>
          <a:p>
            <a:pPr indent="0" marL="0">
              <a:buNone/>
            </a:pPr>
            <a:r>
              <a:rPr lang="en-US" sz="900" spc="600" kern="0" dirty="0">
                <a:solidFill>
                  <a:srgbClr val="7A7568"/>
                </a:solidFill>
                <a:latin typeface="Consolas" pitchFamily="34" charset="0"/>
                <a:ea typeface="Consolas" pitchFamily="34" charset="-122"/>
                <a:cs typeface="Consolas" pitchFamily="34" charset="-120"/>
              </a:rPr>
              <a:t>MOND SUPPLY</a:t>
            </a:r>
            <a:endParaRPr lang="en-US" sz="900" dirty="0"/>
          </a:p>
        </p:txBody>
      </p:sp>
      <p:pic>
        <p:nvPicPr>
          <p:cNvPr id="7" name="Image 0" descr="preencoded.png">    </p:cNvPr>
          <p:cNvPicPr>
            <a:picLocks noChangeAspect="1"/>
          </p:cNvPicPr>
          <p:nvPr/>
        </p:nvPicPr>
        <p:blipFill>
          <a:blip r:embed="rId1"/>
          <a:stretch>
            <a:fillRect/>
          </a:stretch>
        </p:blipFill>
        <p:spPr>
          <a:xfrm>
            <a:off x="868680" y="4114800"/>
            <a:ext cx="457200" cy="457200"/>
          </a:xfrm>
          <a:prstGeom prst="rect">
            <a:avLst/>
          </a:prstGeom>
        </p:spPr>
      </p:pic>
      <p:sp>
        <p:nvSpPr>
          <p:cNvPr id="8" name="Text 5"/>
          <p:cNvSpPr/>
          <p:nvPr/>
        </p:nvSpPr>
        <p:spPr>
          <a:xfrm>
            <a:off x="1417320" y="3977640"/>
            <a:ext cx="2560320" cy="822960"/>
          </a:xfrm>
          <a:prstGeom prst="rect">
            <a:avLst/>
          </a:prstGeom>
          <a:noFill/>
          <a:ln/>
        </p:spPr>
        <p:txBody>
          <a:bodyPr wrap="square" lIns="0" tIns="0" rIns="0" bIns="0" rtlCol="0" anchor="ctr"/>
          <a:lstStyle/>
          <a:p>
            <a:pPr indent="0" marL="0">
              <a:buNone/>
            </a:pPr>
            <a:r>
              <a:rPr lang="en-US" sz="4400" dirty="0">
                <a:solidFill>
                  <a:srgbClr val="0A0A0A"/>
                </a:solidFill>
                <a:latin typeface="Calibri Light" pitchFamily="34" charset="0"/>
                <a:ea typeface="Calibri Light" pitchFamily="34" charset="-122"/>
                <a:cs typeface="Calibri Light" pitchFamily="34" charset="-120"/>
              </a:rPr>
              <a:t>847,291</a:t>
            </a:r>
            <a:endParaRPr lang="en-US" sz="4400" dirty="0"/>
          </a:p>
        </p:txBody>
      </p:sp>
      <p:sp>
        <p:nvSpPr>
          <p:cNvPr id="9" name="Text 6"/>
          <p:cNvSpPr/>
          <p:nvPr/>
        </p:nvSpPr>
        <p:spPr>
          <a:xfrm>
            <a:off x="868680" y="5074920"/>
            <a:ext cx="2926080" cy="822960"/>
          </a:xfrm>
          <a:prstGeom prst="rect">
            <a:avLst/>
          </a:prstGeom>
          <a:noFill/>
          <a:ln/>
        </p:spPr>
        <p:txBody>
          <a:bodyPr wrap="square" lIns="0" tIns="0" rIns="0" bIns="0" rtlCol="0" anchor="ctr"/>
          <a:lstStyle/>
          <a:p>
            <a:pPr indent="0" marL="0">
              <a:lnSpc>
                <a:spcPct val="140000"/>
              </a:lnSpc>
              <a:buNone/>
            </a:pPr>
            <a:r>
              <a:rPr lang="en-US" sz="1100" dirty="0">
                <a:solidFill>
                  <a:srgbClr val="0A0A0A">
                    <a:alpha val="65000"/>
                  </a:srgbClr>
                </a:solidFill>
                <a:latin typeface="Calibri" pitchFamily="34" charset="0"/>
                <a:ea typeface="Calibri" pitchFamily="34" charset="-122"/>
                <a:cs typeface="Calibri" pitchFamily="34" charset="-120"/>
              </a:rPr>
              <a:t>Total minted, May 2026</a:t>
            </a:r>
            <a:endParaRPr lang="en-US" sz="1100" dirty="0"/>
          </a:p>
        </p:txBody>
      </p:sp>
      <p:sp>
        <p:nvSpPr>
          <p:cNvPr id="10" name="Shape 7"/>
          <p:cNvSpPr/>
          <p:nvPr/>
        </p:nvSpPr>
        <p:spPr>
          <a:xfrm>
            <a:off x="4251960" y="3017520"/>
            <a:ext cx="3520440" cy="3108960"/>
          </a:xfrm>
          <a:prstGeom prst="rect">
            <a:avLst/>
          </a:prstGeom>
          <a:solidFill>
            <a:srgbClr val="FAF7EE"/>
          </a:solidFill>
          <a:ln w="6350">
            <a:solidFill>
              <a:srgbClr val="EDE7D8"/>
            </a:solidFill>
            <a:prstDash val="solid"/>
          </a:ln>
        </p:spPr>
      </p:sp>
      <p:sp>
        <p:nvSpPr>
          <p:cNvPr id="11" name="Shape 8"/>
          <p:cNvSpPr/>
          <p:nvPr/>
        </p:nvSpPr>
        <p:spPr>
          <a:xfrm>
            <a:off x="4389120" y="3154680"/>
            <a:ext cx="274320" cy="0"/>
          </a:xfrm>
          <a:prstGeom prst="line">
            <a:avLst/>
          </a:prstGeom>
          <a:noFill/>
          <a:ln w="12700">
            <a:solidFill>
              <a:srgbClr val="C58A4D"/>
            </a:solidFill>
            <a:prstDash val="solid"/>
          </a:ln>
        </p:spPr>
      </p:sp>
      <p:sp>
        <p:nvSpPr>
          <p:cNvPr id="12" name="Text 9"/>
          <p:cNvSpPr/>
          <p:nvPr/>
        </p:nvSpPr>
        <p:spPr>
          <a:xfrm>
            <a:off x="4572000" y="3246120"/>
            <a:ext cx="3017520" cy="274320"/>
          </a:xfrm>
          <a:prstGeom prst="rect">
            <a:avLst/>
          </a:prstGeom>
          <a:noFill/>
          <a:ln/>
        </p:spPr>
        <p:txBody>
          <a:bodyPr wrap="square" lIns="0" tIns="0" rIns="0" bIns="0" rtlCol="0" anchor="ctr"/>
          <a:lstStyle/>
          <a:p>
            <a:pPr indent="0" marL="0">
              <a:buNone/>
            </a:pPr>
            <a:r>
              <a:rPr lang="en-US" sz="900" spc="600" kern="0" dirty="0">
                <a:solidFill>
                  <a:srgbClr val="7A7568"/>
                </a:solidFill>
                <a:latin typeface="Consolas" pitchFamily="34" charset="0"/>
                <a:ea typeface="Consolas" pitchFamily="34" charset="-122"/>
                <a:cs typeface="Consolas" pitchFamily="34" charset="-120"/>
              </a:rPr>
              <a:t>COVER RATIO</a:t>
            </a:r>
            <a:endParaRPr lang="en-US" sz="900" dirty="0"/>
          </a:p>
        </p:txBody>
      </p:sp>
      <p:sp>
        <p:nvSpPr>
          <p:cNvPr id="13" name="Text 10"/>
          <p:cNvSpPr/>
          <p:nvPr/>
        </p:nvSpPr>
        <p:spPr>
          <a:xfrm>
            <a:off x="4572000" y="3977640"/>
            <a:ext cx="3017520" cy="822960"/>
          </a:xfrm>
          <a:prstGeom prst="rect">
            <a:avLst/>
          </a:prstGeom>
          <a:noFill/>
          <a:ln/>
        </p:spPr>
        <p:txBody>
          <a:bodyPr wrap="square" lIns="0" tIns="0" rIns="0" bIns="0" rtlCol="0" anchor="ctr"/>
          <a:lstStyle/>
          <a:p>
            <a:pPr indent="0" marL="0">
              <a:buNone/>
            </a:pPr>
            <a:r>
              <a:rPr lang="en-US" sz="4400" dirty="0">
                <a:solidFill>
                  <a:srgbClr val="0A0A0A"/>
                </a:solidFill>
                <a:latin typeface="Calibri Light" pitchFamily="34" charset="0"/>
                <a:ea typeface="Calibri Light" pitchFamily="34" charset="-122"/>
                <a:cs typeface="Calibri Light" pitchFamily="34" charset="-120"/>
              </a:rPr>
              <a:t>101.4%</a:t>
            </a:r>
            <a:endParaRPr lang="en-US" sz="4400" dirty="0"/>
          </a:p>
        </p:txBody>
      </p:sp>
      <p:sp>
        <p:nvSpPr>
          <p:cNvPr id="14" name="Text 11"/>
          <p:cNvSpPr/>
          <p:nvPr/>
        </p:nvSpPr>
        <p:spPr>
          <a:xfrm>
            <a:off x="4572000" y="5074920"/>
            <a:ext cx="2926080" cy="822960"/>
          </a:xfrm>
          <a:prstGeom prst="rect">
            <a:avLst/>
          </a:prstGeom>
          <a:noFill/>
          <a:ln/>
        </p:spPr>
        <p:txBody>
          <a:bodyPr wrap="square" lIns="0" tIns="0" rIns="0" bIns="0" rtlCol="0" anchor="ctr"/>
          <a:lstStyle/>
          <a:p>
            <a:pPr indent="0" marL="0">
              <a:lnSpc>
                <a:spcPct val="140000"/>
              </a:lnSpc>
              <a:buNone/>
            </a:pPr>
            <a:r>
              <a:rPr lang="en-US" sz="1100" dirty="0">
                <a:solidFill>
                  <a:srgbClr val="0A0A0A">
                    <a:alpha val="65000"/>
                  </a:srgbClr>
                </a:solidFill>
                <a:latin typeface="Calibri" pitchFamily="34" charset="0"/>
                <a:ea typeface="Calibri" pitchFamily="34" charset="-122"/>
                <a:cs typeface="Calibri" pitchFamily="34" charset="-120"/>
              </a:rPr>
              <a:t>USDC reserves vs MOND outstanding</a:t>
            </a:r>
            <a:endParaRPr lang="en-US" sz="1100" dirty="0"/>
          </a:p>
        </p:txBody>
      </p:sp>
      <p:sp>
        <p:nvSpPr>
          <p:cNvPr id="15" name="Shape 12"/>
          <p:cNvSpPr/>
          <p:nvPr/>
        </p:nvSpPr>
        <p:spPr>
          <a:xfrm>
            <a:off x="7955280" y="3017520"/>
            <a:ext cx="3520440" cy="3108960"/>
          </a:xfrm>
          <a:prstGeom prst="rect">
            <a:avLst/>
          </a:prstGeom>
          <a:solidFill>
            <a:srgbClr val="FAF7EE"/>
          </a:solidFill>
          <a:ln w="6350">
            <a:solidFill>
              <a:srgbClr val="EDE7D8"/>
            </a:solidFill>
            <a:prstDash val="solid"/>
          </a:ln>
        </p:spPr>
      </p:sp>
      <p:sp>
        <p:nvSpPr>
          <p:cNvPr id="16" name="Shape 13"/>
          <p:cNvSpPr/>
          <p:nvPr/>
        </p:nvSpPr>
        <p:spPr>
          <a:xfrm>
            <a:off x="8092440" y="3154680"/>
            <a:ext cx="274320" cy="0"/>
          </a:xfrm>
          <a:prstGeom prst="line">
            <a:avLst/>
          </a:prstGeom>
          <a:noFill/>
          <a:ln w="12700">
            <a:solidFill>
              <a:srgbClr val="C58A4D"/>
            </a:solidFill>
            <a:prstDash val="solid"/>
          </a:ln>
        </p:spPr>
      </p:sp>
      <p:sp>
        <p:nvSpPr>
          <p:cNvPr id="17" name="Text 14"/>
          <p:cNvSpPr/>
          <p:nvPr/>
        </p:nvSpPr>
        <p:spPr>
          <a:xfrm>
            <a:off x="8275320" y="3246120"/>
            <a:ext cx="3017520" cy="274320"/>
          </a:xfrm>
          <a:prstGeom prst="rect">
            <a:avLst/>
          </a:prstGeom>
          <a:noFill/>
          <a:ln/>
        </p:spPr>
        <p:txBody>
          <a:bodyPr wrap="square" lIns="0" tIns="0" rIns="0" bIns="0" rtlCol="0" anchor="ctr"/>
          <a:lstStyle/>
          <a:p>
            <a:pPr indent="0" marL="0">
              <a:buNone/>
            </a:pPr>
            <a:r>
              <a:rPr lang="en-US" sz="900" spc="600" kern="0" dirty="0">
                <a:solidFill>
                  <a:srgbClr val="7A7568"/>
                </a:solidFill>
                <a:latin typeface="Consolas" pitchFamily="34" charset="0"/>
                <a:ea typeface="Consolas" pitchFamily="34" charset="-122"/>
                <a:cs typeface="Consolas" pitchFamily="34" charset="-120"/>
              </a:rPr>
              <a:t>CITIZENS</a:t>
            </a:r>
            <a:endParaRPr lang="en-US" sz="900" dirty="0"/>
          </a:p>
        </p:txBody>
      </p:sp>
      <p:sp>
        <p:nvSpPr>
          <p:cNvPr id="18" name="Text 15"/>
          <p:cNvSpPr/>
          <p:nvPr/>
        </p:nvSpPr>
        <p:spPr>
          <a:xfrm>
            <a:off x="8275320" y="3977640"/>
            <a:ext cx="3017520" cy="822960"/>
          </a:xfrm>
          <a:prstGeom prst="rect">
            <a:avLst/>
          </a:prstGeom>
          <a:noFill/>
          <a:ln/>
        </p:spPr>
        <p:txBody>
          <a:bodyPr wrap="square" lIns="0" tIns="0" rIns="0" bIns="0" rtlCol="0" anchor="ctr"/>
          <a:lstStyle/>
          <a:p>
            <a:pPr indent="0" marL="0">
              <a:buNone/>
            </a:pPr>
            <a:r>
              <a:rPr lang="en-US" sz="4400" dirty="0">
                <a:solidFill>
                  <a:srgbClr val="0A0A0A"/>
                </a:solidFill>
                <a:latin typeface="Calibri Light" pitchFamily="34" charset="0"/>
                <a:ea typeface="Calibri Light" pitchFamily="34" charset="-122"/>
                <a:cs typeface="Calibri Light" pitchFamily="34" charset="-120"/>
              </a:rPr>
              <a:t>3,912</a:t>
            </a:r>
            <a:endParaRPr lang="en-US" sz="4400" dirty="0"/>
          </a:p>
        </p:txBody>
      </p:sp>
      <p:sp>
        <p:nvSpPr>
          <p:cNvPr id="19" name="Text 16"/>
          <p:cNvSpPr/>
          <p:nvPr/>
        </p:nvSpPr>
        <p:spPr>
          <a:xfrm>
            <a:off x="8275320" y="5074920"/>
            <a:ext cx="2926080" cy="822960"/>
          </a:xfrm>
          <a:prstGeom prst="rect">
            <a:avLst/>
          </a:prstGeom>
          <a:noFill/>
          <a:ln/>
        </p:spPr>
        <p:txBody>
          <a:bodyPr wrap="square" lIns="0" tIns="0" rIns="0" bIns="0" rtlCol="0" anchor="ctr"/>
          <a:lstStyle/>
          <a:p>
            <a:pPr indent="0" marL="0">
              <a:lnSpc>
                <a:spcPct val="140000"/>
              </a:lnSpc>
              <a:buNone/>
            </a:pPr>
            <a:r>
              <a:rPr lang="en-US" sz="1100" dirty="0">
                <a:solidFill>
                  <a:srgbClr val="0A0A0A">
                    <a:alpha val="65000"/>
                  </a:srgbClr>
                </a:solidFill>
                <a:latin typeface="Calibri" pitchFamily="34" charset="0"/>
                <a:ea typeface="Calibri" pitchFamily="34" charset="-122"/>
                <a:cs typeface="Calibri" pitchFamily="34" charset="-120"/>
              </a:rPr>
              <a:t>Colony 01, founding cohort</a:t>
            </a:r>
            <a:endParaRPr lang="en-US" sz="1100" dirty="0"/>
          </a:p>
        </p:txBody>
      </p:sp>
      <p:sp>
        <p:nvSpPr>
          <p:cNvPr id="20" name="Text 4"/>
          <p:cNvSpPr/>
          <p:nvPr>
            <p:ph idx="107" type="body" hasCustomPrompt="1"/>
          </p:nvPr>
        </p:nvSpPr>
        <p:spPr>
          <a:xfrm>
            <a:off x="548640" y="2926080"/>
            <a:ext cx="11091672" cy="3291840"/>
          </a:xfrm>
          <a:prstGeom prst="rect">
            <a:avLst/>
          </a:prstGeom>
          <a:noFill/>
          <a:ln/>
        </p:spPr>
        <p:txBody>
          <a:bodyPr wrap="square" lIns="0" tIns="0" rIns="0" bIns="0" rtlCol="0"/>
          <a:lstStyle/>
          <a:p>
            <a:pPr marL="342900" indent="-342900">
              <a:spcAft>
                <a:spcPts val="800"/>
              </a:spcAft>
              <a:buSzPct val="100000"/>
              <a:buChar char="■"/>
            </a:pPr>
            <a:endParaRPr lang="en-US" sz="1600" dirty="0"/>
          </a:p>
        </p:txBody>
      </p:sp>
      <p:sp>
        <p:nvSpPr>
          <p:cNvPr id="25" name="Slide Number Placeholder 0"/>
          <p:cNvSpPr>
            <a:spLocks noGrp="1"/>
          </p:cNvSpPr>
          <p:nvPr>
            <p:ph type="sldNum" sz="quarter" idx="4294967295"/>
          </p:nvPr>
        </p:nvSpPr>
        <p:spPr>
          <a:xfrm>
            <a:off x="8897112" y="6537960"/>
            <a:ext cx="2743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A7568"/>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4"/>
          <p:cNvSpPr/>
          <p:nvPr>
            <p:ph idx="105" type="body" hasCustomPrompt="1"/>
          </p:nvPr>
        </p:nvSpPr>
        <p:spPr>
          <a:xfrm>
            <a:off x="548640" y="1417320"/>
            <a:ext cx="11091672" cy="365760"/>
          </a:xfrm>
          <a:prstGeom prst="rect">
            <a:avLst/>
          </a:prstGeom>
          <a:noFill/>
          <a:ln/>
        </p:spPr>
        <p:txBody>
          <a:bodyPr wrap="square" lIns="0" tIns="0" rIns="0" bIns="0" rtlCol="0"/>
          <a:lstStyle/>
          <a:p>
            <a:pPr indent="0" marL="0">
              <a:buNone/>
            </a:pPr>
            <a:r>
              <a:rPr lang="en-US" sz="1000" spc="300" kern="0" dirty="0">
                <a:solidFill>
                  <a:srgbClr val="7A7568"/>
                </a:solidFill>
                <a:latin typeface="Consolas" pitchFamily="34" charset="0"/>
                <a:ea typeface="Consolas" pitchFamily="34" charset="-122"/>
                <a:cs typeface="Consolas" pitchFamily="34" charset="-120"/>
              </a:rPr>
              <a:t>DESIGN PRINCIPLE</a:t>
            </a:r>
            <a:endParaRPr lang="en-US" sz="1000" dirty="0"/>
          </a:p>
        </p:txBody>
      </p:sp>
      <p:sp>
        <p:nvSpPr>
          <p:cNvPr id="3" name="Shape 1"/>
          <p:cNvSpPr/>
          <p:nvPr/>
        </p:nvSpPr>
        <p:spPr>
          <a:xfrm>
            <a:off x="548640" y="2743200"/>
            <a:ext cx="731520" cy="0"/>
          </a:xfrm>
          <a:prstGeom prst="line">
            <a:avLst/>
          </a:prstGeom>
          <a:noFill/>
          <a:ln w="19050">
            <a:solidFill>
              <a:srgbClr val="C58A4D"/>
            </a:solidFill>
            <a:prstDash val="solid"/>
          </a:ln>
        </p:spPr>
      </p:sp>
      <p:sp>
        <p:nvSpPr>
          <p:cNvPr id="4" name="Text 2"/>
          <p:cNvSpPr/>
          <p:nvPr/>
        </p:nvSpPr>
        <p:spPr>
          <a:xfrm>
            <a:off x="548640" y="3017520"/>
            <a:ext cx="10972800" cy="2286000"/>
          </a:xfrm>
          <a:prstGeom prst="rect">
            <a:avLst/>
          </a:prstGeom>
          <a:noFill/>
          <a:ln/>
        </p:spPr>
        <p:txBody>
          <a:bodyPr wrap="square" lIns="0" tIns="0" rIns="0" bIns="0" rtlCol="0" anchor="ctr"/>
          <a:lstStyle/>
          <a:p>
            <a:pPr indent="0" marL="0">
              <a:lnSpc>
                <a:spcPct val="110000"/>
              </a:lnSpc>
              <a:buNone/>
            </a:pPr>
            <a:r>
              <a:rPr lang="en-US" sz="5600" i="1" dirty="0">
                <a:solidFill>
                  <a:srgbClr val="0A0A0A"/>
                </a:solidFill>
                <a:latin typeface="Calibri Light" pitchFamily="34" charset="0"/>
                <a:ea typeface="Calibri Light" pitchFamily="34" charset="-122"/>
                <a:cs typeface="Calibri Light" pitchFamily="34" charset="-120"/>
              </a:rPr>
              <a:t>Modified Newtonian dynamics, in monetary form.</a:t>
            </a:r>
            <a:endParaRPr lang="en-US" sz="5600" dirty="0"/>
          </a:p>
        </p:txBody>
      </p:sp>
      <p:sp>
        <p:nvSpPr>
          <p:cNvPr id="5" name="Text 3"/>
          <p:cNvSpPr/>
          <p:nvPr/>
        </p:nvSpPr>
        <p:spPr>
          <a:xfrm>
            <a:off x="548640" y="5486400"/>
            <a:ext cx="10058400" cy="365760"/>
          </a:xfrm>
          <a:prstGeom prst="rect">
            <a:avLst/>
          </a:prstGeom>
          <a:noFill/>
          <a:ln/>
        </p:spPr>
        <p:txBody>
          <a:bodyPr wrap="square" lIns="0" tIns="0" rIns="0" bIns="0" rtlCol="0" anchor="ctr"/>
          <a:lstStyle/>
          <a:p>
            <a:pPr indent="0" marL="0">
              <a:buNone/>
            </a:pPr>
            <a:r>
              <a:rPr lang="en-US" sz="1100" spc="400" kern="0" dirty="0">
                <a:solidFill>
                  <a:srgbClr val="7A7568"/>
                </a:solidFill>
                <a:latin typeface="Consolas" pitchFamily="34" charset="0"/>
                <a:ea typeface="Consolas" pitchFamily="34" charset="-122"/>
                <a:cs typeface="Consolas" pitchFamily="34" charset="-120"/>
              </a:rPr>
              <a:t>— THE AXION WHITEPAPER, MAY 2026</a:t>
            </a:r>
            <a:endParaRPr lang="en-US" sz="1100" dirty="0"/>
          </a:p>
        </p:txBody>
      </p:sp>
      <p:sp>
        <p:nvSpPr>
          <p:cNvPr id="6" name="Text 4"/>
          <p:cNvSpPr/>
          <p:nvPr>
            <p:ph idx="106" type="title" hasCustomPrompt="1"/>
          </p:nvPr>
        </p:nvSpPr>
        <p:spPr>
          <a:xfrm>
            <a:off x="548640" y="1783080"/>
            <a:ext cx="11091672" cy="914400"/>
          </a:xfrm>
          <a:prstGeom prst="rect">
            <a:avLst/>
          </a:prstGeom>
          <a:noFill/>
          <a:ln/>
        </p:spPr>
        <p:txBody>
          <a:bodyPr wrap="square" lIns="0" tIns="0" rIns="0" bIns="0" rtlCol="0"/>
          <a:lstStyle/>
          <a:p>
            <a:pPr algn="l" indent="0" marL="0">
              <a:buNone/>
            </a:pPr>
            <a:endParaRPr lang="en-US" sz="3600" dirty="0"/>
          </a:p>
        </p:txBody>
      </p:sp>
      <p:sp>
        <p:nvSpPr>
          <p:cNvPr id="7" name="Text 4"/>
          <p:cNvSpPr/>
          <p:nvPr>
            <p:ph idx="107" type="body" hasCustomPrompt="1"/>
          </p:nvPr>
        </p:nvSpPr>
        <p:spPr>
          <a:xfrm>
            <a:off x="548640" y="2926080"/>
            <a:ext cx="11091672" cy="3291840"/>
          </a:xfrm>
          <a:prstGeom prst="rect">
            <a:avLst/>
          </a:prstGeom>
          <a:noFill/>
          <a:ln/>
        </p:spPr>
        <p:txBody>
          <a:bodyPr wrap="square" lIns="0" tIns="0" rIns="0" bIns="0" rtlCol="0"/>
          <a:lstStyle/>
          <a:p>
            <a:pPr marL="342900" indent="-342900">
              <a:spcAft>
                <a:spcPts val="800"/>
              </a:spcAft>
              <a:buSzPct val="100000"/>
              <a:buChar char="■"/>
            </a:pPr>
            <a:endParaRPr lang="en-US" sz="1600" dirty="0"/>
          </a:p>
        </p:txBody>
      </p:sp>
      <p:sp>
        <p:nvSpPr>
          <p:cNvPr id="25" name="Slide Number Placeholder 0"/>
          <p:cNvSpPr>
            <a:spLocks noGrp="1"/>
          </p:cNvSpPr>
          <p:nvPr>
            <p:ph type="sldNum" sz="quarter" idx="4294967295"/>
          </p:nvPr>
        </p:nvSpPr>
        <p:spPr>
          <a:xfrm>
            <a:off x="8897112" y="6537960"/>
            <a:ext cx="2743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A7568"/>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4"/>
          <p:cNvSpPr/>
          <p:nvPr>
            <p:ph idx="105" type="body" hasCustomPrompt="1"/>
          </p:nvPr>
        </p:nvSpPr>
        <p:spPr>
          <a:xfrm>
            <a:off x="548640" y="1417320"/>
            <a:ext cx="11091672" cy="365760"/>
          </a:xfrm>
          <a:prstGeom prst="rect">
            <a:avLst/>
          </a:prstGeom>
          <a:noFill/>
          <a:ln/>
        </p:spPr>
        <p:txBody>
          <a:bodyPr wrap="square" lIns="0" tIns="0" rIns="0" bIns="0" rtlCol="0"/>
          <a:lstStyle/>
          <a:p>
            <a:pPr indent="0" marL="0">
              <a:buNone/>
            </a:pPr>
            <a:r>
              <a:rPr lang="en-US" sz="1000" spc="300" kern="0" dirty="0">
                <a:solidFill>
                  <a:srgbClr val="9D998E"/>
                </a:solidFill>
                <a:latin typeface="Consolas" pitchFamily="34" charset="0"/>
                <a:ea typeface="Consolas" pitchFamily="34" charset="-122"/>
                <a:cs typeface="Consolas" pitchFamily="34" charset="-120"/>
              </a:rPr>
              <a:t>INSIDE THE COLONY</a:t>
            </a:r>
            <a:endParaRPr lang="en-US" sz="1000" dirty="0"/>
          </a:p>
        </p:txBody>
      </p:sp>
      <p:sp>
        <p:nvSpPr>
          <p:cNvPr id="3" name="Text 4"/>
          <p:cNvSpPr/>
          <p:nvPr>
            <p:ph idx="106" type="title" hasCustomPrompt="1"/>
          </p:nvPr>
        </p:nvSpPr>
        <p:spPr>
          <a:xfrm>
            <a:off x="548640" y="1783080"/>
            <a:ext cx="11091672" cy="914400"/>
          </a:xfrm>
          <a:prstGeom prst="rect">
            <a:avLst/>
          </a:prstGeom>
          <a:noFill/>
          <a:ln/>
        </p:spPr>
        <p:txBody>
          <a:bodyPr wrap="square" lIns="0" tIns="0" rIns="0" bIns="0" rtlCol="0"/>
          <a:lstStyle/>
          <a:p>
            <a:pPr algn="l" indent="0" marL="0">
              <a:buNone/>
            </a:pPr>
            <a:r>
              <a:rPr lang="en-US" sz="3600" dirty="0">
                <a:solidFill>
                  <a:srgbClr val="F0EDE6"/>
                </a:solidFill>
                <a:latin typeface="Calibri Light" pitchFamily="34" charset="0"/>
                <a:ea typeface="Calibri Light" pitchFamily="34" charset="-122"/>
                <a:cs typeface="Calibri Light" pitchFamily="34" charset="-120"/>
              </a:rPr>
              <a:t>A closed-loop economic infrastructure.</a:t>
            </a:r>
            <a:endParaRPr lang="en-US" sz="3600" dirty="0"/>
          </a:p>
        </p:txBody>
      </p:sp>
      <p:sp>
        <p:nvSpPr>
          <p:cNvPr id="4" name="Text 2"/>
          <p:cNvSpPr/>
          <p:nvPr/>
        </p:nvSpPr>
        <p:spPr>
          <a:xfrm>
            <a:off x="548640" y="3017520"/>
            <a:ext cx="914400" cy="365760"/>
          </a:xfrm>
          <a:prstGeom prst="rect">
            <a:avLst/>
          </a:prstGeom>
          <a:noFill/>
          <a:ln/>
        </p:spPr>
        <p:txBody>
          <a:bodyPr wrap="square" lIns="0" tIns="0" rIns="0" bIns="0" rtlCol="0" anchor="ctr"/>
          <a:lstStyle/>
          <a:p>
            <a:pPr indent="0" marL="0">
              <a:buNone/>
            </a:pPr>
            <a:r>
              <a:rPr lang="en-US" sz="1100" spc="600" kern="0" dirty="0">
                <a:solidFill>
                  <a:srgbClr val="C58A4D"/>
                </a:solidFill>
                <a:latin typeface="Consolas" pitchFamily="34" charset="0"/>
                <a:ea typeface="Consolas" pitchFamily="34" charset="-122"/>
                <a:cs typeface="Consolas" pitchFamily="34" charset="-120"/>
              </a:rPr>
              <a:t>01</a:t>
            </a:r>
            <a:endParaRPr lang="en-US" sz="1100" dirty="0"/>
          </a:p>
        </p:txBody>
      </p:sp>
      <p:sp>
        <p:nvSpPr>
          <p:cNvPr id="5" name="Shape 3"/>
          <p:cNvSpPr/>
          <p:nvPr/>
        </p:nvSpPr>
        <p:spPr>
          <a:xfrm>
            <a:off x="548640" y="3383280"/>
            <a:ext cx="457200" cy="0"/>
          </a:xfrm>
          <a:prstGeom prst="line">
            <a:avLst/>
          </a:prstGeom>
          <a:noFill/>
          <a:ln w="12700">
            <a:solidFill>
              <a:srgbClr val="C58A4D"/>
            </a:solidFill>
            <a:prstDash val="solid"/>
          </a:ln>
        </p:spPr>
      </p:sp>
      <p:sp>
        <p:nvSpPr>
          <p:cNvPr id="6" name="Text 4"/>
          <p:cNvSpPr/>
          <p:nvPr/>
        </p:nvSpPr>
        <p:spPr>
          <a:xfrm>
            <a:off x="548640" y="3611880"/>
            <a:ext cx="3474720" cy="822960"/>
          </a:xfrm>
          <a:prstGeom prst="rect">
            <a:avLst/>
          </a:prstGeom>
          <a:noFill/>
          <a:ln/>
        </p:spPr>
        <p:txBody>
          <a:bodyPr wrap="square" lIns="0" tIns="0" rIns="0" bIns="0" rtlCol="0" anchor="ctr"/>
          <a:lstStyle/>
          <a:p>
            <a:pPr indent="0" marL="0">
              <a:lnSpc>
                <a:spcPct val="120000"/>
              </a:lnSpc>
              <a:buNone/>
            </a:pPr>
            <a:r>
              <a:rPr lang="en-US" sz="1700" b="1" dirty="0">
                <a:solidFill>
                  <a:srgbClr val="F0EDE6"/>
                </a:solidFill>
                <a:latin typeface="Calibri" pitchFamily="34" charset="0"/>
                <a:ea typeface="Calibri" pitchFamily="34" charset="-122"/>
                <a:cs typeface="Calibri" pitchFamily="34" charset="-120"/>
              </a:rPr>
              <a:t>MOND is the only currency</a:t>
            </a:r>
            <a:endParaRPr lang="en-US" sz="1700" dirty="0"/>
          </a:p>
        </p:txBody>
      </p:sp>
      <p:sp>
        <p:nvSpPr>
          <p:cNvPr id="7" name="Text 5"/>
          <p:cNvSpPr/>
          <p:nvPr/>
        </p:nvSpPr>
        <p:spPr>
          <a:xfrm>
            <a:off x="548640" y="4480560"/>
            <a:ext cx="3474720" cy="1645920"/>
          </a:xfrm>
          <a:prstGeom prst="rect">
            <a:avLst/>
          </a:prstGeom>
          <a:noFill/>
          <a:ln/>
        </p:spPr>
        <p:txBody>
          <a:bodyPr wrap="square" lIns="0" tIns="0" rIns="0" bIns="0" rtlCol="0" anchor="ctr"/>
          <a:lstStyle/>
          <a:p>
            <a:pPr indent="0" marL="0">
              <a:lnSpc>
                <a:spcPct val="150000"/>
              </a:lnSpc>
              <a:buNone/>
            </a:pPr>
            <a:r>
              <a:rPr lang="en-US" sz="1200" dirty="0">
                <a:solidFill>
                  <a:srgbClr val="F0EDE6">
                    <a:alpha val="70000"/>
                  </a:srgbClr>
                </a:solidFill>
                <a:latin typeface="Calibri" pitchFamily="34" charset="0"/>
                <a:ea typeface="Calibri" pitchFamily="34" charset="-122"/>
                <a:cs typeface="Calibri" pitchFamily="34" charset="-120"/>
              </a:rPr>
              <a:t>All transactions inside the colony settle in MOND. The Fisc converts at the boundary.</a:t>
            </a:r>
            <a:endParaRPr lang="en-US" sz="1200" dirty="0"/>
          </a:p>
        </p:txBody>
      </p:sp>
      <p:sp>
        <p:nvSpPr>
          <p:cNvPr id="8" name="Text 6"/>
          <p:cNvSpPr/>
          <p:nvPr/>
        </p:nvSpPr>
        <p:spPr>
          <a:xfrm>
            <a:off x="4389120" y="3017520"/>
            <a:ext cx="914400" cy="365760"/>
          </a:xfrm>
          <a:prstGeom prst="rect">
            <a:avLst/>
          </a:prstGeom>
          <a:noFill/>
          <a:ln/>
        </p:spPr>
        <p:txBody>
          <a:bodyPr wrap="square" lIns="0" tIns="0" rIns="0" bIns="0" rtlCol="0" anchor="ctr"/>
          <a:lstStyle/>
          <a:p>
            <a:pPr indent="0" marL="0">
              <a:buNone/>
            </a:pPr>
            <a:r>
              <a:rPr lang="en-US" sz="1100" spc="600" kern="0" dirty="0">
                <a:solidFill>
                  <a:srgbClr val="C58A4D"/>
                </a:solidFill>
                <a:latin typeface="Consolas" pitchFamily="34" charset="0"/>
                <a:ea typeface="Consolas" pitchFamily="34" charset="-122"/>
                <a:cs typeface="Consolas" pitchFamily="34" charset="-120"/>
              </a:rPr>
              <a:t>02</a:t>
            </a:r>
            <a:endParaRPr lang="en-US" sz="1100" dirty="0"/>
          </a:p>
        </p:txBody>
      </p:sp>
      <p:sp>
        <p:nvSpPr>
          <p:cNvPr id="9" name="Shape 7"/>
          <p:cNvSpPr/>
          <p:nvPr/>
        </p:nvSpPr>
        <p:spPr>
          <a:xfrm>
            <a:off x="4389120" y="3383280"/>
            <a:ext cx="457200" cy="0"/>
          </a:xfrm>
          <a:prstGeom prst="line">
            <a:avLst/>
          </a:prstGeom>
          <a:noFill/>
          <a:ln w="12700">
            <a:solidFill>
              <a:srgbClr val="C58A4D"/>
            </a:solidFill>
            <a:prstDash val="solid"/>
          </a:ln>
        </p:spPr>
      </p:sp>
      <p:sp>
        <p:nvSpPr>
          <p:cNvPr id="10" name="Text 8"/>
          <p:cNvSpPr/>
          <p:nvPr/>
        </p:nvSpPr>
        <p:spPr>
          <a:xfrm>
            <a:off x="4389120" y="3611880"/>
            <a:ext cx="3474720" cy="822960"/>
          </a:xfrm>
          <a:prstGeom prst="rect">
            <a:avLst/>
          </a:prstGeom>
          <a:noFill/>
          <a:ln/>
        </p:spPr>
        <p:txBody>
          <a:bodyPr wrap="square" lIns="0" tIns="0" rIns="0" bIns="0" rtlCol="0" anchor="ctr"/>
          <a:lstStyle/>
          <a:p>
            <a:pPr indent="0" marL="0">
              <a:lnSpc>
                <a:spcPct val="120000"/>
              </a:lnSpc>
              <a:buNone/>
            </a:pPr>
            <a:r>
              <a:rPr lang="en-US" sz="1700" b="1" dirty="0">
                <a:solidFill>
                  <a:srgbClr val="F0EDE6"/>
                </a:solidFill>
                <a:latin typeface="Calibri" pitchFamily="34" charset="0"/>
                <a:ea typeface="Calibri" pitchFamily="34" charset="-122"/>
                <a:cs typeface="Calibri" pitchFamily="34" charset="-120"/>
              </a:rPr>
              <a:t>Every citizen is a shareholder</a:t>
            </a:r>
            <a:endParaRPr lang="en-US" sz="1700" dirty="0"/>
          </a:p>
        </p:txBody>
      </p:sp>
      <p:sp>
        <p:nvSpPr>
          <p:cNvPr id="11" name="Text 9"/>
          <p:cNvSpPr/>
          <p:nvPr/>
        </p:nvSpPr>
        <p:spPr>
          <a:xfrm>
            <a:off x="4389120" y="4480560"/>
            <a:ext cx="3474720" cy="1645920"/>
          </a:xfrm>
          <a:prstGeom prst="rect">
            <a:avLst/>
          </a:prstGeom>
          <a:noFill/>
          <a:ln/>
        </p:spPr>
        <p:txBody>
          <a:bodyPr wrap="square" lIns="0" tIns="0" rIns="0" bIns="0" rtlCol="0" anchor="ctr"/>
          <a:lstStyle/>
          <a:p>
            <a:pPr indent="0" marL="0">
              <a:lnSpc>
                <a:spcPct val="150000"/>
              </a:lnSpc>
              <a:buNone/>
            </a:pPr>
            <a:r>
              <a:rPr lang="en-US" sz="1200" dirty="0">
                <a:solidFill>
                  <a:srgbClr val="F0EDE6">
                    <a:alpha val="70000"/>
                  </a:srgbClr>
                </a:solidFill>
                <a:latin typeface="Calibri" pitchFamily="34" charset="0"/>
                <a:ea typeface="Calibri" pitchFamily="34" charset="-122"/>
                <a:cs typeface="Calibri" pitchFamily="34" charset="-120"/>
              </a:rPr>
              <a:t>Income arrives through share dividends, not wages. The protocol replaces both labour markets and welfare.</a:t>
            </a:r>
            <a:endParaRPr lang="en-US" sz="1200" dirty="0"/>
          </a:p>
        </p:txBody>
      </p:sp>
      <p:sp>
        <p:nvSpPr>
          <p:cNvPr id="12" name="Text 10"/>
          <p:cNvSpPr/>
          <p:nvPr/>
        </p:nvSpPr>
        <p:spPr>
          <a:xfrm>
            <a:off x="8229600" y="3017520"/>
            <a:ext cx="914400" cy="365760"/>
          </a:xfrm>
          <a:prstGeom prst="rect">
            <a:avLst/>
          </a:prstGeom>
          <a:noFill/>
          <a:ln/>
        </p:spPr>
        <p:txBody>
          <a:bodyPr wrap="square" lIns="0" tIns="0" rIns="0" bIns="0" rtlCol="0" anchor="ctr"/>
          <a:lstStyle/>
          <a:p>
            <a:pPr indent="0" marL="0">
              <a:buNone/>
            </a:pPr>
            <a:r>
              <a:rPr lang="en-US" sz="1100" spc="600" kern="0" dirty="0">
                <a:solidFill>
                  <a:srgbClr val="C58A4D"/>
                </a:solidFill>
                <a:latin typeface="Consolas" pitchFamily="34" charset="0"/>
                <a:ea typeface="Consolas" pitchFamily="34" charset="-122"/>
                <a:cs typeface="Consolas" pitchFamily="34" charset="-120"/>
              </a:rPr>
              <a:t>03</a:t>
            </a:r>
            <a:endParaRPr lang="en-US" sz="1100" dirty="0"/>
          </a:p>
        </p:txBody>
      </p:sp>
      <p:sp>
        <p:nvSpPr>
          <p:cNvPr id="13" name="Shape 11"/>
          <p:cNvSpPr/>
          <p:nvPr/>
        </p:nvSpPr>
        <p:spPr>
          <a:xfrm>
            <a:off x="8229600" y="3383280"/>
            <a:ext cx="457200" cy="0"/>
          </a:xfrm>
          <a:prstGeom prst="line">
            <a:avLst/>
          </a:prstGeom>
          <a:noFill/>
          <a:ln w="12700">
            <a:solidFill>
              <a:srgbClr val="C58A4D"/>
            </a:solidFill>
            <a:prstDash val="solid"/>
          </a:ln>
        </p:spPr>
      </p:sp>
      <p:sp>
        <p:nvSpPr>
          <p:cNvPr id="14" name="Text 12"/>
          <p:cNvSpPr/>
          <p:nvPr/>
        </p:nvSpPr>
        <p:spPr>
          <a:xfrm>
            <a:off x="8229600" y="3611880"/>
            <a:ext cx="3474720" cy="822960"/>
          </a:xfrm>
          <a:prstGeom prst="rect">
            <a:avLst/>
          </a:prstGeom>
          <a:noFill/>
          <a:ln/>
        </p:spPr>
        <p:txBody>
          <a:bodyPr wrap="square" lIns="0" tIns="0" rIns="0" bIns="0" rtlCol="0" anchor="ctr"/>
          <a:lstStyle/>
          <a:p>
            <a:pPr indent="0" marL="0">
              <a:lnSpc>
                <a:spcPct val="120000"/>
              </a:lnSpc>
              <a:buNone/>
            </a:pPr>
            <a:r>
              <a:rPr lang="en-US" sz="1700" b="1" dirty="0">
                <a:solidFill>
                  <a:srgbClr val="F0EDE6"/>
                </a:solidFill>
                <a:latin typeface="Calibri" pitchFamily="34" charset="0"/>
                <a:ea typeface="Calibri" pitchFamily="34" charset="-122"/>
                <a:cs typeface="Calibri" pitchFamily="34" charset="-120"/>
              </a:rPr>
              <a:t>Stable real-terms purchasing power</a:t>
            </a:r>
            <a:endParaRPr lang="en-US" sz="1700" dirty="0"/>
          </a:p>
        </p:txBody>
      </p:sp>
      <p:sp>
        <p:nvSpPr>
          <p:cNvPr id="15" name="Text 13"/>
          <p:cNvSpPr/>
          <p:nvPr/>
        </p:nvSpPr>
        <p:spPr>
          <a:xfrm>
            <a:off x="8229600" y="4480560"/>
            <a:ext cx="3474720" cy="1645920"/>
          </a:xfrm>
          <a:prstGeom prst="rect">
            <a:avLst/>
          </a:prstGeom>
          <a:noFill/>
          <a:ln/>
        </p:spPr>
        <p:txBody>
          <a:bodyPr wrap="square" lIns="0" tIns="0" rIns="0" bIns="0" rtlCol="0" anchor="ctr"/>
          <a:lstStyle/>
          <a:p>
            <a:pPr indent="0" marL="0">
              <a:lnSpc>
                <a:spcPct val="150000"/>
              </a:lnSpc>
              <a:buNone/>
            </a:pPr>
            <a:r>
              <a:rPr lang="en-US" sz="1200" dirty="0">
                <a:solidFill>
                  <a:srgbClr val="F0EDE6">
                    <a:alpha val="70000"/>
                  </a:srgbClr>
                </a:solidFill>
                <a:latin typeface="Calibri" pitchFamily="34" charset="0"/>
                <a:ea typeface="Calibri" pitchFamily="34" charset="-122"/>
                <a:cs typeface="Calibri" pitchFamily="34" charset="-120"/>
              </a:rPr>
              <a:t>Citizens are insulated from outside-economy volatility. Comfortable life clears regardless of legacy conditions.</a:t>
            </a:r>
            <a:endParaRPr lang="en-US" sz="1200" dirty="0"/>
          </a:p>
        </p:txBody>
      </p:sp>
      <p:sp>
        <p:nvSpPr>
          <p:cNvPr id="16" name="Text 4"/>
          <p:cNvSpPr/>
          <p:nvPr>
            <p:ph idx="107" type="body" hasCustomPrompt="1"/>
          </p:nvPr>
        </p:nvSpPr>
        <p:spPr>
          <a:xfrm>
            <a:off x="548640" y="2926080"/>
            <a:ext cx="11091672" cy="3291840"/>
          </a:xfrm>
          <a:prstGeom prst="rect">
            <a:avLst/>
          </a:prstGeom>
          <a:noFill/>
          <a:ln/>
        </p:spPr>
        <p:txBody>
          <a:bodyPr wrap="square" lIns="0" tIns="0" rIns="0" bIns="0" rtlCol="0"/>
          <a:lstStyle/>
          <a:p>
            <a:pPr marL="342900" indent="-342900">
              <a:spcAft>
                <a:spcPts val="800"/>
              </a:spcAft>
              <a:buSzPct val="100000"/>
              <a:buChar char="■"/>
            </a:pPr>
            <a:endParaRPr lang="en-US" sz="1600" dirty="0"/>
          </a:p>
        </p:txBody>
      </p:sp>
      <p:sp>
        <p:nvSpPr>
          <p:cNvPr id="25" name="Slide Number Placeholder 0"/>
          <p:cNvSpPr>
            <a:spLocks noGrp="1"/>
          </p:cNvSpPr>
          <p:nvPr>
            <p:ph type="sldNum" sz="quarter" idx="4294967295"/>
          </p:nvPr>
        </p:nvSpPr>
        <p:spPr>
          <a:xfrm>
            <a:off x="8897112" y="6537960"/>
            <a:ext cx="2743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9D998E"/>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023360" y="2286000"/>
            <a:ext cx="4114800" cy="1371600"/>
          </a:xfrm>
          <a:prstGeom prst="rect">
            <a:avLst/>
          </a:prstGeom>
        </p:spPr>
      </p:pic>
      <p:sp>
        <p:nvSpPr>
          <p:cNvPr id="3" name="Text 0"/>
          <p:cNvSpPr/>
          <p:nvPr/>
        </p:nvSpPr>
        <p:spPr>
          <a:xfrm>
            <a:off x="548640" y="4114800"/>
            <a:ext cx="11091672" cy="548640"/>
          </a:xfrm>
          <a:prstGeom prst="rect">
            <a:avLst/>
          </a:prstGeom>
          <a:noFill/>
          <a:ln/>
        </p:spPr>
        <p:txBody>
          <a:bodyPr wrap="square" lIns="0" tIns="0" rIns="0" bIns="0" rtlCol="0" anchor="ctr"/>
          <a:lstStyle/>
          <a:p>
            <a:pPr algn="ctr" indent="0" marL="0">
              <a:buNone/>
            </a:pPr>
            <a:r>
              <a:rPr lang="en-US" sz="3200" dirty="0">
                <a:solidFill>
                  <a:srgbClr val="F0EDE6"/>
                </a:solidFill>
                <a:latin typeface="Calibri Light" pitchFamily="34" charset="0"/>
                <a:ea typeface="Calibri Light" pitchFamily="34" charset="-122"/>
                <a:cs typeface="Calibri Light" pitchFamily="34" charset="-120"/>
              </a:rPr>
              <a:t>The unit of account.</a:t>
            </a:r>
            <a:endParaRPr lang="en-US" sz="3200" dirty="0"/>
          </a:p>
        </p:txBody>
      </p:sp>
      <p:sp>
        <p:nvSpPr>
          <p:cNvPr id="4" name="Text 1"/>
          <p:cNvSpPr/>
          <p:nvPr/>
        </p:nvSpPr>
        <p:spPr>
          <a:xfrm>
            <a:off x="548640" y="4709160"/>
            <a:ext cx="11091672" cy="457200"/>
          </a:xfrm>
          <a:prstGeom prst="rect">
            <a:avLst/>
          </a:prstGeom>
          <a:noFill/>
          <a:ln/>
        </p:spPr>
        <p:txBody>
          <a:bodyPr wrap="square" lIns="0" tIns="0" rIns="0" bIns="0" rtlCol="0" anchor="ctr"/>
          <a:lstStyle/>
          <a:p>
            <a:pPr algn="ctr" indent="0" marL="0">
              <a:buNone/>
            </a:pPr>
            <a:r>
              <a:rPr lang="en-US" sz="1400" dirty="0">
                <a:solidFill>
                  <a:srgbClr val="F0EDE6">
                    <a:alpha val="70000"/>
                  </a:srgbClr>
                </a:solidFill>
                <a:latin typeface="Calibri" pitchFamily="34" charset="0"/>
                <a:ea typeface="Calibri" pitchFamily="34" charset="-122"/>
                <a:cs typeface="Calibri" pitchFamily="34" charset="-120"/>
              </a:rPr>
              <a:t>Closed-loop, non-tradeable outside the protocol, USDC-backed at the boundary.</a:t>
            </a:r>
            <a:endParaRPr lang="en-US" sz="1400" dirty="0"/>
          </a:p>
        </p:txBody>
      </p:sp>
      <p:sp>
        <p:nvSpPr>
          <p:cNvPr id="5" name="Shape 2"/>
          <p:cNvSpPr/>
          <p:nvPr/>
        </p:nvSpPr>
        <p:spPr>
          <a:xfrm>
            <a:off x="5394960" y="5440680"/>
            <a:ext cx="1371600" cy="0"/>
          </a:xfrm>
          <a:prstGeom prst="line">
            <a:avLst/>
          </a:prstGeom>
          <a:noFill/>
          <a:ln w="15875">
            <a:solidFill>
              <a:srgbClr val="C58A4D"/>
            </a:solidFill>
            <a:prstDash val="solid"/>
          </a:ln>
        </p:spPr>
      </p:sp>
      <p:sp>
        <p:nvSpPr>
          <p:cNvPr id="6" name="Shape 3"/>
          <p:cNvSpPr/>
          <p:nvPr/>
        </p:nvSpPr>
        <p:spPr>
          <a:xfrm>
            <a:off x="548640" y="6446520"/>
            <a:ext cx="11091672" cy="0"/>
          </a:xfrm>
          <a:prstGeom prst="line">
            <a:avLst/>
          </a:prstGeom>
          <a:noFill/>
          <a:ln w="6350">
            <a:solidFill>
              <a:srgbClr val="2A2A2A"/>
            </a:solidFill>
            <a:prstDash val="solid"/>
          </a:ln>
        </p:spPr>
      </p:sp>
      <p:sp>
        <p:nvSpPr>
          <p:cNvPr id="7" name="Text 4"/>
          <p:cNvSpPr/>
          <p:nvPr/>
        </p:nvSpPr>
        <p:spPr>
          <a:xfrm>
            <a:off x="548640" y="6537960"/>
            <a:ext cx="11091672" cy="228600"/>
          </a:xfrm>
          <a:prstGeom prst="rect">
            <a:avLst/>
          </a:prstGeom>
          <a:noFill/>
          <a:ln/>
        </p:spPr>
        <p:txBody>
          <a:bodyPr wrap="square" lIns="0" tIns="0" rIns="0" bIns="0" rtlCol="0" anchor="ctr"/>
          <a:lstStyle/>
          <a:p>
            <a:pPr algn="ctr" indent="0" marL="0">
              <a:buNone/>
            </a:pPr>
            <a:r>
              <a:rPr lang="en-US" sz="900" spc="400" kern="0" dirty="0">
                <a:solidFill>
                  <a:srgbClr val="9D998E"/>
                </a:solidFill>
                <a:latin typeface="Consolas" pitchFamily="34" charset="0"/>
                <a:ea typeface="Consolas" pitchFamily="34" charset="-122"/>
                <a:cs typeface="Consolas" pitchFamily="34" charset="-120"/>
              </a:rPr>
              <a:t>MILGROM 1983  ·  MODIFIED NEWTONIAN DYNAMICS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4"/>
          <p:cNvSpPr/>
          <p:nvPr>
            <p:ph idx="105" type="body" hasCustomPrompt="1"/>
          </p:nvPr>
        </p:nvSpPr>
        <p:spPr>
          <a:xfrm>
            <a:off x="548640" y="1417320"/>
            <a:ext cx="11091672" cy="365760"/>
          </a:xfrm>
          <a:prstGeom prst="rect">
            <a:avLst/>
          </a:prstGeom>
          <a:noFill/>
          <a:ln/>
        </p:spPr>
        <p:txBody>
          <a:bodyPr wrap="square" lIns="0" tIns="0" rIns="0" bIns="0" rtlCol="0"/>
          <a:lstStyle/>
          <a:p>
            <a:pPr indent="0" marL="0">
              <a:buNone/>
            </a:pPr>
            <a:r>
              <a:rPr lang="en-US" sz="1000" spc="300" kern="0" dirty="0">
                <a:solidFill>
                  <a:srgbClr val="7A7568"/>
                </a:solidFill>
                <a:latin typeface="Consolas" pitchFamily="34" charset="0"/>
                <a:ea typeface="Consolas" pitchFamily="34" charset="-122"/>
                <a:cs typeface="Consolas" pitchFamily="34" charset="-120"/>
              </a:rPr>
              <a:t>THE PROTOCOL</a:t>
            </a:r>
            <a:endParaRPr lang="en-US" sz="1000" dirty="0"/>
          </a:p>
        </p:txBody>
      </p:sp>
      <p:sp>
        <p:nvSpPr>
          <p:cNvPr id="3" name="Text 4"/>
          <p:cNvSpPr/>
          <p:nvPr>
            <p:ph idx="106" type="title" hasCustomPrompt="1"/>
          </p:nvPr>
        </p:nvSpPr>
        <p:spPr>
          <a:xfrm>
            <a:off x="548640" y="1783080"/>
            <a:ext cx="11091672" cy="914400"/>
          </a:xfrm>
          <a:prstGeom prst="rect">
            <a:avLst/>
          </a:prstGeom>
          <a:noFill/>
          <a:ln/>
        </p:spPr>
        <p:txBody>
          <a:bodyPr wrap="square" lIns="0" tIns="0" rIns="0" bIns="0" rtlCol="0"/>
          <a:lstStyle/>
          <a:p>
            <a:pPr algn="l" indent="0" marL="0">
              <a:buNone/>
            </a:pPr>
            <a:r>
              <a:rPr lang="en-US" sz="3600" dirty="0">
                <a:solidFill>
                  <a:srgbClr val="0A0A0A"/>
                </a:solidFill>
                <a:latin typeface="Calibri Light" pitchFamily="34" charset="0"/>
                <a:ea typeface="Calibri Light" pitchFamily="34" charset="-122"/>
                <a:cs typeface="Calibri Light" pitchFamily="34" charset="-120"/>
              </a:rPr>
              <a:t>How the colony economy works.</a:t>
            </a:r>
            <a:endParaRPr lang="en-US" sz="3600" dirty="0"/>
          </a:p>
        </p:txBody>
      </p:sp>
      <p:sp>
        <p:nvSpPr>
          <p:cNvPr id="4" name="Text 4"/>
          <p:cNvSpPr/>
          <p:nvPr>
            <p:ph idx="107" type="body" hasCustomPrompt="1"/>
          </p:nvPr>
        </p:nvSpPr>
        <p:spPr>
          <a:xfrm>
            <a:off x="548640" y="2926080"/>
            <a:ext cx="11091672" cy="3291840"/>
          </a:xfrm>
          <a:prstGeom prst="rect">
            <a:avLst/>
          </a:prstGeom>
          <a:noFill/>
          <a:ln/>
        </p:spPr>
        <p:txBody>
          <a:bodyPr wrap="square" lIns="0" tIns="0" rIns="0" bIns="0" rtlCol="0"/>
          <a:lstStyle/>
          <a:p>
            <a:pPr marL="342900" indent="-342900">
              <a:spcAft>
                <a:spcPts val="800"/>
              </a:spcAft>
              <a:buSzPct val="100000"/>
              <a:buChar char="•"/>
            </a:pPr>
            <a:r>
              <a:rPr lang="en-US" sz="1600" b="1" dirty="0">
                <a:solidFill>
                  <a:srgbClr val="0A0A0A"/>
                </a:solidFill>
                <a:latin typeface="Calibri" pitchFamily="34" charset="0"/>
                <a:ea typeface="Calibri" pitchFamily="34" charset="-122"/>
                <a:cs typeface="Calibri" pitchFamily="34" charset="-120"/>
              </a:rPr>
              <a:t>Currency layer</a:t>
            </a:r>
            <a:endParaRPr lang="en-US" sz="1600" dirty="0"/>
          </a:p>
          <a:p>
            <a:pPr lvl="1" marL="685800"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MOND is the sole unit of account</a:t>
            </a:r>
            <a:endParaRPr lang="en-US" sz="1600" dirty="0"/>
          </a:p>
          <a:p>
            <a:pPr lvl="2" marL="1028700"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Backed 1:1 by USDC at the boundary</a:t>
            </a:r>
            <a:endParaRPr lang="en-US" sz="1600" dirty="0"/>
          </a:p>
          <a:p>
            <a:pPr lvl="2" marL="1028700"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Non-tradeable outside the protocol</a:t>
            </a:r>
            <a:endParaRPr lang="en-US" sz="1600" dirty="0"/>
          </a:p>
          <a:p>
            <a:pPr lvl="2" marL="1028700"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Auto-converted to USDC on external transactions</a:t>
            </a:r>
            <a:endParaRPr lang="en-US" sz="1600" dirty="0"/>
          </a:p>
          <a:p>
            <a:pPr marL="342900" indent="-342900">
              <a:spcAft>
                <a:spcPts val="800"/>
              </a:spcAft>
              <a:buSzPct val="100000"/>
              <a:buChar char="•"/>
            </a:pPr>
            <a:r>
              <a:rPr lang="en-US" sz="1600" b="1" dirty="0">
                <a:solidFill>
                  <a:srgbClr val="0A0A0A"/>
                </a:solidFill>
                <a:latin typeface="Calibri" pitchFamily="34" charset="0"/>
                <a:ea typeface="Calibri" pitchFamily="34" charset="-122"/>
                <a:cs typeface="Calibri" pitchFamily="34" charset="-120"/>
              </a:rPr>
              <a:t>Income layer</a:t>
            </a:r>
            <a:endParaRPr lang="en-US" sz="1600" dirty="0"/>
          </a:p>
          <a:p>
            <a:pPr lvl="1" marL="685800"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Citizens receive share dividends, not wages</a:t>
            </a:r>
            <a:endParaRPr lang="en-US" sz="1600" dirty="0"/>
          </a:p>
          <a:p>
            <a:pPr lvl="2" marL="1028700"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Founders and investors hold permanent shares</a:t>
            </a:r>
            <a:endParaRPr lang="en-US" sz="1600" dirty="0"/>
          </a:p>
          <a:p>
            <a:pPr lvl="2" marL="1028700"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Workers receive time-limited shares (crypto-native salary)</a:t>
            </a:r>
            <a:endParaRPr lang="en-US" sz="1600" dirty="0"/>
          </a:p>
        </p:txBody>
      </p:sp>
      <p:sp>
        <p:nvSpPr>
          <p:cNvPr id="25" name="Slide Number Placeholder 0"/>
          <p:cNvSpPr>
            <a:spLocks noGrp="1"/>
          </p:cNvSpPr>
          <p:nvPr>
            <p:ph type="sldNum" sz="quarter" idx="4294967295"/>
          </p:nvPr>
        </p:nvSpPr>
        <p:spPr>
          <a:xfrm>
            <a:off x="8897112" y="6537960"/>
            <a:ext cx="2743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A7568"/>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4"/>
          <p:cNvSpPr/>
          <p:nvPr>
            <p:ph idx="105" type="body" hasCustomPrompt="1"/>
          </p:nvPr>
        </p:nvSpPr>
        <p:spPr>
          <a:xfrm>
            <a:off x="548640" y="1417320"/>
            <a:ext cx="11091672" cy="365760"/>
          </a:xfrm>
          <a:prstGeom prst="rect">
            <a:avLst/>
          </a:prstGeom>
          <a:noFill/>
          <a:ln/>
        </p:spPr>
        <p:txBody>
          <a:bodyPr wrap="square" lIns="0" tIns="0" rIns="0" bIns="0" rtlCol="0"/>
          <a:lstStyle/>
          <a:p>
            <a:pPr indent="0" marL="0">
              <a:buNone/>
            </a:pPr>
            <a:r>
              <a:rPr lang="en-US" sz="1000" spc="300" kern="0" dirty="0">
                <a:solidFill>
                  <a:srgbClr val="7A7568"/>
                </a:solidFill>
                <a:latin typeface="Consolas" pitchFamily="34" charset="0"/>
                <a:ea typeface="Consolas" pitchFamily="34" charset="-122"/>
                <a:cs typeface="Consolas" pitchFamily="34" charset="-120"/>
              </a:rPr>
              <a:t>PROJECTED COLONY GROWTH</a:t>
            </a:r>
            <a:endParaRPr lang="en-US" sz="1000" dirty="0"/>
          </a:p>
        </p:txBody>
      </p:sp>
      <p:sp>
        <p:nvSpPr>
          <p:cNvPr id="3" name="Text 4"/>
          <p:cNvSpPr/>
          <p:nvPr>
            <p:ph idx="106" type="title" hasCustomPrompt="1"/>
          </p:nvPr>
        </p:nvSpPr>
        <p:spPr>
          <a:xfrm>
            <a:off x="548640" y="1783080"/>
            <a:ext cx="11091672" cy="914400"/>
          </a:xfrm>
          <a:prstGeom prst="rect">
            <a:avLst/>
          </a:prstGeom>
          <a:noFill/>
          <a:ln/>
        </p:spPr>
        <p:txBody>
          <a:bodyPr wrap="square" lIns="0" tIns="0" rIns="0" bIns="0" rtlCol="0"/>
          <a:lstStyle/>
          <a:p>
            <a:pPr algn="l" indent="0" marL="0">
              <a:buNone/>
            </a:pPr>
            <a:r>
              <a:rPr lang="en-US" sz="3600" dirty="0">
                <a:solidFill>
                  <a:srgbClr val="0A0A0A"/>
                </a:solidFill>
                <a:latin typeface="Calibri Light" pitchFamily="34" charset="0"/>
                <a:ea typeface="Calibri Light" pitchFamily="34" charset="-122"/>
                <a:cs typeface="Calibri Light" pitchFamily="34" charset="-120"/>
              </a:rPr>
              <a:t>MOND supply, 10-year horizon.</a:t>
            </a:r>
            <a:endParaRPr lang="en-US" sz="3600" dirty="0"/>
          </a:p>
        </p:txBody>
      </p:sp>
      <p:graphicFrame>
        <p:nvGraphicFramePr>
          <p:cNvPr id="4" name="Chart 0" descr=""/>
          <p:cNvGraphicFramePr/>
          <p:nvPr/>
        </p:nvGraphicFramePr>
        <p:xfrm>
          <a:off x="548640" y="2926080"/>
          <a:ext cx="11091672" cy="3200400"/>
        </p:xfrm>
        <a:graphic xmlns:a="http://schemas.openxmlformats.org/drawingml/2006/main">
          <a:graphicData uri="http://schemas.openxmlformats.org/drawingml/2006/chart">
            <c:chart xmlns:c="http://schemas.openxmlformats.org/drawingml/2006/chart" r:id="rId1"/>
          </a:graphicData>
        </a:graphic>
      </p:graphicFrame>
      <p:sp>
        <p:nvSpPr>
          <p:cNvPr id="5" name="Text 4"/>
          <p:cNvSpPr/>
          <p:nvPr>
            <p:ph idx="107" type="body" hasCustomPrompt="1"/>
          </p:nvPr>
        </p:nvSpPr>
        <p:spPr>
          <a:xfrm>
            <a:off x="548640" y="2926080"/>
            <a:ext cx="11091672" cy="3291840"/>
          </a:xfrm>
          <a:prstGeom prst="rect">
            <a:avLst/>
          </a:prstGeom>
          <a:noFill/>
          <a:ln/>
        </p:spPr>
        <p:txBody>
          <a:bodyPr wrap="square" lIns="0" tIns="0" rIns="0" bIns="0" rtlCol="0"/>
          <a:lstStyle/>
          <a:p>
            <a:pPr marL="342900" indent="-342900">
              <a:spcAft>
                <a:spcPts val="800"/>
              </a:spcAft>
              <a:buSzPct val="100000"/>
              <a:buChar char="■"/>
            </a:pPr>
            <a:endParaRPr lang="en-US" sz="1600" dirty="0"/>
          </a:p>
        </p:txBody>
      </p:sp>
      <p:sp>
        <p:nvSpPr>
          <p:cNvPr id="25" name="Slide Number Placeholder 0"/>
          <p:cNvSpPr>
            <a:spLocks noGrp="1"/>
          </p:cNvSpPr>
          <p:nvPr>
            <p:ph type="sldNum" sz="quarter" idx="4294967295"/>
          </p:nvPr>
        </p:nvSpPr>
        <p:spPr>
          <a:xfrm>
            <a:off x="8897112" y="6537960"/>
            <a:ext cx="2743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A7568"/>
                </a:solidFill>
                <a:latin typeface="Consolas"/>
                <a:ea typeface="Consolas"/>
                <a:cs typeface="Consola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77240" y="914400"/>
            <a:ext cx="7315200" cy="365760"/>
          </a:xfrm>
          <a:prstGeom prst="rect">
            <a:avLst/>
          </a:prstGeom>
          <a:noFill/>
          <a:ln/>
        </p:spPr>
        <p:txBody>
          <a:bodyPr wrap="square" lIns="0" tIns="0" rIns="0" bIns="0" rtlCol="0" anchor="ctr"/>
          <a:lstStyle/>
          <a:p>
            <a:pPr indent="0" marL="0">
              <a:buNone/>
            </a:pPr>
            <a:r>
              <a:rPr lang="en-US" sz="1100" spc="600" kern="0" dirty="0">
                <a:solidFill>
                  <a:srgbClr val="C58A4D"/>
                </a:solidFill>
                <a:latin typeface="Consolas" pitchFamily="34" charset="0"/>
                <a:ea typeface="Consolas" pitchFamily="34" charset="-122"/>
                <a:cs typeface="Consolas" pitchFamily="34" charset="-120"/>
              </a:rPr>
              <a:t>THE ASK</a:t>
            </a:r>
            <a:endParaRPr lang="en-US" sz="1100" dirty="0"/>
          </a:p>
        </p:txBody>
      </p:sp>
      <p:sp>
        <p:nvSpPr>
          <p:cNvPr id="3" name="Shape 1"/>
          <p:cNvSpPr/>
          <p:nvPr/>
        </p:nvSpPr>
        <p:spPr>
          <a:xfrm>
            <a:off x="777240" y="1371600"/>
            <a:ext cx="548640" cy="0"/>
          </a:xfrm>
          <a:prstGeom prst="line">
            <a:avLst/>
          </a:prstGeom>
          <a:noFill/>
          <a:ln w="12700">
            <a:solidFill>
              <a:srgbClr val="C58A4D"/>
            </a:solidFill>
            <a:prstDash val="solid"/>
          </a:ln>
        </p:spPr>
      </p:sp>
      <p:sp>
        <p:nvSpPr>
          <p:cNvPr id="4" name="Text 2"/>
          <p:cNvSpPr/>
          <p:nvPr/>
        </p:nvSpPr>
        <p:spPr>
          <a:xfrm>
            <a:off x="777240" y="1828800"/>
            <a:ext cx="10972800" cy="1371600"/>
          </a:xfrm>
          <a:prstGeom prst="rect">
            <a:avLst/>
          </a:prstGeom>
          <a:noFill/>
          <a:ln/>
        </p:spPr>
        <p:txBody>
          <a:bodyPr wrap="square" lIns="0" tIns="0" rIns="0" bIns="0" rtlCol="0" anchor="ctr"/>
          <a:lstStyle/>
          <a:p>
            <a:pPr indent="0" marL="0">
              <a:buNone/>
            </a:pPr>
            <a:r>
              <a:rPr lang="en-US" sz="7200" dirty="0">
                <a:solidFill>
                  <a:srgbClr val="F0EDE6"/>
                </a:solidFill>
                <a:latin typeface="Calibri Light" pitchFamily="34" charset="0"/>
                <a:ea typeface="Calibri Light" pitchFamily="34" charset="-122"/>
                <a:cs typeface="Calibri Light" pitchFamily="34" charset="-120"/>
              </a:rPr>
              <a:t>Reg CF.  $1M.  $10M cap.</a:t>
            </a:r>
            <a:endParaRPr lang="en-US" sz="7200" dirty="0"/>
          </a:p>
        </p:txBody>
      </p:sp>
      <p:sp>
        <p:nvSpPr>
          <p:cNvPr id="5" name="Text 3"/>
          <p:cNvSpPr/>
          <p:nvPr/>
        </p:nvSpPr>
        <p:spPr>
          <a:xfrm>
            <a:off x="777240" y="3566160"/>
            <a:ext cx="10058400" cy="1097280"/>
          </a:xfrm>
          <a:prstGeom prst="rect">
            <a:avLst/>
          </a:prstGeom>
          <a:noFill/>
          <a:ln/>
        </p:spPr>
        <p:txBody>
          <a:bodyPr wrap="square" lIns="0" tIns="0" rIns="0" bIns="0" rtlCol="0" anchor="ctr"/>
          <a:lstStyle/>
          <a:p>
            <a:pPr indent="0" marL="0">
              <a:lnSpc>
                <a:spcPct val="140000"/>
              </a:lnSpc>
              <a:buNone/>
            </a:pPr>
            <a:r>
              <a:rPr lang="en-US" sz="1800" dirty="0">
                <a:solidFill>
                  <a:srgbClr val="F0EDE6">
                    <a:alpha val="75000"/>
                  </a:srgbClr>
                </a:solidFill>
                <a:latin typeface="Calibri" pitchFamily="34" charset="0"/>
                <a:ea typeface="Calibri" pitchFamily="34" charset="-122"/>
                <a:cs typeface="Calibri" pitchFamily="34" charset="-120"/>
              </a:rPr>
              <a:t>Wefunder. SAFE instrument. To deploy the first Earth colony, hire the founding CTO, and ship the protocol to mainnet by Q4 2026.</a:t>
            </a:r>
            <a:endParaRPr lang="en-US" sz="1800" dirty="0"/>
          </a:p>
        </p:txBody>
      </p:sp>
      <p:sp>
        <p:nvSpPr>
          <p:cNvPr id="6" name="Shape 4"/>
          <p:cNvSpPr/>
          <p:nvPr/>
        </p:nvSpPr>
        <p:spPr>
          <a:xfrm>
            <a:off x="777240" y="5120640"/>
            <a:ext cx="4114800" cy="640080"/>
          </a:xfrm>
          <a:prstGeom prst="rect">
            <a:avLst/>
          </a:prstGeom>
          <a:solidFill>
            <a:srgbClr val="C58A4D"/>
          </a:solidFill>
          <a:ln/>
        </p:spPr>
      </p:sp>
      <p:sp>
        <p:nvSpPr>
          <p:cNvPr id="7" name="Text 5"/>
          <p:cNvSpPr/>
          <p:nvPr/>
        </p:nvSpPr>
        <p:spPr>
          <a:xfrm>
            <a:off x="777240" y="5120640"/>
            <a:ext cx="4114800" cy="640080"/>
          </a:xfrm>
          <a:prstGeom prst="rect">
            <a:avLst/>
          </a:prstGeom>
          <a:noFill/>
          <a:ln/>
        </p:spPr>
        <p:txBody>
          <a:bodyPr wrap="square" lIns="0" tIns="0" rIns="0" bIns="0" rtlCol="0" anchor="ctr"/>
          <a:lstStyle/>
          <a:p>
            <a:pPr algn="ctr" indent="0" marL="0">
              <a:buNone/>
            </a:pPr>
            <a:r>
              <a:rPr lang="en-US" sz="1200" b="1" spc="400" kern="0" dirty="0">
                <a:solidFill>
                  <a:srgbClr val="0A0A0A"/>
                </a:solidFill>
                <a:latin typeface="Consolas" pitchFamily="34" charset="0"/>
                <a:ea typeface="Consolas" pitchFamily="34" charset="-122"/>
                <a:cs typeface="Consolas" pitchFamily="34" charset="-120"/>
              </a:rPr>
              <a:t>WEFUNDER.COM/AXION</a:t>
            </a:r>
            <a:endParaRPr lang="en-US" sz="1200" dirty="0"/>
          </a:p>
        </p:txBody>
      </p:sp>
      <p:sp>
        <p:nvSpPr>
          <p:cNvPr id="8" name="Shape 6"/>
          <p:cNvSpPr/>
          <p:nvPr/>
        </p:nvSpPr>
        <p:spPr>
          <a:xfrm>
            <a:off x="548640" y="6446520"/>
            <a:ext cx="11091672" cy="0"/>
          </a:xfrm>
          <a:prstGeom prst="line">
            <a:avLst/>
          </a:prstGeom>
          <a:noFill/>
          <a:ln w="6350">
            <a:solidFill>
              <a:srgbClr val="2A2A2A"/>
            </a:solidFill>
            <a:prstDash val="solid"/>
          </a:ln>
        </p:spPr>
      </p:sp>
      <p:sp>
        <p:nvSpPr>
          <p:cNvPr id="9" name="Text 7"/>
          <p:cNvSpPr/>
          <p:nvPr/>
        </p:nvSpPr>
        <p:spPr>
          <a:xfrm>
            <a:off x="548640" y="6537960"/>
            <a:ext cx="11091672" cy="228600"/>
          </a:xfrm>
          <a:prstGeom prst="rect">
            <a:avLst/>
          </a:prstGeom>
          <a:noFill/>
          <a:ln/>
        </p:spPr>
        <p:txBody>
          <a:bodyPr wrap="square" lIns="0" tIns="0" rIns="0" bIns="0" rtlCol="0" anchor="ctr"/>
          <a:lstStyle/>
          <a:p>
            <a:pPr algn="ctr" indent="0" marL="0">
              <a:buNone/>
            </a:pPr>
            <a:r>
              <a:rPr lang="en-US" sz="900" spc="400" kern="0" dirty="0">
                <a:solidFill>
                  <a:srgbClr val="9D998E"/>
                </a:solidFill>
                <a:latin typeface="Consolas" pitchFamily="34" charset="0"/>
                <a:ea typeface="Consolas" pitchFamily="34" charset="-122"/>
                <a:cs typeface="Consolas" pitchFamily="34" charset="-120"/>
              </a:rPr>
              <a:t>STEVE@AXION.FI  ·  AXION.FI</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041648" y="2743200"/>
            <a:ext cx="4114800" cy="1371600"/>
          </a:xfrm>
          <a:prstGeom prst="rect">
            <a:avLst/>
          </a:prstGeom>
        </p:spPr>
      </p:pic>
      <p:sp>
        <p:nvSpPr>
          <p:cNvPr id="3" name="Text 0"/>
          <p:cNvSpPr/>
          <p:nvPr/>
        </p:nvSpPr>
        <p:spPr>
          <a:xfrm>
            <a:off x="548640" y="4389120"/>
            <a:ext cx="11091672" cy="548640"/>
          </a:xfrm>
          <a:prstGeom prst="rect">
            <a:avLst/>
          </a:prstGeom>
          <a:noFill/>
          <a:ln/>
        </p:spPr>
        <p:txBody>
          <a:bodyPr wrap="square" lIns="0" tIns="0" rIns="0" bIns="0" rtlCol="0" anchor="ctr"/>
          <a:lstStyle/>
          <a:p>
            <a:pPr algn="ctr" indent="0" marL="0">
              <a:buNone/>
            </a:pPr>
            <a:r>
              <a:rPr lang="en-US" sz="3200" dirty="0">
                <a:solidFill>
                  <a:srgbClr val="F0EDE6"/>
                </a:solidFill>
                <a:latin typeface="Calibri Light" pitchFamily="34" charset="0"/>
                <a:ea typeface="Calibri Light" pitchFamily="34" charset="-122"/>
                <a:cs typeface="Calibri Light" pitchFamily="34" charset="-120"/>
              </a:rPr>
              <a:t>Thank you.</a:t>
            </a:r>
            <a:endParaRPr lang="en-US" sz="3200" dirty="0"/>
          </a:p>
        </p:txBody>
      </p:sp>
      <p:sp>
        <p:nvSpPr>
          <p:cNvPr id="4" name="Shape 1"/>
          <p:cNvSpPr/>
          <p:nvPr/>
        </p:nvSpPr>
        <p:spPr>
          <a:xfrm>
            <a:off x="5641848" y="5074920"/>
            <a:ext cx="914400" cy="0"/>
          </a:xfrm>
          <a:prstGeom prst="line">
            <a:avLst/>
          </a:prstGeom>
          <a:noFill/>
          <a:ln w="15875">
            <a:solidFill>
              <a:srgbClr val="C58A4D"/>
            </a:solidFill>
            <a:prstDash val="solid"/>
          </a:ln>
        </p:spPr>
      </p:sp>
      <p:sp>
        <p:nvSpPr>
          <p:cNvPr id="5" name="Text 2"/>
          <p:cNvSpPr/>
          <p:nvPr/>
        </p:nvSpPr>
        <p:spPr>
          <a:xfrm>
            <a:off x="548640" y="6537960"/>
            <a:ext cx="11091672" cy="228600"/>
          </a:xfrm>
          <a:prstGeom prst="rect">
            <a:avLst/>
          </a:prstGeom>
          <a:noFill/>
          <a:ln/>
        </p:spPr>
        <p:txBody>
          <a:bodyPr wrap="square" lIns="0" tIns="0" rIns="0" bIns="0" rtlCol="0" anchor="ctr"/>
          <a:lstStyle/>
          <a:p>
            <a:pPr algn="ctr" indent="0" marL="0">
              <a:buNone/>
            </a:pPr>
            <a:r>
              <a:rPr lang="en-US" sz="900" spc="400" kern="0" dirty="0">
                <a:solidFill>
                  <a:srgbClr val="9D998E"/>
                </a:solidFill>
                <a:latin typeface="Consolas" pitchFamily="34" charset="0"/>
                <a:ea typeface="Consolas" pitchFamily="34" charset="-122"/>
                <a:cs typeface="Consolas" pitchFamily="34" charset="-120"/>
              </a:rPr>
              <a:t>MAY 2026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4"/>
          <p:cNvSpPr/>
          <p:nvPr>
            <p:ph idx="105" type="body" hasCustomPrompt="1"/>
          </p:nvPr>
        </p:nvSpPr>
        <p:spPr>
          <a:xfrm>
            <a:off x="548640" y="1417320"/>
            <a:ext cx="11091672" cy="365760"/>
          </a:xfrm>
          <a:prstGeom prst="rect">
            <a:avLst/>
          </a:prstGeom>
          <a:noFill/>
          <a:ln/>
        </p:spPr>
        <p:txBody>
          <a:bodyPr wrap="square" lIns="0" tIns="0" rIns="0" bIns="0" rtlCol="0"/>
          <a:lstStyle/>
          <a:p>
            <a:pPr indent="0" marL="0">
              <a:buNone/>
            </a:pPr>
            <a:r>
              <a:rPr lang="en-US" sz="1000" spc="300" kern="0" dirty="0">
                <a:solidFill>
                  <a:srgbClr val="7A7568"/>
                </a:solidFill>
                <a:latin typeface="Consolas" pitchFamily="34" charset="0"/>
                <a:ea typeface="Consolas" pitchFamily="34" charset="-122"/>
                <a:cs typeface="Consolas" pitchFamily="34" charset="-120"/>
              </a:rPr>
              <a:t>INSTRUCTIONS  ·  DELETE BEFORE PRESENTING</a:t>
            </a:r>
            <a:endParaRPr lang="en-US" sz="1000" dirty="0"/>
          </a:p>
        </p:txBody>
      </p:sp>
      <p:sp>
        <p:nvSpPr>
          <p:cNvPr id="3" name="Text 4"/>
          <p:cNvSpPr/>
          <p:nvPr>
            <p:ph idx="106" type="title" hasCustomPrompt="1"/>
          </p:nvPr>
        </p:nvSpPr>
        <p:spPr>
          <a:xfrm>
            <a:off x="548640" y="1783080"/>
            <a:ext cx="11091672" cy="914400"/>
          </a:xfrm>
          <a:prstGeom prst="rect">
            <a:avLst/>
          </a:prstGeom>
          <a:noFill/>
          <a:ln/>
        </p:spPr>
        <p:txBody>
          <a:bodyPr wrap="square" lIns="0" tIns="0" rIns="0" bIns="0" rtlCol="0"/>
          <a:lstStyle/>
          <a:p>
            <a:pPr algn="l" indent="0" marL="0">
              <a:buNone/>
            </a:pPr>
            <a:r>
              <a:rPr lang="en-US" sz="3600" dirty="0">
                <a:solidFill>
                  <a:srgbClr val="0A0A0A"/>
                </a:solidFill>
                <a:latin typeface="Calibri Light" pitchFamily="34" charset="0"/>
                <a:ea typeface="Calibri Light" pitchFamily="34" charset="-122"/>
                <a:cs typeface="Calibri Light" pitchFamily="34" charset="-120"/>
              </a:rPr>
              <a:t>How to use this template.</a:t>
            </a:r>
            <a:endParaRPr lang="en-US" sz="3600" dirty="0"/>
          </a:p>
        </p:txBody>
      </p:sp>
      <p:sp>
        <p:nvSpPr>
          <p:cNvPr id="4" name="Text 4"/>
          <p:cNvSpPr/>
          <p:nvPr>
            <p:ph idx="107" type="body" hasCustomPrompt="1"/>
          </p:nvPr>
        </p:nvSpPr>
        <p:spPr>
          <a:xfrm>
            <a:off x="548640" y="2926080"/>
            <a:ext cx="11091672" cy="3291840"/>
          </a:xfrm>
          <a:prstGeom prst="rect">
            <a:avLst/>
          </a:prstGeom>
          <a:noFill/>
          <a:ln/>
        </p:spPr>
        <p:txBody>
          <a:bodyPr wrap="square" lIns="0" tIns="0" rIns="0" bIns="0" rtlCol="0"/>
          <a:lstStyle/>
          <a:p>
            <a:pPr marL="342900" indent="-342900">
              <a:spcAft>
                <a:spcPts val="800"/>
              </a:spcAft>
              <a:buSzPct val="100000"/>
              <a:buChar char="•"/>
            </a:pPr>
            <a:r>
              <a:rPr lang="en-US" sz="1600" b="1" dirty="0">
                <a:solidFill>
                  <a:srgbClr val="0A0A0A"/>
                </a:solidFill>
                <a:latin typeface="Calibri" pitchFamily="34" charset="0"/>
                <a:ea typeface="Calibri" pitchFamily="34" charset="-122"/>
                <a:cs typeface="Calibri" pitchFamily="34" charset="-120"/>
              </a:rPr>
              <a:t>Outline mode (Tab / Shift+Tab indenting)</a:t>
            </a:r>
            <a:endParaRPr lang="en-US" sz="1600" dirty="0"/>
          </a:p>
          <a:p>
            <a:pPr lvl="1" marL="685800"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Use Home → New Slide and pick a layout (CONTENT_LIGHT, CONTENT_DARK, SECTION_DIVIDER, BLANK_LIGHT, BLANK_DARK)</a:t>
            </a:r>
            <a:endParaRPr lang="en-US" sz="1600" dirty="0"/>
          </a:p>
          <a:p>
            <a:pPr lvl="1" marL="685800"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Click into the body placeholder and type. Press Tab to demote, Shift+Tab to promote.</a:t>
            </a:r>
            <a:endParaRPr lang="en-US" sz="1600" dirty="0"/>
          </a:p>
          <a:p>
            <a:pPr lvl="1" marL="685800"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Up to 4 indent levels are supported and styled correctly.</a:t>
            </a:r>
            <a:endParaRPr lang="en-US" sz="1600" dirty="0"/>
          </a:p>
          <a:p>
            <a:pPr marL="342900" indent="-342900">
              <a:spcAft>
                <a:spcPts val="800"/>
              </a:spcAft>
              <a:buSzPct val="100000"/>
              <a:buChar char="•"/>
            </a:pPr>
            <a:r>
              <a:rPr lang="en-US" sz="1600" b="1" dirty="0">
                <a:solidFill>
                  <a:srgbClr val="0A0A0A"/>
                </a:solidFill>
                <a:latin typeface="Calibri" pitchFamily="34" charset="0"/>
                <a:ea typeface="Calibri" pitchFamily="34" charset="-122"/>
                <a:cs typeface="Calibri" pitchFamily="34" charset="-120"/>
              </a:rPr>
              <a:t>Reusing visual patterns from this deck</a:t>
            </a:r>
            <a:endParaRPr lang="en-US" sz="1600" dirty="0"/>
          </a:p>
          <a:p>
            <a:pPr lvl="1" marL="685800"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Right-click any slide → Duplicate Slide. This preserves all custom layout work (TOC, metric grid, MOND brand page, the Ask, etc.) — just edit the text inside.</a:t>
            </a:r>
            <a:endParaRPr lang="en-US" sz="1600" dirty="0"/>
          </a:p>
          <a:p>
            <a:pPr lvl="1" marL="685800"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MOND symbol PNGs are embedded on slides 5 and 6 — copy from there to reuse elsewhere.</a:t>
            </a:r>
            <a:endParaRPr lang="en-US" sz="1600" dirty="0"/>
          </a:p>
          <a:p>
            <a:pPr marL="342900" indent="-342900">
              <a:spcAft>
                <a:spcPts val="800"/>
              </a:spcAft>
              <a:buSzPct val="100000"/>
              <a:buChar char="•"/>
            </a:pPr>
            <a:r>
              <a:rPr lang="en-US" sz="1600" b="1" dirty="0">
                <a:solidFill>
                  <a:srgbClr val="0A0A0A"/>
                </a:solidFill>
                <a:latin typeface="Calibri" pitchFamily="34" charset="0"/>
                <a:ea typeface="Calibri" pitchFamily="34" charset="-122"/>
                <a:cs typeface="Calibri" pitchFamily="34" charset="-120"/>
              </a:rPr>
              <a:t>Brand colours</a:t>
            </a:r>
            <a:endParaRPr lang="en-US" sz="1600" dirty="0"/>
          </a:p>
          <a:p>
            <a:pPr lvl="1" marL="685800" indent="-342900">
              <a:spcAft>
                <a:spcPts val="800"/>
              </a:spcAft>
              <a:buSzPct val="100000"/>
              <a:buChar char="•"/>
            </a:pPr>
            <a:r>
              <a:rPr lang="en-US" sz="1600" dirty="0">
                <a:solidFill>
                  <a:srgbClr val="0A0A0A"/>
                </a:solidFill>
                <a:latin typeface="Calibri" pitchFamily="34" charset="0"/>
                <a:ea typeface="Calibri" pitchFamily="34" charset="-122"/>
                <a:cs typeface="Calibri" pitchFamily="34" charset="-120"/>
              </a:rPr>
              <a:t>Paper #F6F2E9 · Ink #0A0A0A · Letter #F0EDE6 · Accent (copper) #C58A4D</a:t>
            </a:r>
            <a:endParaRPr lang="en-US" sz="1600" dirty="0"/>
          </a:p>
        </p:txBody>
      </p:sp>
      <p:sp>
        <p:nvSpPr>
          <p:cNvPr id="25" name="Slide Number Placeholder 0"/>
          <p:cNvSpPr>
            <a:spLocks noGrp="1"/>
          </p:cNvSpPr>
          <p:nvPr>
            <p:ph type="sldNum" sz="quarter" idx="4294967295"/>
          </p:nvPr>
        </p:nvSpPr>
        <p:spPr>
          <a:xfrm>
            <a:off x="8897112" y="6537960"/>
            <a:ext cx="2743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A7568"/>
                </a:solidFill>
                <a:latin typeface="Consolas"/>
                <a:ea typeface="Consolas"/>
                <a:cs typeface="Consolas"/>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Axion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AXION Presentation Template v3</dc:title>
  <dc:subject>PptxGenJS Presentation</dc:subject>
  <dc:creator>Axion Inc.</dc:creator>
  <cp:lastModifiedBy>Axion Inc.</cp:lastModifiedBy>
  <cp:revision>1</cp:revision>
  <dcterms:created xsi:type="dcterms:W3CDTF">2026-05-20T08:43:53Z</dcterms:created>
  <dcterms:modified xsi:type="dcterms:W3CDTF">2026-05-20T08:43:53Z</dcterms:modified>
</cp:coreProperties>
</file>