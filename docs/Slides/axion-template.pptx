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1F16BF-5E8A-4D2D-9936-B205A4D65973}" v="1" dt="2026-05-20T07:45:35.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Tillotson" userId="17c67371d77ccfb8" providerId="LiveId" clId="{CA80BF90-ACF5-4C46-A1A1-090A35F9F6C1}"/>
    <pc:docChg chg="modSld">
      <pc:chgData name="Steve Tillotson" userId="17c67371d77ccfb8" providerId="LiveId" clId="{CA80BF90-ACF5-4C46-A1A1-090A35F9F6C1}" dt="2026-05-20T07:45:43.996" v="107" actId="20577"/>
      <pc:docMkLst>
        <pc:docMk/>
      </pc:docMkLst>
      <pc:sldChg chg="modSp mod">
        <pc:chgData name="Steve Tillotson" userId="17c67371d77ccfb8" providerId="LiveId" clId="{CA80BF90-ACF5-4C46-A1A1-090A35F9F6C1}" dt="2026-05-20T07:45:43.996" v="107" actId="20577"/>
        <pc:sldMkLst>
          <pc:docMk/>
          <pc:sldMk cId="0" sldId="256"/>
        </pc:sldMkLst>
        <pc:spChg chg="mod">
          <ac:chgData name="Steve Tillotson" userId="17c67371d77ccfb8" providerId="LiveId" clId="{CA80BF90-ACF5-4C46-A1A1-090A35F9F6C1}" dt="2026-05-20T07:42:59.207" v="34" actId="20577"/>
          <ac:spMkLst>
            <pc:docMk/>
            <pc:sldMk cId="0" sldId="256"/>
            <ac:spMk id="4" creationId="{00000000-0000-0000-0000-000000000000}"/>
          </ac:spMkLst>
        </pc:spChg>
        <pc:spChg chg="mod">
          <ac:chgData name="Steve Tillotson" userId="17c67371d77ccfb8" providerId="LiveId" clId="{CA80BF90-ACF5-4C46-A1A1-090A35F9F6C1}" dt="2026-05-20T07:43:29.936" v="44" actId="20577"/>
          <ac:spMkLst>
            <pc:docMk/>
            <pc:sldMk cId="0" sldId="256"/>
            <ac:spMk id="5" creationId="{00000000-0000-0000-0000-000000000000}"/>
          </ac:spMkLst>
        </pc:spChg>
        <pc:spChg chg="mod">
          <ac:chgData name="Steve Tillotson" userId="17c67371d77ccfb8" providerId="LiveId" clId="{CA80BF90-ACF5-4C46-A1A1-090A35F9F6C1}" dt="2026-05-20T07:43:53.782" v="78" actId="20577"/>
          <ac:spMkLst>
            <pc:docMk/>
            <pc:sldMk cId="0" sldId="256"/>
            <ac:spMk id="6" creationId="{00000000-0000-0000-0000-000000000000}"/>
          </ac:spMkLst>
        </pc:spChg>
        <pc:spChg chg="mod">
          <ac:chgData name="Steve Tillotson" userId="17c67371d77ccfb8" providerId="LiveId" clId="{CA80BF90-ACF5-4C46-A1A1-090A35F9F6C1}" dt="2026-05-20T07:45:43.996" v="107" actId="20577"/>
          <ac:spMkLst>
            <pc:docMk/>
            <pc:sldMk cId="0" sldId="256"/>
            <ac:spMk id="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MOND Supply (thousands)</c:v>
                </c:pt>
              </c:strCache>
            </c:strRef>
          </c:tx>
          <c:spPr>
            <a:ln w="38100" cap="flat">
              <a:solidFill>
                <a:srgbClr val="C58A4D"/>
              </a:solidFill>
              <a:prstDash val="solid"/>
              <a:round/>
            </a:ln>
            <a:effectLst/>
          </c:spPr>
          <c:marker>
            <c:symbol val="circle"/>
            <c:size val="6"/>
            <c:spPr>
              <a:solidFill>
                <a:srgbClr val="C58A4D"/>
              </a:solidFill>
              <a:ln w="9525" cap="flat">
                <a:solidFill>
                  <a:srgbClr val="C58A4D"/>
                </a:solidFill>
                <a:prstDash val="solid"/>
                <a:round/>
              </a:ln>
              <a:effectLst/>
            </c:spPr>
          </c:marker>
          <c:cat>
            <c:strRef>
              <c:f>Sheet1!$A$2:$A$11</c:f>
              <c:strCache>
                <c:ptCount val="10"/>
                <c:pt idx="0">
                  <c:v>Y1</c:v>
                </c:pt>
                <c:pt idx="1">
                  <c:v>Y2</c:v>
                </c:pt>
                <c:pt idx="2">
                  <c:v>Y3</c:v>
                </c:pt>
                <c:pt idx="3">
                  <c:v>Y4</c:v>
                </c:pt>
                <c:pt idx="4">
                  <c:v>Y5</c:v>
                </c:pt>
                <c:pt idx="5">
                  <c:v>Y6</c:v>
                </c:pt>
                <c:pt idx="6">
                  <c:v>Y7</c:v>
                </c:pt>
                <c:pt idx="7">
                  <c:v>Y8</c:v>
                </c:pt>
                <c:pt idx="8">
                  <c:v>Y9</c:v>
                </c:pt>
                <c:pt idx="9">
                  <c:v>Y10</c:v>
                </c:pt>
              </c:strCache>
            </c:strRef>
          </c:cat>
          <c:val>
            <c:numRef>
              <c:f>Sheet1!$B$2:$B$11</c:f>
              <c:numCache>
                <c:formatCode>General</c:formatCode>
                <c:ptCount val="10"/>
                <c:pt idx="0">
                  <c:v>120</c:v>
                </c:pt>
                <c:pt idx="1">
                  <c:v>285</c:v>
                </c:pt>
                <c:pt idx="2">
                  <c:v>540</c:v>
                </c:pt>
                <c:pt idx="3">
                  <c:v>892</c:v>
                </c:pt>
                <c:pt idx="4">
                  <c:v>1320</c:v>
                </c:pt>
                <c:pt idx="5">
                  <c:v>1825</c:v>
                </c:pt>
                <c:pt idx="6">
                  <c:v>2410</c:v>
                </c:pt>
                <c:pt idx="7">
                  <c:v>3080</c:v>
                </c:pt>
                <c:pt idx="8">
                  <c:v>3855</c:v>
                </c:pt>
                <c:pt idx="9">
                  <c:v>4720</c:v>
                </c:pt>
              </c:numCache>
            </c:numRef>
          </c:val>
          <c:smooth val="1"/>
          <c:extLst>
            <c:ext xmlns:c16="http://schemas.microsoft.com/office/drawing/2014/chart" uri="{C3380CC4-5D6E-409C-BE32-E72D297353CC}">
              <c16:uniqueId val="{00000000-603A-46D8-876C-B52080D3E74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7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4"/>
        <c:crosses val="autoZero"/>
        <c:crossBetween val="between"/>
      </c:valAx>
      <c:spPr>
        <a:solidFill>
          <a:srgbClr val="F6F2E9"/>
        </a:solidFill>
        <a:ln>
          <a:noFill/>
        </a:ln>
        <a:effectLst/>
      </c:spPr>
    </c:plotArea>
    <c:plotVisOnly val="1"/>
    <c:dispBlanksAs val="span"/>
    <c:showDLblsOverMax val="1"/>
  </c:chart>
  <c:spPr>
    <a:solidFill>
      <a:srgbClr val="F6F2E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55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CONTENT">
    <p:bg>
      <p:bgPr>
        <a:solidFill>
          <a:srgbClr val="F6F2E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EDE7D8"/>
            </a:solidFill>
            <a:prstDash val="solid"/>
          </a:ln>
        </p:spPr>
        <p:txBody>
          <a:bodyPr/>
          <a:lstStyle/>
          <a:p>
            <a:endParaRPr lang="en-GB"/>
          </a:p>
        </p:txBody>
      </p:sp>
      <p:sp>
        <p:nvSpPr>
          <p:cNvPr id="4" name="Shape 1"/>
          <p:cNvSpPr/>
          <p:nvPr/>
        </p:nvSpPr>
        <p:spPr>
          <a:xfrm>
            <a:off x="548640" y="6446520"/>
            <a:ext cx="11091672" cy="0"/>
          </a:xfrm>
          <a:prstGeom prst="line">
            <a:avLst/>
          </a:prstGeom>
          <a:noFill/>
          <a:ln w="6350">
            <a:solidFill>
              <a:srgbClr val="EDE7D8"/>
            </a:solidFill>
            <a:prstDash val="solid"/>
          </a:ln>
        </p:spPr>
        <p:txBody>
          <a:bodyPr/>
          <a:lstStyle/>
          <a:p>
            <a:endParaRPr lang="en-GB"/>
          </a:p>
        </p:txBody>
      </p:sp>
      <p:sp>
        <p:nvSpPr>
          <p:cNvPr id="5" name="Text 2"/>
          <p:cNvSpPr/>
          <p:nvPr/>
        </p:nvSpPr>
        <p:spPr>
          <a:xfrm>
            <a:off x="548640" y="6537960"/>
            <a:ext cx="2743200" cy="228600"/>
          </a:xfrm>
          <a:prstGeom prst="rect">
            <a:avLst/>
          </a:prstGeom>
          <a:noFill/>
          <a:ln/>
        </p:spPr>
        <p:txBody>
          <a:bodyPr wrap="square" lIns="0" tIns="0" rIns="0" bIns="0" rtlCol="0" anchor="ctr"/>
          <a:lstStyle/>
          <a:p>
            <a:pPr marL="0" indent="0">
              <a:buNone/>
            </a:pPr>
            <a:r>
              <a:rPr lang="en-US" sz="800" kern="0" spc="400" dirty="0">
                <a:solidFill>
                  <a:srgbClr val="7A7568"/>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marL="0" indent="0" algn="ctr">
              <a:buNone/>
            </a:pPr>
            <a:r>
              <a:rPr lang="en-US" sz="800" kern="0" spc="400" dirty="0">
                <a:solidFill>
                  <a:srgbClr val="7A7568"/>
                </a:solidFill>
                <a:latin typeface="Consolas" pitchFamily="34" charset="0"/>
                <a:ea typeface="Consolas" pitchFamily="34" charset="-122"/>
                <a:cs typeface="Consolas" pitchFamily="34" charset="-120"/>
              </a:rPr>
              <a:t>THE GREAT COLLISION  ·  CONFIDENTIAL</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A0A0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2A2A2A"/>
            </a:solidFill>
            <a:prstDash val="solid"/>
          </a:ln>
        </p:spPr>
        <p:txBody>
          <a:bodyPr/>
          <a:lstStyle/>
          <a:p>
            <a:endParaRPr lang="en-GB"/>
          </a:p>
        </p:txBody>
      </p:sp>
      <p:sp>
        <p:nvSpPr>
          <p:cNvPr id="4" name="Shape 1"/>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5" name="Text 2"/>
          <p:cNvSpPr/>
          <p:nvPr/>
        </p:nvSpPr>
        <p:spPr>
          <a:xfrm>
            <a:off x="548640" y="6537960"/>
            <a:ext cx="2743200" cy="228600"/>
          </a:xfrm>
          <a:prstGeom prst="rect">
            <a:avLst/>
          </a:prstGeom>
          <a:noFill/>
          <a:ln/>
        </p:spPr>
        <p:txBody>
          <a:bodyPr wrap="square" lIns="0" tIns="0" rIns="0" bIns="0" rtlCol="0" anchor="ctr"/>
          <a:lstStyle/>
          <a:p>
            <a:pPr marL="0" indent="0">
              <a:buNone/>
            </a:pPr>
            <a:r>
              <a:rPr lang="en-US" sz="800" kern="0" spc="400" dirty="0">
                <a:solidFill>
                  <a:srgbClr val="9D998E"/>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marL="0" indent="0" algn="ctr">
              <a:buNone/>
            </a:pPr>
            <a:r>
              <a:rPr lang="en-US" sz="800" kern="0" spc="400" dirty="0">
                <a:solidFill>
                  <a:srgbClr val="9D998E"/>
                </a:solidFill>
                <a:latin typeface="Consolas" pitchFamily="34" charset="0"/>
                <a:ea typeface="Consolas" pitchFamily="34" charset="-122"/>
                <a:cs typeface="Consolas" pitchFamily="34" charset="-120"/>
              </a:rPr>
              <a:t>THE GREAT COLLISION  ·  CONFIDENTIAL</a:t>
            </a:r>
            <a:endParaRPr lang="en-US" sz="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0A0A0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_BLANK">
    <p:bg>
      <p:bgPr>
        <a:solidFill>
          <a:srgbClr val="F6F2E9"/>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 y="2011680"/>
            <a:ext cx="4114800" cy="1371600"/>
          </a:xfrm>
          <a:prstGeom prst="rect">
            <a:avLst/>
          </a:prstGeom>
        </p:spPr>
      </p:pic>
      <p:sp>
        <p:nvSpPr>
          <p:cNvPr id="3" name="Shape 0"/>
          <p:cNvSpPr/>
          <p:nvPr/>
        </p:nvSpPr>
        <p:spPr>
          <a:xfrm>
            <a:off x="5212080" y="2103120"/>
            <a:ext cx="0" cy="1188720"/>
          </a:xfrm>
          <a:prstGeom prst="line">
            <a:avLst/>
          </a:prstGeom>
          <a:noFill/>
          <a:ln w="15875">
            <a:solidFill>
              <a:srgbClr val="C58A4D"/>
            </a:solidFill>
            <a:prstDash val="solid"/>
          </a:ln>
        </p:spPr>
        <p:txBody>
          <a:bodyPr/>
          <a:lstStyle/>
          <a:p>
            <a:endParaRPr lang="en-GB"/>
          </a:p>
        </p:txBody>
      </p:sp>
      <p:sp>
        <p:nvSpPr>
          <p:cNvPr id="4" name="Text 1"/>
          <p:cNvSpPr/>
          <p:nvPr/>
        </p:nvSpPr>
        <p:spPr>
          <a:xfrm>
            <a:off x="5486400" y="2103120"/>
            <a:ext cx="5943600" cy="548640"/>
          </a:xfrm>
          <a:prstGeom prst="rect">
            <a:avLst/>
          </a:prstGeom>
          <a:noFill/>
          <a:ln/>
        </p:spPr>
        <p:txBody>
          <a:bodyPr wrap="square" lIns="0" tIns="0" rIns="0" bIns="0" rtlCol="0" anchor="ctr"/>
          <a:lstStyle/>
          <a:p>
            <a:pPr marL="0" indent="0">
              <a:buNone/>
            </a:pPr>
            <a:r>
              <a:rPr lang="en-US" sz="2800" dirty="0">
                <a:solidFill>
                  <a:srgbClr val="F0EDE6"/>
                </a:solidFill>
                <a:latin typeface="Calibri Light" pitchFamily="34" charset="0"/>
                <a:ea typeface="Calibri Light" pitchFamily="34" charset="-122"/>
                <a:cs typeface="Calibri Light" pitchFamily="34" charset="-120"/>
              </a:rPr>
              <a:t>Capitalist UBI Infrastructure</a:t>
            </a:r>
            <a:endParaRPr lang="en-US" sz="2800" dirty="0"/>
          </a:p>
        </p:txBody>
      </p:sp>
      <p:sp>
        <p:nvSpPr>
          <p:cNvPr id="5" name="Text 2"/>
          <p:cNvSpPr/>
          <p:nvPr/>
        </p:nvSpPr>
        <p:spPr>
          <a:xfrm>
            <a:off x="5486400" y="2697480"/>
            <a:ext cx="5943600" cy="365760"/>
          </a:xfrm>
          <a:prstGeom prst="rect">
            <a:avLst/>
          </a:prstGeom>
          <a:noFill/>
          <a:ln/>
        </p:spPr>
        <p:txBody>
          <a:bodyPr wrap="square" lIns="0" tIns="0" rIns="0" bIns="0" rtlCol="0" anchor="ctr"/>
          <a:lstStyle/>
          <a:p>
            <a:pPr marL="0" indent="0">
              <a:buNone/>
            </a:pPr>
            <a:r>
              <a:rPr lang="en-US" sz="1400" dirty="0">
                <a:solidFill>
                  <a:srgbClr val="F0EDE6">
                    <a:alpha val="65000"/>
                  </a:srgbClr>
                </a:solidFill>
                <a:latin typeface="Calibri" pitchFamily="34" charset="0"/>
                <a:ea typeface="Calibri" pitchFamily="34" charset="-122"/>
                <a:cs typeface="Calibri" pitchFamily="34" charset="-120"/>
              </a:rPr>
              <a:t>Overview</a:t>
            </a:r>
            <a:endParaRPr lang="en-US" sz="1400" dirty="0"/>
          </a:p>
        </p:txBody>
      </p:sp>
      <p:sp>
        <p:nvSpPr>
          <p:cNvPr id="6" name="Text 3"/>
          <p:cNvSpPr/>
          <p:nvPr/>
        </p:nvSpPr>
        <p:spPr>
          <a:xfrm>
            <a:off x="5486400" y="3108960"/>
            <a:ext cx="6675120" cy="365760"/>
          </a:xfrm>
          <a:prstGeom prst="rect">
            <a:avLst/>
          </a:prstGeom>
          <a:noFill/>
          <a:ln/>
        </p:spPr>
        <p:txBody>
          <a:bodyPr wrap="square" lIns="0" tIns="0" rIns="0" bIns="0" rtlCol="0" anchor="ctr"/>
          <a:lstStyle/>
          <a:p>
            <a:pPr marL="0" indent="0">
              <a:buNone/>
            </a:pPr>
            <a:r>
              <a:rPr lang="en-US" sz="1000" kern="0" spc="400" dirty="0">
                <a:solidFill>
                  <a:srgbClr val="C58A4D"/>
                </a:solidFill>
                <a:latin typeface="Consolas" pitchFamily="34" charset="0"/>
                <a:ea typeface="Consolas" pitchFamily="34" charset="-122"/>
                <a:cs typeface="Consolas" pitchFamily="34" charset="-120"/>
              </a:rPr>
              <a:t>MAY 2026  ·  STEVE TILLOTSON, FOUNDER, CEO</a:t>
            </a:r>
            <a:endParaRPr lang="en-US" sz="1000" dirty="0"/>
          </a:p>
        </p:txBody>
      </p:sp>
      <p:sp>
        <p:nvSpPr>
          <p:cNvPr id="7" name="Shape 4"/>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8" name="Text 5"/>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a:solidFill>
                  <a:schemeClr val="bg2"/>
                </a:solidFill>
              </a:rPr>
              <a:t>©Axion Inc 2026.</a:t>
            </a:r>
            <a:r>
              <a:rPr lang="en-US" sz="900"/>
              <a:t> </a:t>
            </a:r>
            <a:r>
              <a:rPr lang="en-US" sz="900" dirty="0"/>
              <a:t>INC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CONTENTS</a:t>
            </a:r>
            <a:endParaRPr lang="en-US" sz="1000" dirty="0"/>
          </a:p>
        </p:txBody>
      </p:sp>
      <p:sp>
        <p:nvSpPr>
          <p:cNvPr id="3" name="Text 1"/>
          <p:cNvSpPr/>
          <p:nvPr/>
        </p:nvSpPr>
        <p:spPr>
          <a:xfrm>
            <a:off x="548640" y="1783080"/>
            <a:ext cx="8229600" cy="91440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What we'll cover.</a:t>
            </a:r>
            <a:endParaRPr lang="en-US" sz="4400" dirty="0"/>
          </a:p>
        </p:txBody>
      </p:sp>
      <p:sp>
        <p:nvSpPr>
          <p:cNvPr id="4" name="Text 2"/>
          <p:cNvSpPr/>
          <p:nvPr/>
        </p:nvSpPr>
        <p:spPr>
          <a:xfrm>
            <a:off x="548640" y="306324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01</a:t>
            </a:r>
            <a:endParaRPr lang="en-US" sz="1200" dirty="0"/>
          </a:p>
        </p:txBody>
      </p:sp>
      <p:sp>
        <p:nvSpPr>
          <p:cNvPr id="5" name="Text 3"/>
          <p:cNvSpPr/>
          <p:nvPr/>
        </p:nvSpPr>
        <p:spPr>
          <a:xfrm>
            <a:off x="1280160" y="306324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Great Collision</a:t>
            </a:r>
            <a:endParaRPr lang="en-US" sz="1800" dirty="0"/>
          </a:p>
        </p:txBody>
      </p:sp>
      <p:sp>
        <p:nvSpPr>
          <p:cNvPr id="6" name="Text 4"/>
          <p:cNvSpPr/>
          <p:nvPr/>
        </p:nvSpPr>
        <p:spPr>
          <a:xfrm>
            <a:off x="6217920" y="306324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Why the next 24 months break the legacy system</a:t>
            </a:r>
            <a:endParaRPr lang="en-US" sz="1300" dirty="0"/>
          </a:p>
        </p:txBody>
      </p:sp>
      <p:sp>
        <p:nvSpPr>
          <p:cNvPr id="7" name="Text 5"/>
          <p:cNvSpPr/>
          <p:nvPr/>
        </p:nvSpPr>
        <p:spPr>
          <a:xfrm>
            <a:off x="548640" y="365760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02</a:t>
            </a:r>
            <a:endParaRPr lang="en-US" sz="1200" dirty="0"/>
          </a:p>
        </p:txBody>
      </p:sp>
      <p:sp>
        <p:nvSpPr>
          <p:cNvPr id="8" name="Text 6"/>
          <p:cNvSpPr/>
          <p:nvPr/>
        </p:nvSpPr>
        <p:spPr>
          <a:xfrm>
            <a:off x="1280160" y="365760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Axion Protocol</a:t>
            </a:r>
            <a:endParaRPr lang="en-US" sz="1800" dirty="0"/>
          </a:p>
        </p:txBody>
      </p:sp>
      <p:sp>
        <p:nvSpPr>
          <p:cNvPr id="9" name="Text 7"/>
          <p:cNvSpPr/>
          <p:nvPr/>
        </p:nvSpPr>
        <p:spPr>
          <a:xfrm>
            <a:off x="6217920" y="365760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A parallel economic infrastructure</a:t>
            </a:r>
            <a:endParaRPr lang="en-US" sz="1300" dirty="0"/>
          </a:p>
        </p:txBody>
      </p:sp>
      <p:sp>
        <p:nvSpPr>
          <p:cNvPr id="10" name="Text 8"/>
          <p:cNvSpPr/>
          <p:nvPr/>
        </p:nvSpPr>
        <p:spPr>
          <a:xfrm>
            <a:off x="548640" y="425196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03</a:t>
            </a:r>
            <a:endParaRPr lang="en-US" sz="1200" dirty="0"/>
          </a:p>
        </p:txBody>
      </p:sp>
      <p:sp>
        <p:nvSpPr>
          <p:cNvPr id="11" name="Text 9"/>
          <p:cNvSpPr/>
          <p:nvPr/>
        </p:nvSpPr>
        <p:spPr>
          <a:xfrm>
            <a:off x="1280160" y="425196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MOND, the unit of account</a:t>
            </a:r>
            <a:endParaRPr lang="en-US" sz="1800" dirty="0"/>
          </a:p>
        </p:txBody>
      </p:sp>
      <p:sp>
        <p:nvSpPr>
          <p:cNvPr id="12" name="Text 10"/>
          <p:cNvSpPr/>
          <p:nvPr/>
        </p:nvSpPr>
        <p:spPr>
          <a:xfrm>
            <a:off x="6217920" y="425196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How dividends replace wages</a:t>
            </a:r>
            <a:endParaRPr lang="en-US" sz="1300" dirty="0"/>
          </a:p>
        </p:txBody>
      </p:sp>
      <p:sp>
        <p:nvSpPr>
          <p:cNvPr id="13" name="Text 11"/>
          <p:cNvSpPr/>
          <p:nvPr/>
        </p:nvSpPr>
        <p:spPr>
          <a:xfrm>
            <a:off x="548640" y="484632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04</a:t>
            </a:r>
            <a:endParaRPr lang="en-US" sz="1200" dirty="0"/>
          </a:p>
        </p:txBody>
      </p:sp>
      <p:sp>
        <p:nvSpPr>
          <p:cNvPr id="14" name="Text 12"/>
          <p:cNvSpPr/>
          <p:nvPr/>
        </p:nvSpPr>
        <p:spPr>
          <a:xfrm>
            <a:off x="1280160" y="484632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The Earth Colony Model</a:t>
            </a:r>
            <a:endParaRPr lang="en-US" sz="1800" dirty="0"/>
          </a:p>
        </p:txBody>
      </p:sp>
      <p:sp>
        <p:nvSpPr>
          <p:cNvPr id="15" name="Text 13"/>
          <p:cNvSpPr/>
          <p:nvPr/>
        </p:nvSpPr>
        <p:spPr>
          <a:xfrm>
            <a:off x="6217920" y="484632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From design to deployment</a:t>
            </a:r>
            <a:endParaRPr lang="en-US" sz="1300" dirty="0"/>
          </a:p>
        </p:txBody>
      </p:sp>
      <p:sp>
        <p:nvSpPr>
          <p:cNvPr id="16" name="Text 14"/>
          <p:cNvSpPr/>
          <p:nvPr/>
        </p:nvSpPr>
        <p:spPr>
          <a:xfrm>
            <a:off x="548640" y="5440680"/>
            <a:ext cx="548640" cy="457200"/>
          </a:xfrm>
          <a:prstGeom prst="rect">
            <a:avLst/>
          </a:prstGeom>
          <a:noFill/>
          <a:ln/>
        </p:spPr>
        <p:txBody>
          <a:bodyPr wrap="square" lIns="0" tIns="0" rIns="0" bIns="0" rtlCol="0" anchor="ctr"/>
          <a:lstStyle/>
          <a:p>
            <a:pPr marL="0" indent="0">
              <a:buNone/>
            </a:pPr>
            <a:r>
              <a:rPr lang="en-US" sz="1200" kern="0" spc="400" dirty="0">
                <a:solidFill>
                  <a:srgbClr val="C58A4D"/>
                </a:solidFill>
                <a:latin typeface="Consolas" pitchFamily="34" charset="0"/>
                <a:ea typeface="Consolas" pitchFamily="34" charset="-122"/>
                <a:cs typeface="Consolas" pitchFamily="34" charset="-120"/>
              </a:rPr>
              <a:t>05</a:t>
            </a:r>
            <a:endParaRPr lang="en-US" sz="1200" dirty="0"/>
          </a:p>
        </p:txBody>
      </p:sp>
      <p:sp>
        <p:nvSpPr>
          <p:cNvPr id="17" name="Text 15"/>
          <p:cNvSpPr/>
          <p:nvPr/>
        </p:nvSpPr>
        <p:spPr>
          <a:xfrm>
            <a:off x="1280160" y="5440680"/>
            <a:ext cx="4754880" cy="457200"/>
          </a:xfrm>
          <a:prstGeom prst="rect">
            <a:avLst/>
          </a:prstGeom>
          <a:noFill/>
          <a:ln/>
        </p:spPr>
        <p:txBody>
          <a:bodyPr wrap="square" lIns="0" tIns="0" rIns="0" bIns="0" rtlCol="0" anchor="ctr"/>
          <a:lstStyle/>
          <a:p>
            <a:pPr marL="0" indent="0">
              <a:buNone/>
            </a:pPr>
            <a:r>
              <a:rPr lang="en-US" sz="1800" dirty="0">
                <a:solidFill>
                  <a:srgbClr val="0A0A0A"/>
                </a:solidFill>
                <a:latin typeface="Calibri" pitchFamily="34" charset="0"/>
                <a:ea typeface="Calibri" pitchFamily="34" charset="-122"/>
                <a:cs typeface="Calibri" pitchFamily="34" charset="-120"/>
              </a:rPr>
              <a:t>Roadmap &amp; ask</a:t>
            </a:r>
            <a:endParaRPr lang="en-US" sz="1800" dirty="0"/>
          </a:p>
        </p:txBody>
      </p:sp>
      <p:sp>
        <p:nvSpPr>
          <p:cNvPr id="18" name="Text 16"/>
          <p:cNvSpPr/>
          <p:nvPr/>
        </p:nvSpPr>
        <p:spPr>
          <a:xfrm>
            <a:off x="6217920" y="5440680"/>
            <a:ext cx="5394960" cy="457200"/>
          </a:xfrm>
          <a:prstGeom prst="rect">
            <a:avLst/>
          </a:prstGeom>
          <a:noFill/>
          <a:ln/>
        </p:spPr>
        <p:txBody>
          <a:bodyPr wrap="square" lIns="0" tIns="0" rIns="0" bIns="0" rtlCol="0" anchor="ctr"/>
          <a:lstStyle/>
          <a:p>
            <a:pPr marL="0" indent="0">
              <a:buNone/>
            </a:pPr>
            <a:r>
              <a:rPr lang="en-US" sz="1300" dirty="0">
                <a:solidFill>
                  <a:srgbClr val="7A7568"/>
                </a:solidFill>
                <a:latin typeface="Calibri" pitchFamily="34" charset="0"/>
                <a:ea typeface="Calibri" pitchFamily="34" charset="-122"/>
                <a:cs typeface="Calibri" pitchFamily="34" charset="-120"/>
              </a:rPr>
              <a:t>What we need to make it real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7240" y="914400"/>
            <a:ext cx="73152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ACT I</a:t>
            </a:r>
            <a:endParaRPr lang="en-US" sz="1100" dirty="0"/>
          </a:p>
        </p:txBody>
      </p:sp>
      <p:sp>
        <p:nvSpPr>
          <p:cNvPr id="3" name="Shape 1"/>
          <p:cNvSpPr/>
          <p:nvPr/>
        </p:nvSpPr>
        <p:spPr>
          <a:xfrm>
            <a:off x="777240" y="1371600"/>
            <a:ext cx="548640" cy="0"/>
          </a:xfrm>
          <a:prstGeom prst="line">
            <a:avLst/>
          </a:prstGeom>
          <a:noFill/>
          <a:ln w="12700">
            <a:solidFill>
              <a:srgbClr val="C58A4D"/>
            </a:solidFill>
            <a:prstDash val="solid"/>
          </a:ln>
        </p:spPr>
        <p:txBody>
          <a:bodyPr/>
          <a:lstStyle/>
          <a:p>
            <a:endParaRPr lang="en-GB"/>
          </a:p>
        </p:txBody>
      </p:sp>
      <p:sp>
        <p:nvSpPr>
          <p:cNvPr id="4" name="Text 2"/>
          <p:cNvSpPr/>
          <p:nvPr/>
        </p:nvSpPr>
        <p:spPr>
          <a:xfrm>
            <a:off x="777240" y="1828800"/>
            <a:ext cx="10515600" cy="3200400"/>
          </a:xfrm>
          <a:prstGeom prst="rect">
            <a:avLst/>
          </a:prstGeom>
          <a:noFill/>
          <a:ln/>
        </p:spPr>
        <p:txBody>
          <a:bodyPr wrap="square" lIns="0" tIns="0" rIns="0" bIns="0" rtlCol="0" anchor="ctr"/>
          <a:lstStyle/>
          <a:p>
            <a:pPr marL="0" indent="0">
              <a:buNone/>
            </a:pPr>
            <a:r>
              <a:rPr lang="en-US" sz="8000" dirty="0">
                <a:solidFill>
                  <a:srgbClr val="F0EDE6"/>
                </a:solidFill>
                <a:latin typeface="Calibri Light" pitchFamily="34" charset="0"/>
                <a:ea typeface="Calibri Light" pitchFamily="34" charset="-122"/>
                <a:cs typeface="Calibri Light" pitchFamily="34" charset="-120"/>
              </a:rPr>
              <a:t>The economy doesn't adapt. It jumps.</a:t>
            </a:r>
            <a:endParaRPr lang="en-US" sz="8000" dirty="0"/>
          </a:p>
        </p:txBody>
      </p:sp>
      <p:sp>
        <p:nvSpPr>
          <p:cNvPr id="5" name="Text 3"/>
          <p:cNvSpPr/>
          <p:nvPr/>
        </p:nvSpPr>
        <p:spPr>
          <a:xfrm>
            <a:off x="777240" y="5212080"/>
            <a:ext cx="8686800" cy="914400"/>
          </a:xfrm>
          <a:prstGeom prst="rect">
            <a:avLst/>
          </a:prstGeom>
          <a:noFill/>
          <a:ln/>
        </p:spPr>
        <p:txBody>
          <a:bodyPr wrap="square" lIns="0" tIns="0" rIns="0" bIns="0" rtlCol="0" anchor="ctr"/>
          <a:lstStyle/>
          <a:p>
            <a:pPr marL="0" indent="0">
              <a:buNone/>
            </a:pPr>
            <a:r>
              <a:rPr lang="en-US" sz="1400" dirty="0">
                <a:solidFill>
                  <a:srgbClr val="F0EDE6">
                    <a:alpha val="75000"/>
                  </a:srgbClr>
                </a:solidFill>
                <a:latin typeface="Calibri" pitchFamily="34" charset="0"/>
                <a:ea typeface="Calibri" pitchFamily="34" charset="-122"/>
                <a:cs typeface="Calibri" pitchFamily="34" charset="-120"/>
              </a:rPr>
              <a:t>Recursive AI self-improvement will displace workers before prices fall enough to compensate, while colliding with sovereign debt monetization. Axion is the parallel economy designed to clear comfortable life regardless of which way the legacy system breaks.</a:t>
            </a:r>
            <a:endParaRPr lang="en-US" sz="1400" dirty="0"/>
          </a:p>
        </p:txBody>
      </p:sp>
      <p:sp>
        <p:nvSpPr>
          <p:cNvPr id="6" name="Shape 4"/>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7" name="Text 5"/>
          <p:cNvSpPr/>
          <p:nvPr/>
        </p:nvSpPr>
        <p:spPr>
          <a:xfrm>
            <a:off x="548640" y="6537960"/>
            <a:ext cx="11091672" cy="228600"/>
          </a:xfrm>
          <a:prstGeom prst="rect">
            <a:avLst/>
          </a:prstGeom>
          <a:noFill/>
          <a:ln/>
        </p:spPr>
        <p:txBody>
          <a:bodyPr wrap="square" lIns="0" tIns="0" rIns="0" bIns="0" rtlCol="0" anchor="ctr"/>
          <a:lstStyle/>
          <a:p>
            <a:pPr marL="0" indent="0" algn="r">
              <a:buNone/>
            </a:pPr>
            <a:r>
              <a:rPr lang="en-US" sz="800" kern="0" spc="400" dirty="0">
                <a:solidFill>
                  <a:srgbClr val="9D998E"/>
                </a:solidFill>
                <a:latin typeface="Consolas" pitchFamily="34" charset="0"/>
                <a:ea typeface="Consolas" pitchFamily="34" charset="-122"/>
                <a:cs typeface="Consolas" pitchFamily="34" charset="-120"/>
              </a:rPr>
              <a:t>03  ·  SECTION DIVIDER</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THE THESIS</a:t>
            </a:r>
            <a:endParaRPr lang="en-US" sz="1000" dirty="0"/>
          </a:p>
        </p:txBody>
      </p:sp>
      <p:sp>
        <p:nvSpPr>
          <p:cNvPr id="3" name="Text 1"/>
          <p:cNvSpPr/>
          <p:nvPr/>
        </p:nvSpPr>
        <p:spPr>
          <a:xfrm>
            <a:off x="548640" y="1783080"/>
            <a:ext cx="10515600" cy="822960"/>
          </a:xfrm>
          <a:prstGeom prst="rect">
            <a:avLst/>
          </a:prstGeom>
          <a:noFill/>
          <a:ln/>
        </p:spPr>
        <p:txBody>
          <a:bodyPr wrap="square" lIns="0" tIns="0" rIns="0" bIns="0" rtlCol="0" anchor="ctr"/>
          <a:lstStyle/>
          <a:p>
            <a:pPr marL="0" indent="0">
              <a:buNone/>
            </a:pPr>
            <a:r>
              <a:rPr lang="en-US" sz="3600" dirty="0">
                <a:solidFill>
                  <a:srgbClr val="0A0A0A"/>
                </a:solidFill>
                <a:latin typeface="Calibri Light" pitchFamily="34" charset="0"/>
                <a:ea typeface="Calibri Light" pitchFamily="34" charset="-122"/>
                <a:cs typeface="Calibri Light" pitchFamily="34" charset="-120"/>
              </a:rPr>
              <a:t>Two crises arriving at the same time.</a:t>
            </a:r>
            <a:endParaRPr lang="en-US" sz="3600" dirty="0"/>
          </a:p>
        </p:txBody>
      </p:sp>
      <p:sp>
        <p:nvSpPr>
          <p:cNvPr id="4" name="Text 2"/>
          <p:cNvSpPr/>
          <p:nvPr/>
        </p:nvSpPr>
        <p:spPr>
          <a:xfrm>
            <a:off x="548640" y="3017520"/>
            <a:ext cx="530352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AI labour displacement</a:t>
            </a:r>
            <a:endParaRPr lang="en-US" sz="1600" dirty="0"/>
          </a:p>
        </p:txBody>
      </p:sp>
      <p:sp>
        <p:nvSpPr>
          <p:cNvPr id="5" name="Text 3"/>
          <p:cNvSpPr/>
          <p:nvPr/>
        </p:nvSpPr>
        <p:spPr>
          <a:xfrm>
            <a:off x="548640" y="3429000"/>
            <a:ext cx="5303520" cy="2103120"/>
          </a:xfrm>
          <a:prstGeom prst="rect">
            <a:avLst/>
          </a:prstGeom>
          <a:noFill/>
          <a:ln/>
        </p:spPr>
        <p:txBody>
          <a:bodyPr wrap="square" lIns="0" tIns="0" rIns="0" bIns="0" rtlCol="0" anchor="ctr"/>
          <a:lstStyle/>
          <a:p>
            <a:pPr marL="0" indent="0">
              <a:lnSpc>
                <a:spcPct val="150000"/>
              </a:lnSpc>
              <a:buNone/>
            </a:pPr>
            <a:r>
              <a:rPr lang="en-US" sz="1300" dirty="0">
                <a:solidFill>
                  <a:srgbClr val="0A0A0A">
                    <a:alpha val="78000"/>
                  </a:srgbClr>
                </a:solidFill>
                <a:latin typeface="Calibri" pitchFamily="34" charset="0"/>
                <a:ea typeface="Calibri" pitchFamily="34" charset="-122"/>
                <a:cs typeface="Calibri" pitchFamily="34" charset="-120"/>
              </a:rPr>
              <a:t>Recursive self-improvement is compressing the displacement timeline. Workers lose income before deflation lowers prices enough to compensate. The transition is not gradual — it's a step change.</a:t>
            </a:r>
            <a:endParaRPr lang="en-US" sz="1300" dirty="0"/>
          </a:p>
        </p:txBody>
      </p:sp>
      <p:sp>
        <p:nvSpPr>
          <p:cNvPr id="6" name="Text 4"/>
          <p:cNvSpPr/>
          <p:nvPr/>
        </p:nvSpPr>
        <p:spPr>
          <a:xfrm>
            <a:off x="6309360" y="3017520"/>
            <a:ext cx="530352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Sovereign debt monetisation</a:t>
            </a:r>
            <a:endParaRPr lang="en-US" sz="1600" dirty="0"/>
          </a:p>
        </p:txBody>
      </p:sp>
      <p:sp>
        <p:nvSpPr>
          <p:cNvPr id="7" name="Text 5"/>
          <p:cNvSpPr/>
          <p:nvPr/>
        </p:nvSpPr>
        <p:spPr>
          <a:xfrm>
            <a:off x="6309360" y="3429000"/>
            <a:ext cx="5303520" cy="2103120"/>
          </a:xfrm>
          <a:prstGeom prst="rect">
            <a:avLst/>
          </a:prstGeom>
          <a:noFill/>
          <a:ln/>
        </p:spPr>
        <p:txBody>
          <a:bodyPr wrap="square" lIns="0" tIns="0" rIns="0" bIns="0" rtlCol="0" anchor="ctr"/>
          <a:lstStyle/>
          <a:p>
            <a:pPr marL="0" indent="0">
              <a:lnSpc>
                <a:spcPct val="150000"/>
              </a:lnSpc>
              <a:buNone/>
            </a:pPr>
            <a:r>
              <a:rPr lang="en-US" sz="1300" dirty="0">
                <a:solidFill>
                  <a:srgbClr val="0A0A0A">
                    <a:alpha val="78000"/>
                  </a:srgbClr>
                </a:solidFill>
                <a:latin typeface="Calibri" pitchFamily="34" charset="0"/>
                <a:ea typeface="Calibri" pitchFamily="34" charset="-122"/>
                <a:cs typeface="Calibri" pitchFamily="34" charset="-120"/>
              </a:rPr>
              <a:t>Existing institutions cannot finance the transition without printing. Currency debasement collides with displacement, leaving the legacy economy structurally unable to deliver stable real-terms purchasing power to its citizens.</a:t>
            </a:r>
            <a:endParaRPr lang="en-US" sz="1300" dirty="0"/>
          </a:p>
        </p:txBody>
      </p:sp>
      <p:sp>
        <p:nvSpPr>
          <p:cNvPr id="8" name="Text 6"/>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MONTHLY CITIZEN DIVIDEND</a:t>
            </a:r>
            <a:endParaRPr lang="en-US" sz="1000" dirty="0"/>
          </a:p>
        </p:txBody>
      </p:sp>
      <p:pic>
        <p:nvPicPr>
          <p:cNvPr id="3" name="Image 0" descr="preencoded.png"/>
          <p:cNvPicPr>
            <a:picLocks noChangeAspect="1"/>
          </p:cNvPicPr>
          <p:nvPr/>
        </p:nvPicPr>
        <p:blipFill>
          <a:blip r:embed="rId3"/>
          <a:stretch>
            <a:fillRect/>
          </a:stretch>
        </p:blipFill>
        <p:spPr>
          <a:xfrm>
            <a:off x="548640" y="2331720"/>
            <a:ext cx="1005840" cy="1005840"/>
          </a:xfrm>
          <a:prstGeom prst="rect">
            <a:avLst/>
          </a:prstGeom>
        </p:spPr>
      </p:pic>
      <p:sp>
        <p:nvSpPr>
          <p:cNvPr id="4" name="Text 1"/>
          <p:cNvSpPr/>
          <p:nvPr/>
        </p:nvSpPr>
        <p:spPr>
          <a:xfrm>
            <a:off x="1691640" y="2011680"/>
            <a:ext cx="7315200" cy="1645920"/>
          </a:xfrm>
          <a:prstGeom prst="rect">
            <a:avLst/>
          </a:prstGeom>
          <a:noFill/>
          <a:ln/>
        </p:spPr>
        <p:txBody>
          <a:bodyPr wrap="square" lIns="0" tIns="0" rIns="0" bIns="0" rtlCol="0" anchor="t"/>
          <a:lstStyle/>
          <a:p>
            <a:pPr marL="0" indent="0">
              <a:buNone/>
            </a:pPr>
            <a:r>
              <a:rPr lang="en-US" sz="12000" dirty="0">
                <a:solidFill>
                  <a:srgbClr val="0A0A0A"/>
                </a:solidFill>
                <a:latin typeface="Calibri Light" pitchFamily="34" charset="0"/>
                <a:ea typeface="Calibri Light" pitchFamily="34" charset="-122"/>
                <a:cs typeface="Calibri Light" pitchFamily="34" charset="-120"/>
              </a:rPr>
              <a:t>2,500</a:t>
            </a:r>
            <a:endParaRPr lang="en-US" sz="12000" dirty="0"/>
          </a:p>
        </p:txBody>
      </p:sp>
      <p:sp>
        <p:nvSpPr>
          <p:cNvPr id="5" name="Text 2"/>
          <p:cNvSpPr/>
          <p:nvPr/>
        </p:nvSpPr>
        <p:spPr>
          <a:xfrm>
            <a:off x="5943600" y="3063240"/>
            <a:ext cx="2743200" cy="457200"/>
          </a:xfrm>
          <a:prstGeom prst="rect">
            <a:avLst/>
          </a:prstGeom>
          <a:noFill/>
          <a:ln/>
        </p:spPr>
        <p:txBody>
          <a:bodyPr wrap="square" lIns="0" tIns="0" rIns="0" bIns="0" rtlCol="0" anchor="ctr"/>
          <a:lstStyle/>
          <a:p>
            <a:pPr marL="0" indent="0">
              <a:buNone/>
            </a:pPr>
            <a:r>
              <a:rPr lang="en-US" sz="1300" kern="0" spc="600" dirty="0">
                <a:solidFill>
                  <a:srgbClr val="7A7568"/>
                </a:solidFill>
                <a:latin typeface="Consolas" pitchFamily="34" charset="0"/>
                <a:ea typeface="Consolas" pitchFamily="34" charset="-122"/>
                <a:cs typeface="Consolas" pitchFamily="34" charset="-120"/>
              </a:rPr>
              <a:t>/ MONTH</a:t>
            </a:r>
            <a:endParaRPr lang="en-US" sz="1300" dirty="0"/>
          </a:p>
        </p:txBody>
      </p:sp>
      <p:sp>
        <p:nvSpPr>
          <p:cNvPr id="6" name="Shape 3"/>
          <p:cNvSpPr/>
          <p:nvPr/>
        </p:nvSpPr>
        <p:spPr>
          <a:xfrm>
            <a:off x="548640" y="4297680"/>
            <a:ext cx="548640" cy="0"/>
          </a:xfrm>
          <a:prstGeom prst="line">
            <a:avLst/>
          </a:prstGeom>
          <a:noFill/>
          <a:ln w="15875">
            <a:solidFill>
              <a:srgbClr val="C58A4D"/>
            </a:solidFill>
            <a:prstDash val="solid"/>
          </a:ln>
        </p:spPr>
        <p:txBody>
          <a:bodyPr/>
          <a:lstStyle/>
          <a:p>
            <a:endParaRPr lang="en-GB"/>
          </a:p>
        </p:txBody>
      </p:sp>
      <p:sp>
        <p:nvSpPr>
          <p:cNvPr id="7" name="Text 4"/>
          <p:cNvSpPr/>
          <p:nvPr/>
        </p:nvSpPr>
        <p:spPr>
          <a:xfrm>
            <a:off x="548640" y="4480560"/>
            <a:ext cx="10058400" cy="548640"/>
          </a:xfrm>
          <a:prstGeom prst="rect">
            <a:avLst/>
          </a:prstGeom>
          <a:noFill/>
          <a:ln/>
        </p:spPr>
        <p:txBody>
          <a:bodyPr wrap="square" lIns="0" tIns="0" rIns="0" bIns="0" rtlCol="0" anchor="ctr"/>
          <a:lstStyle/>
          <a:p>
            <a:pPr marL="0" indent="0">
              <a:buNone/>
            </a:pPr>
            <a:r>
              <a:rPr lang="en-US" sz="2600" dirty="0">
                <a:solidFill>
                  <a:srgbClr val="0A0A0A"/>
                </a:solidFill>
                <a:latin typeface="Calibri Light" pitchFamily="34" charset="0"/>
                <a:ea typeface="Calibri Light" pitchFamily="34" charset="-122"/>
                <a:cs typeface="Calibri Light" pitchFamily="34" charset="-120"/>
              </a:rPr>
              <a:t>Clears comfortable life inside any colony.</a:t>
            </a:r>
            <a:endParaRPr lang="en-US" sz="2600" dirty="0"/>
          </a:p>
        </p:txBody>
      </p:sp>
      <p:sp>
        <p:nvSpPr>
          <p:cNvPr id="8" name="Text 5"/>
          <p:cNvSpPr/>
          <p:nvPr/>
        </p:nvSpPr>
        <p:spPr>
          <a:xfrm>
            <a:off x="548640" y="5120640"/>
            <a:ext cx="10058400" cy="914400"/>
          </a:xfrm>
          <a:prstGeom prst="rect">
            <a:avLst/>
          </a:prstGeom>
          <a:noFill/>
          <a:ln/>
        </p:spPr>
        <p:txBody>
          <a:bodyPr wrap="square" lIns="0" tIns="0" rIns="0" bIns="0" rtlCol="0" anchor="ctr"/>
          <a:lstStyle/>
          <a:p>
            <a:pPr marL="0" indent="0">
              <a:lnSpc>
                <a:spcPct val="150000"/>
              </a:lnSpc>
              <a:buNone/>
            </a:pPr>
            <a:r>
              <a:rPr lang="en-US" sz="1300" dirty="0">
                <a:solidFill>
                  <a:srgbClr val="0A0A0A">
                    <a:alpha val="75000"/>
                  </a:srgbClr>
                </a:solidFill>
                <a:latin typeface="Calibri" pitchFamily="34" charset="0"/>
                <a:ea typeface="Calibri" pitchFamily="34" charset="-122"/>
                <a:cs typeface="Calibri" pitchFamily="34" charset="-120"/>
              </a:rPr>
              <a:t>Backed 1:1 by USDC reserves held by the Fisc. Non-tradeable outside the protocol; auto-converted to USDC at the boundary. The Fisc operates as a currency board rather than a central bank.</a:t>
            </a:r>
            <a:endParaRPr lang="en-US" sz="1300" dirty="0"/>
          </a:p>
        </p:txBody>
      </p:sp>
      <p:sp>
        <p:nvSpPr>
          <p:cNvPr id="9" name="Text 6"/>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PROTOCOL METRICS</a:t>
            </a:r>
            <a:endParaRPr lang="en-US" sz="1000" dirty="0"/>
          </a:p>
        </p:txBody>
      </p:sp>
      <p:sp>
        <p:nvSpPr>
          <p:cNvPr id="3" name="Text 1"/>
          <p:cNvSpPr/>
          <p:nvPr/>
        </p:nvSpPr>
        <p:spPr>
          <a:xfrm>
            <a:off x="548640" y="1783080"/>
            <a:ext cx="10515600" cy="822960"/>
          </a:xfrm>
          <a:prstGeom prst="rect">
            <a:avLst/>
          </a:prstGeom>
          <a:noFill/>
          <a:ln/>
        </p:spPr>
        <p:txBody>
          <a:bodyPr wrap="square" lIns="0" tIns="0" rIns="0" bIns="0" rtlCol="0" anchor="ctr"/>
          <a:lstStyle/>
          <a:p>
            <a:pPr marL="0" indent="0">
              <a:buNone/>
            </a:pPr>
            <a:r>
              <a:rPr lang="en-US" sz="3600" dirty="0">
                <a:solidFill>
                  <a:srgbClr val="0A0A0A"/>
                </a:solidFill>
                <a:latin typeface="Calibri Light" pitchFamily="34" charset="0"/>
                <a:ea typeface="Calibri Light" pitchFamily="34" charset="-122"/>
                <a:cs typeface="Calibri Light" pitchFamily="34" charset="-120"/>
              </a:rPr>
              <a:t>Live, on Base.</a:t>
            </a:r>
            <a:endParaRPr lang="en-US" sz="3600" dirty="0"/>
          </a:p>
        </p:txBody>
      </p:sp>
      <p:sp>
        <p:nvSpPr>
          <p:cNvPr id="4" name="Shape 2"/>
          <p:cNvSpPr/>
          <p:nvPr/>
        </p:nvSpPr>
        <p:spPr>
          <a:xfrm>
            <a:off x="54864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5" name="Shape 3"/>
          <p:cNvSpPr/>
          <p:nvPr/>
        </p:nvSpPr>
        <p:spPr>
          <a:xfrm>
            <a:off x="685800" y="3154680"/>
            <a:ext cx="274320" cy="0"/>
          </a:xfrm>
          <a:prstGeom prst="line">
            <a:avLst/>
          </a:prstGeom>
          <a:noFill/>
          <a:ln w="12700">
            <a:solidFill>
              <a:srgbClr val="C58A4D"/>
            </a:solidFill>
            <a:prstDash val="solid"/>
          </a:ln>
        </p:spPr>
        <p:txBody>
          <a:bodyPr/>
          <a:lstStyle/>
          <a:p>
            <a:endParaRPr lang="en-GB"/>
          </a:p>
        </p:txBody>
      </p:sp>
      <p:sp>
        <p:nvSpPr>
          <p:cNvPr id="6" name="Text 4"/>
          <p:cNvSpPr/>
          <p:nvPr/>
        </p:nvSpPr>
        <p:spPr>
          <a:xfrm>
            <a:off x="86868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MOND SUPPLY</a:t>
            </a:r>
            <a:endParaRPr lang="en-US" sz="900" dirty="0"/>
          </a:p>
        </p:txBody>
      </p:sp>
      <p:pic>
        <p:nvPicPr>
          <p:cNvPr id="7" name="Image 0" descr="preencoded.png"/>
          <p:cNvPicPr>
            <a:picLocks noChangeAspect="1"/>
          </p:cNvPicPr>
          <p:nvPr/>
        </p:nvPicPr>
        <p:blipFill>
          <a:blip r:embed="rId3"/>
          <a:stretch>
            <a:fillRect/>
          </a:stretch>
        </p:blipFill>
        <p:spPr>
          <a:xfrm>
            <a:off x="868680" y="4114800"/>
            <a:ext cx="457200" cy="457200"/>
          </a:xfrm>
          <a:prstGeom prst="rect">
            <a:avLst/>
          </a:prstGeom>
        </p:spPr>
      </p:pic>
      <p:sp>
        <p:nvSpPr>
          <p:cNvPr id="8" name="Text 5"/>
          <p:cNvSpPr/>
          <p:nvPr/>
        </p:nvSpPr>
        <p:spPr>
          <a:xfrm>
            <a:off x="1417320" y="3977640"/>
            <a:ext cx="25603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847,291</a:t>
            </a:r>
            <a:endParaRPr lang="en-US" sz="4400" dirty="0"/>
          </a:p>
        </p:txBody>
      </p:sp>
      <p:sp>
        <p:nvSpPr>
          <p:cNvPr id="9" name="Text 6"/>
          <p:cNvSpPr/>
          <p:nvPr/>
        </p:nvSpPr>
        <p:spPr>
          <a:xfrm>
            <a:off x="86868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Total minted, May 2026</a:t>
            </a:r>
            <a:endParaRPr lang="en-US" sz="1100" dirty="0"/>
          </a:p>
        </p:txBody>
      </p:sp>
      <p:sp>
        <p:nvSpPr>
          <p:cNvPr id="10" name="Shape 7"/>
          <p:cNvSpPr/>
          <p:nvPr/>
        </p:nvSpPr>
        <p:spPr>
          <a:xfrm>
            <a:off x="425196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11" name="Shape 8"/>
          <p:cNvSpPr/>
          <p:nvPr/>
        </p:nvSpPr>
        <p:spPr>
          <a:xfrm>
            <a:off x="4389120" y="3154680"/>
            <a:ext cx="274320" cy="0"/>
          </a:xfrm>
          <a:prstGeom prst="line">
            <a:avLst/>
          </a:prstGeom>
          <a:noFill/>
          <a:ln w="12700">
            <a:solidFill>
              <a:srgbClr val="C58A4D"/>
            </a:solidFill>
            <a:prstDash val="solid"/>
          </a:ln>
        </p:spPr>
        <p:txBody>
          <a:bodyPr/>
          <a:lstStyle/>
          <a:p>
            <a:endParaRPr lang="en-GB"/>
          </a:p>
        </p:txBody>
      </p:sp>
      <p:sp>
        <p:nvSpPr>
          <p:cNvPr id="12" name="Text 9"/>
          <p:cNvSpPr/>
          <p:nvPr/>
        </p:nvSpPr>
        <p:spPr>
          <a:xfrm>
            <a:off x="457200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COVER RATIO</a:t>
            </a:r>
            <a:endParaRPr lang="en-US" sz="900" dirty="0"/>
          </a:p>
        </p:txBody>
      </p:sp>
      <p:sp>
        <p:nvSpPr>
          <p:cNvPr id="13" name="Text 10"/>
          <p:cNvSpPr/>
          <p:nvPr/>
        </p:nvSpPr>
        <p:spPr>
          <a:xfrm>
            <a:off x="4572000" y="3977640"/>
            <a:ext cx="30175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101.4%</a:t>
            </a:r>
            <a:endParaRPr lang="en-US" sz="4400" dirty="0"/>
          </a:p>
        </p:txBody>
      </p:sp>
      <p:sp>
        <p:nvSpPr>
          <p:cNvPr id="14" name="Text 11"/>
          <p:cNvSpPr/>
          <p:nvPr/>
        </p:nvSpPr>
        <p:spPr>
          <a:xfrm>
            <a:off x="457200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USDC reserves vs MOND outstanding</a:t>
            </a:r>
            <a:endParaRPr lang="en-US" sz="1100" dirty="0"/>
          </a:p>
        </p:txBody>
      </p:sp>
      <p:sp>
        <p:nvSpPr>
          <p:cNvPr id="15" name="Shape 12"/>
          <p:cNvSpPr/>
          <p:nvPr/>
        </p:nvSpPr>
        <p:spPr>
          <a:xfrm>
            <a:off x="7955280" y="3017520"/>
            <a:ext cx="3520440" cy="3108960"/>
          </a:xfrm>
          <a:prstGeom prst="rect">
            <a:avLst/>
          </a:prstGeom>
          <a:solidFill>
            <a:srgbClr val="FAF7EE"/>
          </a:solidFill>
          <a:ln w="6350">
            <a:solidFill>
              <a:srgbClr val="EDE7D8"/>
            </a:solidFill>
            <a:prstDash val="solid"/>
          </a:ln>
        </p:spPr>
        <p:txBody>
          <a:bodyPr/>
          <a:lstStyle/>
          <a:p>
            <a:endParaRPr lang="en-GB"/>
          </a:p>
        </p:txBody>
      </p:sp>
      <p:sp>
        <p:nvSpPr>
          <p:cNvPr id="16" name="Shape 13"/>
          <p:cNvSpPr/>
          <p:nvPr/>
        </p:nvSpPr>
        <p:spPr>
          <a:xfrm>
            <a:off x="8092440" y="3154680"/>
            <a:ext cx="274320" cy="0"/>
          </a:xfrm>
          <a:prstGeom prst="line">
            <a:avLst/>
          </a:prstGeom>
          <a:noFill/>
          <a:ln w="12700">
            <a:solidFill>
              <a:srgbClr val="C58A4D"/>
            </a:solidFill>
            <a:prstDash val="solid"/>
          </a:ln>
        </p:spPr>
        <p:txBody>
          <a:bodyPr/>
          <a:lstStyle/>
          <a:p>
            <a:endParaRPr lang="en-GB"/>
          </a:p>
        </p:txBody>
      </p:sp>
      <p:sp>
        <p:nvSpPr>
          <p:cNvPr id="17" name="Text 14"/>
          <p:cNvSpPr/>
          <p:nvPr/>
        </p:nvSpPr>
        <p:spPr>
          <a:xfrm>
            <a:off x="8275320" y="3246120"/>
            <a:ext cx="301752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CITIZENS</a:t>
            </a:r>
            <a:endParaRPr lang="en-US" sz="900" dirty="0"/>
          </a:p>
        </p:txBody>
      </p:sp>
      <p:sp>
        <p:nvSpPr>
          <p:cNvPr id="18" name="Text 15"/>
          <p:cNvSpPr/>
          <p:nvPr/>
        </p:nvSpPr>
        <p:spPr>
          <a:xfrm>
            <a:off x="8275320" y="3977640"/>
            <a:ext cx="3017520" cy="822960"/>
          </a:xfrm>
          <a:prstGeom prst="rect">
            <a:avLst/>
          </a:prstGeom>
          <a:noFill/>
          <a:ln/>
        </p:spPr>
        <p:txBody>
          <a:bodyPr wrap="square" lIns="0" tIns="0" rIns="0" bIns="0" rtlCol="0" anchor="ctr"/>
          <a:lstStyle/>
          <a:p>
            <a:pPr marL="0" indent="0">
              <a:buNone/>
            </a:pPr>
            <a:r>
              <a:rPr lang="en-US" sz="4400" dirty="0">
                <a:solidFill>
                  <a:srgbClr val="0A0A0A"/>
                </a:solidFill>
                <a:latin typeface="Calibri Light" pitchFamily="34" charset="0"/>
                <a:ea typeface="Calibri Light" pitchFamily="34" charset="-122"/>
                <a:cs typeface="Calibri Light" pitchFamily="34" charset="-120"/>
              </a:rPr>
              <a:t>3,912</a:t>
            </a:r>
            <a:endParaRPr lang="en-US" sz="4400" dirty="0"/>
          </a:p>
        </p:txBody>
      </p:sp>
      <p:sp>
        <p:nvSpPr>
          <p:cNvPr id="19" name="Text 16"/>
          <p:cNvSpPr/>
          <p:nvPr/>
        </p:nvSpPr>
        <p:spPr>
          <a:xfrm>
            <a:off x="8275320" y="5074920"/>
            <a:ext cx="2926080" cy="822960"/>
          </a:xfrm>
          <a:prstGeom prst="rect">
            <a:avLst/>
          </a:prstGeom>
          <a:noFill/>
          <a:ln/>
        </p:spPr>
        <p:txBody>
          <a:bodyPr wrap="square" lIns="0" tIns="0" rIns="0" bIns="0" rtlCol="0" anchor="ctr"/>
          <a:lstStyle/>
          <a:p>
            <a:pPr marL="0" indent="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Colony 01, founding cohort</a:t>
            </a:r>
            <a:endParaRPr lang="en-US" sz="1100" dirty="0"/>
          </a:p>
        </p:txBody>
      </p:sp>
      <p:sp>
        <p:nvSpPr>
          <p:cNvPr id="20" name="Text 17"/>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DESIGN PRINCIPLE</a:t>
            </a:r>
            <a:endParaRPr lang="en-US" sz="1000" dirty="0"/>
          </a:p>
        </p:txBody>
      </p:sp>
      <p:sp>
        <p:nvSpPr>
          <p:cNvPr id="3" name="Shape 1"/>
          <p:cNvSpPr/>
          <p:nvPr/>
        </p:nvSpPr>
        <p:spPr>
          <a:xfrm>
            <a:off x="548640" y="2743200"/>
            <a:ext cx="731520" cy="0"/>
          </a:xfrm>
          <a:prstGeom prst="line">
            <a:avLst/>
          </a:prstGeom>
          <a:noFill/>
          <a:ln w="19050">
            <a:solidFill>
              <a:srgbClr val="C58A4D"/>
            </a:solidFill>
            <a:prstDash val="solid"/>
          </a:ln>
        </p:spPr>
        <p:txBody>
          <a:bodyPr/>
          <a:lstStyle/>
          <a:p>
            <a:endParaRPr lang="en-GB"/>
          </a:p>
        </p:txBody>
      </p:sp>
      <p:sp>
        <p:nvSpPr>
          <p:cNvPr id="4" name="Text 2"/>
          <p:cNvSpPr/>
          <p:nvPr/>
        </p:nvSpPr>
        <p:spPr>
          <a:xfrm>
            <a:off x="548640" y="3017520"/>
            <a:ext cx="10972800" cy="2286000"/>
          </a:xfrm>
          <a:prstGeom prst="rect">
            <a:avLst/>
          </a:prstGeom>
          <a:noFill/>
          <a:ln/>
        </p:spPr>
        <p:txBody>
          <a:bodyPr wrap="square" lIns="0" tIns="0" rIns="0" bIns="0" rtlCol="0" anchor="ctr"/>
          <a:lstStyle/>
          <a:p>
            <a:pPr marL="0" indent="0">
              <a:lnSpc>
                <a:spcPct val="110000"/>
              </a:lnSpc>
              <a:buNone/>
            </a:pPr>
            <a:r>
              <a:rPr lang="en-US" sz="5600" i="1" dirty="0">
                <a:solidFill>
                  <a:srgbClr val="0A0A0A"/>
                </a:solidFill>
                <a:latin typeface="Calibri Light" pitchFamily="34" charset="0"/>
                <a:ea typeface="Calibri Light" pitchFamily="34" charset="-122"/>
                <a:cs typeface="Calibri Light" pitchFamily="34" charset="-120"/>
              </a:rPr>
              <a:t>Modified Newtonian dynamics, in monetary form.</a:t>
            </a:r>
            <a:endParaRPr lang="en-US" sz="5600" dirty="0"/>
          </a:p>
        </p:txBody>
      </p:sp>
      <p:sp>
        <p:nvSpPr>
          <p:cNvPr id="5" name="Text 3"/>
          <p:cNvSpPr/>
          <p:nvPr/>
        </p:nvSpPr>
        <p:spPr>
          <a:xfrm>
            <a:off x="548640" y="5486400"/>
            <a:ext cx="10058400" cy="365760"/>
          </a:xfrm>
          <a:prstGeom prst="rect">
            <a:avLst/>
          </a:prstGeom>
          <a:noFill/>
          <a:ln/>
        </p:spPr>
        <p:txBody>
          <a:bodyPr wrap="square" lIns="0" tIns="0" rIns="0" bIns="0" rtlCol="0" anchor="ctr"/>
          <a:lstStyle/>
          <a:p>
            <a:pPr marL="0" indent="0">
              <a:buNone/>
            </a:pPr>
            <a:r>
              <a:rPr lang="en-US" sz="1100" kern="0" spc="800" dirty="0">
                <a:solidFill>
                  <a:srgbClr val="7A7568"/>
                </a:solidFill>
                <a:latin typeface="Consolas" pitchFamily="34" charset="0"/>
                <a:ea typeface="Consolas" pitchFamily="34" charset="-122"/>
                <a:cs typeface="Consolas" pitchFamily="34" charset="-120"/>
              </a:rPr>
              <a:t>— THE AXION WHITEPAPER, MAY 2026</a:t>
            </a:r>
            <a:endParaRPr lang="en-US" sz="1100" dirty="0"/>
          </a:p>
        </p:txBody>
      </p:sp>
      <p:sp>
        <p:nvSpPr>
          <p:cNvPr id="6" name="Text 4"/>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9D998E"/>
                </a:solidFill>
                <a:latin typeface="Consolas" pitchFamily="34" charset="0"/>
                <a:ea typeface="Consolas" pitchFamily="34" charset="-122"/>
                <a:cs typeface="Consolas" pitchFamily="34" charset="-120"/>
              </a:rPr>
              <a:t>INSIDE THE COLONY</a:t>
            </a:r>
            <a:endParaRPr lang="en-US" sz="1000" dirty="0"/>
          </a:p>
        </p:txBody>
      </p:sp>
      <p:sp>
        <p:nvSpPr>
          <p:cNvPr id="3" name="Text 1"/>
          <p:cNvSpPr/>
          <p:nvPr/>
        </p:nvSpPr>
        <p:spPr>
          <a:xfrm>
            <a:off x="548640" y="1783080"/>
            <a:ext cx="10515600" cy="822960"/>
          </a:xfrm>
          <a:prstGeom prst="rect">
            <a:avLst/>
          </a:prstGeom>
          <a:noFill/>
          <a:ln/>
        </p:spPr>
        <p:txBody>
          <a:bodyPr wrap="square" lIns="0" tIns="0" rIns="0" bIns="0" rtlCol="0" anchor="ctr"/>
          <a:lstStyle/>
          <a:p>
            <a:pPr marL="0" indent="0">
              <a:buNone/>
            </a:pPr>
            <a:r>
              <a:rPr lang="en-US" sz="3600" dirty="0">
                <a:solidFill>
                  <a:srgbClr val="F0EDE6"/>
                </a:solidFill>
                <a:latin typeface="Calibri Light" pitchFamily="34" charset="0"/>
                <a:ea typeface="Calibri Light" pitchFamily="34" charset="-122"/>
                <a:cs typeface="Calibri Light" pitchFamily="34" charset="-120"/>
              </a:rPr>
              <a:t>A closed-loop economic infrastructure.</a:t>
            </a:r>
            <a:endParaRPr lang="en-US" sz="3600" dirty="0"/>
          </a:p>
        </p:txBody>
      </p:sp>
      <p:sp>
        <p:nvSpPr>
          <p:cNvPr id="4" name="Text 2"/>
          <p:cNvSpPr/>
          <p:nvPr/>
        </p:nvSpPr>
        <p:spPr>
          <a:xfrm>
            <a:off x="54864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01</a:t>
            </a:r>
            <a:endParaRPr lang="en-US" sz="1100" dirty="0"/>
          </a:p>
        </p:txBody>
      </p:sp>
      <p:sp>
        <p:nvSpPr>
          <p:cNvPr id="5" name="Shape 3"/>
          <p:cNvSpPr/>
          <p:nvPr/>
        </p:nvSpPr>
        <p:spPr>
          <a:xfrm>
            <a:off x="548640" y="3383280"/>
            <a:ext cx="457200" cy="0"/>
          </a:xfrm>
          <a:prstGeom prst="line">
            <a:avLst/>
          </a:prstGeom>
          <a:noFill/>
          <a:ln w="12700">
            <a:solidFill>
              <a:srgbClr val="C58A4D"/>
            </a:solidFill>
            <a:prstDash val="solid"/>
          </a:ln>
        </p:spPr>
        <p:txBody>
          <a:bodyPr/>
          <a:lstStyle/>
          <a:p>
            <a:endParaRPr lang="en-GB"/>
          </a:p>
        </p:txBody>
      </p:sp>
      <p:sp>
        <p:nvSpPr>
          <p:cNvPr id="6" name="Text 4"/>
          <p:cNvSpPr/>
          <p:nvPr/>
        </p:nvSpPr>
        <p:spPr>
          <a:xfrm>
            <a:off x="54864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MOND is the only currency</a:t>
            </a:r>
            <a:endParaRPr lang="en-US" sz="1700" dirty="0"/>
          </a:p>
        </p:txBody>
      </p:sp>
      <p:sp>
        <p:nvSpPr>
          <p:cNvPr id="7" name="Text 5"/>
          <p:cNvSpPr/>
          <p:nvPr/>
        </p:nvSpPr>
        <p:spPr>
          <a:xfrm>
            <a:off x="54864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All transactions inside the colony settle in MOND. The Fisc converts at the boundary.</a:t>
            </a:r>
            <a:endParaRPr lang="en-US" sz="1200" dirty="0"/>
          </a:p>
        </p:txBody>
      </p:sp>
      <p:sp>
        <p:nvSpPr>
          <p:cNvPr id="8" name="Text 6"/>
          <p:cNvSpPr/>
          <p:nvPr/>
        </p:nvSpPr>
        <p:spPr>
          <a:xfrm>
            <a:off x="438912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02</a:t>
            </a:r>
            <a:endParaRPr lang="en-US" sz="1100" dirty="0"/>
          </a:p>
        </p:txBody>
      </p:sp>
      <p:sp>
        <p:nvSpPr>
          <p:cNvPr id="9" name="Shape 7"/>
          <p:cNvSpPr/>
          <p:nvPr/>
        </p:nvSpPr>
        <p:spPr>
          <a:xfrm>
            <a:off x="4389120" y="3383280"/>
            <a:ext cx="457200" cy="0"/>
          </a:xfrm>
          <a:prstGeom prst="line">
            <a:avLst/>
          </a:prstGeom>
          <a:noFill/>
          <a:ln w="12700">
            <a:solidFill>
              <a:srgbClr val="C58A4D"/>
            </a:solidFill>
            <a:prstDash val="solid"/>
          </a:ln>
        </p:spPr>
        <p:txBody>
          <a:bodyPr/>
          <a:lstStyle/>
          <a:p>
            <a:endParaRPr lang="en-GB"/>
          </a:p>
        </p:txBody>
      </p:sp>
      <p:sp>
        <p:nvSpPr>
          <p:cNvPr id="10" name="Text 8"/>
          <p:cNvSpPr/>
          <p:nvPr/>
        </p:nvSpPr>
        <p:spPr>
          <a:xfrm>
            <a:off x="438912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Every citizen is a shareholder</a:t>
            </a:r>
            <a:endParaRPr lang="en-US" sz="1700" dirty="0"/>
          </a:p>
        </p:txBody>
      </p:sp>
      <p:sp>
        <p:nvSpPr>
          <p:cNvPr id="11" name="Text 9"/>
          <p:cNvSpPr/>
          <p:nvPr/>
        </p:nvSpPr>
        <p:spPr>
          <a:xfrm>
            <a:off x="438912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Income arrives through share dividends, not wages. The protocol replaces both labour markets and welfare.</a:t>
            </a:r>
            <a:endParaRPr lang="en-US" sz="1200" dirty="0"/>
          </a:p>
        </p:txBody>
      </p:sp>
      <p:sp>
        <p:nvSpPr>
          <p:cNvPr id="12" name="Text 10"/>
          <p:cNvSpPr/>
          <p:nvPr/>
        </p:nvSpPr>
        <p:spPr>
          <a:xfrm>
            <a:off x="8229600" y="3017520"/>
            <a:ext cx="914400" cy="365760"/>
          </a:xfrm>
          <a:prstGeom prst="rect">
            <a:avLst/>
          </a:prstGeom>
          <a:noFill/>
          <a:ln/>
        </p:spPr>
        <p:txBody>
          <a:bodyPr wrap="square" lIns="0" tIns="0" rIns="0" bIns="0" rtlCol="0" anchor="ctr"/>
          <a:lstStyle/>
          <a:p>
            <a:pPr marL="0" indent="0">
              <a:buNone/>
            </a:pPr>
            <a:r>
              <a:rPr lang="en-US" sz="1100" kern="0" spc="600" dirty="0">
                <a:solidFill>
                  <a:srgbClr val="C58A4D"/>
                </a:solidFill>
                <a:latin typeface="Consolas" pitchFamily="34" charset="0"/>
                <a:ea typeface="Consolas" pitchFamily="34" charset="-122"/>
                <a:cs typeface="Consolas" pitchFamily="34" charset="-120"/>
              </a:rPr>
              <a:t>03</a:t>
            </a:r>
            <a:endParaRPr lang="en-US" sz="1100" dirty="0"/>
          </a:p>
        </p:txBody>
      </p:sp>
      <p:sp>
        <p:nvSpPr>
          <p:cNvPr id="13" name="Shape 11"/>
          <p:cNvSpPr/>
          <p:nvPr/>
        </p:nvSpPr>
        <p:spPr>
          <a:xfrm>
            <a:off x="8229600" y="3383280"/>
            <a:ext cx="457200" cy="0"/>
          </a:xfrm>
          <a:prstGeom prst="line">
            <a:avLst/>
          </a:prstGeom>
          <a:noFill/>
          <a:ln w="12700">
            <a:solidFill>
              <a:srgbClr val="C58A4D"/>
            </a:solidFill>
            <a:prstDash val="solid"/>
          </a:ln>
        </p:spPr>
        <p:txBody>
          <a:bodyPr/>
          <a:lstStyle/>
          <a:p>
            <a:endParaRPr lang="en-GB"/>
          </a:p>
        </p:txBody>
      </p:sp>
      <p:sp>
        <p:nvSpPr>
          <p:cNvPr id="14" name="Text 12"/>
          <p:cNvSpPr/>
          <p:nvPr/>
        </p:nvSpPr>
        <p:spPr>
          <a:xfrm>
            <a:off x="8229600" y="3611880"/>
            <a:ext cx="3474720" cy="822960"/>
          </a:xfrm>
          <a:prstGeom prst="rect">
            <a:avLst/>
          </a:prstGeom>
          <a:noFill/>
          <a:ln/>
        </p:spPr>
        <p:txBody>
          <a:bodyPr wrap="square" lIns="0" tIns="0" rIns="0" bIns="0" rtlCol="0" anchor="ctr"/>
          <a:lstStyle/>
          <a:p>
            <a:pPr marL="0" indent="0">
              <a:lnSpc>
                <a:spcPct val="120000"/>
              </a:lnSpc>
              <a:buNone/>
            </a:pPr>
            <a:r>
              <a:rPr lang="en-US" sz="1700" b="1" dirty="0">
                <a:solidFill>
                  <a:srgbClr val="F0EDE6"/>
                </a:solidFill>
                <a:latin typeface="Calibri" pitchFamily="34" charset="0"/>
                <a:ea typeface="Calibri" pitchFamily="34" charset="-122"/>
                <a:cs typeface="Calibri" pitchFamily="34" charset="-120"/>
              </a:rPr>
              <a:t>Stable real-terms purchasing power</a:t>
            </a:r>
            <a:endParaRPr lang="en-US" sz="1700" dirty="0"/>
          </a:p>
        </p:txBody>
      </p:sp>
      <p:sp>
        <p:nvSpPr>
          <p:cNvPr id="15" name="Text 13"/>
          <p:cNvSpPr/>
          <p:nvPr/>
        </p:nvSpPr>
        <p:spPr>
          <a:xfrm>
            <a:off x="8229600" y="4480560"/>
            <a:ext cx="3474720" cy="1645920"/>
          </a:xfrm>
          <a:prstGeom prst="rect">
            <a:avLst/>
          </a:prstGeom>
          <a:noFill/>
          <a:ln/>
        </p:spPr>
        <p:txBody>
          <a:bodyPr wrap="square" lIns="0" tIns="0" rIns="0" bIns="0" rtlCol="0" anchor="ctr"/>
          <a:lstStyle/>
          <a:p>
            <a:pPr marL="0" indent="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Citizens are insulated from outside-economy volatility. Comfortable life clears regardless of legacy conditions.</a:t>
            </a:r>
            <a:endParaRPr lang="en-US" sz="1200" dirty="0"/>
          </a:p>
        </p:txBody>
      </p:sp>
      <p:sp>
        <p:nvSpPr>
          <p:cNvPr id="16" name="Text 14"/>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9D998E"/>
                </a:solidFill>
                <a:latin typeface="Consolas" pitchFamily="34" charset="0"/>
                <a:ea typeface="Consolas" pitchFamily="34" charset="-122"/>
                <a:cs typeface="Consolas"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023360" y="2286000"/>
            <a:ext cx="4114800" cy="1371600"/>
          </a:xfrm>
          <a:prstGeom prst="rect">
            <a:avLst/>
          </a:prstGeom>
        </p:spPr>
      </p:pic>
      <p:sp>
        <p:nvSpPr>
          <p:cNvPr id="3" name="Text 0"/>
          <p:cNvSpPr/>
          <p:nvPr/>
        </p:nvSpPr>
        <p:spPr>
          <a:xfrm>
            <a:off x="548640" y="4114800"/>
            <a:ext cx="11091672" cy="548640"/>
          </a:xfrm>
          <a:prstGeom prst="rect">
            <a:avLst/>
          </a:prstGeom>
          <a:noFill/>
          <a:ln/>
        </p:spPr>
        <p:txBody>
          <a:bodyPr wrap="square" lIns="0" tIns="0" rIns="0" bIns="0" rtlCol="0" anchor="ctr"/>
          <a:lstStyle/>
          <a:p>
            <a:pPr marL="0" indent="0" algn="ctr">
              <a:buNone/>
            </a:pPr>
            <a:r>
              <a:rPr lang="en-US" sz="3200" dirty="0">
                <a:solidFill>
                  <a:srgbClr val="F0EDE6"/>
                </a:solidFill>
                <a:latin typeface="Calibri Light" pitchFamily="34" charset="0"/>
                <a:ea typeface="Calibri Light" pitchFamily="34" charset="-122"/>
                <a:cs typeface="Calibri Light" pitchFamily="34" charset="-120"/>
              </a:rPr>
              <a:t>The unit of account.</a:t>
            </a:r>
            <a:endParaRPr lang="en-US" sz="3200" dirty="0"/>
          </a:p>
        </p:txBody>
      </p:sp>
      <p:sp>
        <p:nvSpPr>
          <p:cNvPr id="4" name="Text 1"/>
          <p:cNvSpPr/>
          <p:nvPr/>
        </p:nvSpPr>
        <p:spPr>
          <a:xfrm>
            <a:off x="548640" y="4709160"/>
            <a:ext cx="11091672" cy="457200"/>
          </a:xfrm>
          <a:prstGeom prst="rect">
            <a:avLst/>
          </a:prstGeom>
          <a:noFill/>
          <a:ln/>
        </p:spPr>
        <p:txBody>
          <a:bodyPr wrap="square" lIns="0" tIns="0" rIns="0" bIns="0" rtlCol="0" anchor="ctr"/>
          <a:lstStyle/>
          <a:p>
            <a:pPr marL="0" indent="0" algn="ctr">
              <a:buNone/>
            </a:pPr>
            <a:r>
              <a:rPr lang="en-US" sz="1400" dirty="0">
                <a:solidFill>
                  <a:srgbClr val="F0EDE6">
                    <a:alpha val="70000"/>
                  </a:srgbClr>
                </a:solidFill>
                <a:latin typeface="Calibri" pitchFamily="34" charset="0"/>
                <a:ea typeface="Calibri" pitchFamily="34" charset="-122"/>
                <a:cs typeface="Calibri" pitchFamily="34" charset="-120"/>
              </a:rPr>
              <a:t>Closed-loop, non-tradeable outside the protocol, USDC-backed at the boundary.</a:t>
            </a:r>
            <a:endParaRPr lang="en-US" sz="1400" dirty="0"/>
          </a:p>
        </p:txBody>
      </p:sp>
      <p:sp>
        <p:nvSpPr>
          <p:cNvPr id="5" name="Shape 2"/>
          <p:cNvSpPr/>
          <p:nvPr/>
        </p:nvSpPr>
        <p:spPr>
          <a:xfrm>
            <a:off x="5394960" y="5440680"/>
            <a:ext cx="1371600" cy="0"/>
          </a:xfrm>
          <a:prstGeom prst="line">
            <a:avLst/>
          </a:prstGeom>
          <a:noFill/>
          <a:ln w="15875">
            <a:solidFill>
              <a:srgbClr val="C58A4D"/>
            </a:solidFill>
            <a:prstDash val="solid"/>
          </a:ln>
        </p:spPr>
        <p:txBody>
          <a:bodyPr/>
          <a:lstStyle/>
          <a:p>
            <a:endParaRPr lang="en-GB"/>
          </a:p>
        </p:txBody>
      </p:sp>
      <p:sp>
        <p:nvSpPr>
          <p:cNvPr id="6" name="Shape 3"/>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7" name="Text 4"/>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800" dirty="0">
                <a:solidFill>
                  <a:srgbClr val="9D998E"/>
                </a:solidFill>
                <a:latin typeface="Consolas" pitchFamily="34" charset="0"/>
                <a:ea typeface="Consolas" pitchFamily="34" charset="-122"/>
                <a:cs typeface="Consolas" pitchFamily="34" charset="-120"/>
              </a:rPr>
              <a:t>MILGROM (1983) · MODIFIED NEWTONIAN DYNAMICS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PROJECTED COLONY GROWTH</a:t>
            </a:r>
            <a:endParaRPr lang="en-US" sz="1000" dirty="0"/>
          </a:p>
        </p:txBody>
      </p:sp>
      <p:sp>
        <p:nvSpPr>
          <p:cNvPr id="3" name="Text 1"/>
          <p:cNvSpPr/>
          <p:nvPr/>
        </p:nvSpPr>
        <p:spPr>
          <a:xfrm>
            <a:off x="548640" y="1783080"/>
            <a:ext cx="10515600" cy="822960"/>
          </a:xfrm>
          <a:prstGeom prst="rect">
            <a:avLst/>
          </a:prstGeom>
          <a:noFill/>
          <a:ln/>
        </p:spPr>
        <p:txBody>
          <a:bodyPr wrap="square" lIns="0" tIns="0" rIns="0" bIns="0" rtlCol="0" anchor="ctr"/>
          <a:lstStyle/>
          <a:p>
            <a:pPr marL="0" indent="0">
              <a:buNone/>
            </a:pPr>
            <a:r>
              <a:rPr lang="en-US" sz="3600" dirty="0">
                <a:solidFill>
                  <a:srgbClr val="0A0A0A"/>
                </a:solidFill>
                <a:latin typeface="Calibri Light" pitchFamily="34" charset="0"/>
                <a:ea typeface="Calibri Light" pitchFamily="34" charset="-122"/>
                <a:cs typeface="Calibri Light" pitchFamily="34" charset="-120"/>
              </a:rPr>
              <a:t>MOND supply, 10-year horizon.</a:t>
            </a:r>
            <a:endParaRPr lang="en-US" sz="3600" dirty="0"/>
          </a:p>
        </p:txBody>
      </p:sp>
      <p:graphicFrame>
        <p:nvGraphicFramePr>
          <p:cNvPr id="4" name="Chart 0"/>
          <p:cNvGraphicFramePr/>
          <p:nvPr/>
        </p:nvGraphicFramePr>
        <p:xfrm>
          <a:off x="548640" y="2926080"/>
          <a:ext cx="11091672"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6172200"/>
            <a:ext cx="10972800" cy="274320"/>
          </a:xfrm>
          <a:prstGeom prst="rect">
            <a:avLst/>
          </a:prstGeom>
          <a:noFill/>
          <a:ln/>
        </p:spPr>
        <p:txBody>
          <a:bodyPr wrap="square" lIns="0" tIns="0" rIns="0" bIns="0" rtlCol="0" anchor="ctr"/>
          <a:lstStyle/>
          <a:p>
            <a:pPr marL="0" indent="0">
              <a:buNone/>
            </a:pPr>
            <a:r>
              <a:rPr lang="en-US" sz="900" kern="0" spc="600" dirty="0">
                <a:solidFill>
                  <a:srgbClr val="7A7568"/>
                </a:solidFill>
                <a:latin typeface="Consolas" pitchFamily="34" charset="0"/>
                <a:ea typeface="Consolas" pitchFamily="34" charset="-122"/>
                <a:cs typeface="Consolas" pitchFamily="34" charset="-120"/>
              </a:rPr>
              <a:t>Indicative model · subject to citizen onboarding velocity &amp; MCC capacity</a:t>
            </a:r>
            <a:endParaRPr lang="en-US" sz="900" dirty="0"/>
          </a:p>
        </p:txBody>
      </p:sp>
      <p:sp>
        <p:nvSpPr>
          <p:cNvPr id="6" name="Text 3"/>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09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77240" y="914400"/>
            <a:ext cx="7315200" cy="365760"/>
          </a:xfrm>
          <a:prstGeom prst="rect">
            <a:avLst/>
          </a:prstGeom>
          <a:noFill/>
          <a:ln/>
        </p:spPr>
        <p:txBody>
          <a:bodyPr wrap="square" lIns="0" tIns="0" rIns="0" bIns="0" rtlCol="0" anchor="ctr"/>
          <a:lstStyle/>
          <a:p>
            <a:pPr marL="0" indent="0">
              <a:buNone/>
            </a:pPr>
            <a:r>
              <a:rPr lang="en-US" sz="1100" kern="0" spc="800" dirty="0">
                <a:solidFill>
                  <a:srgbClr val="C58A4D"/>
                </a:solidFill>
                <a:latin typeface="Consolas" pitchFamily="34" charset="0"/>
                <a:ea typeface="Consolas" pitchFamily="34" charset="-122"/>
                <a:cs typeface="Consolas" pitchFamily="34" charset="-120"/>
              </a:rPr>
              <a:t>THE ASK</a:t>
            </a:r>
            <a:endParaRPr lang="en-US" sz="1100" dirty="0"/>
          </a:p>
        </p:txBody>
      </p:sp>
      <p:sp>
        <p:nvSpPr>
          <p:cNvPr id="3" name="Shape 1"/>
          <p:cNvSpPr/>
          <p:nvPr/>
        </p:nvSpPr>
        <p:spPr>
          <a:xfrm>
            <a:off x="777240" y="1371600"/>
            <a:ext cx="548640" cy="0"/>
          </a:xfrm>
          <a:prstGeom prst="line">
            <a:avLst/>
          </a:prstGeom>
          <a:noFill/>
          <a:ln w="12700">
            <a:solidFill>
              <a:srgbClr val="C58A4D"/>
            </a:solidFill>
            <a:prstDash val="solid"/>
          </a:ln>
        </p:spPr>
        <p:txBody>
          <a:bodyPr/>
          <a:lstStyle/>
          <a:p>
            <a:endParaRPr lang="en-GB"/>
          </a:p>
        </p:txBody>
      </p:sp>
      <p:sp>
        <p:nvSpPr>
          <p:cNvPr id="4" name="Text 2"/>
          <p:cNvSpPr/>
          <p:nvPr/>
        </p:nvSpPr>
        <p:spPr>
          <a:xfrm>
            <a:off x="777240" y="1828800"/>
            <a:ext cx="10972800" cy="1371600"/>
          </a:xfrm>
          <a:prstGeom prst="rect">
            <a:avLst/>
          </a:prstGeom>
          <a:noFill/>
          <a:ln/>
        </p:spPr>
        <p:txBody>
          <a:bodyPr wrap="square" lIns="0" tIns="0" rIns="0" bIns="0" rtlCol="0" anchor="ctr"/>
          <a:lstStyle/>
          <a:p>
            <a:pPr marL="0" indent="0">
              <a:buNone/>
            </a:pPr>
            <a:r>
              <a:rPr lang="en-US" sz="7200" dirty="0">
                <a:solidFill>
                  <a:srgbClr val="F0EDE6"/>
                </a:solidFill>
                <a:latin typeface="Calibri Light" pitchFamily="34" charset="0"/>
                <a:ea typeface="Calibri Light" pitchFamily="34" charset="-122"/>
                <a:cs typeface="Calibri Light" pitchFamily="34" charset="-120"/>
              </a:rPr>
              <a:t>Reg CF.  $1M.  $10M cap.</a:t>
            </a:r>
            <a:endParaRPr lang="en-US" sz="7200" dirty="0"/>
          </a:p>
        </p:txBody>
      </p:sp>
      <p:sp>
        <p:nvSpPr>
          <p:cNvPr id="5" name="Text 3"/>
          <p:cNvSpPr/>
          <p:nvPr/>
        </p:nvSpPr>
        <p:spPr>
          <a:xfrm>
            <a:off x="777240" y="3566160"/>
            <a:ext cx="10058400" cy="1097280"/>
          </a:xfrm>
          <a:prstGeom prst="rect">
            <a:avLst/>
          </a:prstGeom>
          <a:noFill/>
          <a:ln/>
        </p:spPr>
        <p:txBody>
          <a:bodyPr wrap="square" lIns="0" tIns="0" rIns="0" bIns="0" rtlCol="0" anchor="ctr"/>
          <a:lstStyle/>
          <a:p>
            <a:pPr marL="0" indent="0">
              <a:lnSpc>
                <a:spcPct val="140000"/>
              </a:lnSpc>
              <a:buNone/>
            </a:pPr>
            <a:r>
              <a:rPr lang="en-US" sz="1800" dirty="0">
                <a:solidFill>
                  <a:srgbClr val="F0EDE6">
                    <a:alpha val="75000"/>
                  </a:srgbClr>
                </a:solidFill>
                <a:latin typeface="Calibri" pitchFamily="34" charset="0"/>
                <a:ea typeface="Calibri" pitchFamily="34" charset="-122"/>
                <a:cs typeface="Calibri" pitchFamily="34" charset="-120"/>
              </a:rPr>
              <a:t>Wefunder. SAFE instrument. To deploy the first Earth colony, hire the founding CTO, and ship the protocol to mainnet by Q4 2026.</a:t>
            </a:r>
            <a:endParaRPr lang="en-US" sz="1800" dirty="0"/>
          </a:p>
        </p:txBody>
      </p:sp>
      <p:sp>
        <p:nvSpPr>
          <p:cNvPr id="6" name="Shape 4"/>
          <p:cNvSpPr/>
          <p:nvPr/>
        </p:nvSpPr>
        <p:spPr>
          <a:xfrm>
            <a:off x="777240" y="5120640"/>
            <a:ext cx="4114800" cy="640080"/>
          </a:xfrm>
          <a:prstGeom prst="rect">
            <a:avLst/>
          </a:prstGeom>
          <a:solidFill>
            <a:srgbClr val="C58A4D"/>
          </a:solidFill>
          <a:ln/>
        </p:spPr>
        <p:txBody>
          <a:bodyPr/>
          <a:lstStyle/>
          <a:p>
            <a:endParaRPr lang="en-GB"/>
          </a:p>
        </p:txBody>
      </p:sp>
      <p:sp>
        <p:nvSpPr>
          <p:cNvPr id="7" name="Text 5"/>
          <p:cNvSpPr/>
          <p:nvPr/>
        </p:nvSpPr>
        <p:spPr>
          <a:xfrm>
            <a:off x="777240" y="5120640"/>
            <a:ext cx="4114800" cy="640080"/>
          </a:xfrm>
          <a:prstGeom prst="rect">
            <a:avLst/>
          </a:prstGeom>
          <a:noFill/>
          <a:ln/>
        </p:spPr>
        <p:txBody>
          <a:bodyPr wrap="square" lIns="0" tIns="0" rIns="0" bIns="0" rtlCol="0" anchor="ctr"/>
          <a:lstStyle/>
          <a:p>
            <a:pPr marL="0" indent="0" algn="ctr">
              <a:buNone/>
            </a:pPr>
            <a:r>
              <a:rPr lang="en-US" sz="1200" b="1" kern="0" spc="400" dirty="0">
                <a:solidFill>
                  <a:srgbClr val="0A0A0A"/>
                </a:solidFill>
                <a:latin typeface="Consolas" pitchFamily="34" charset="0"/>
                <a:ea typeface="Consolas" pitchFamily="34" charset="-122"/>
                <a:cs typeface="Consolas" pitchFamily="34" charset="-120"/>
              </a:rPr>
              <a:t>WEFUNDER.COM/AXION</a:t>
            </a:r>
            <a:endParaRPr lang="en-US" sz="1200" dirty="0"/>
          </a:p>
        </p:txBody>
      </p:sp>
      <p:sp>
        <p:nvSpPr>
          <p:cNvPr id="8" name="Shape 6"/>
          <p:cNvSpPr/>
          <p:nvPr/>
        </p:nvSpPr>
        <p:spPr>
          <a:xfrm>
            <a:off x="548640" y="6446520"/>
            <a:ext cx="11091672" cy="0"/>
          </a:xfrm>
          <a:prstGeom prst="line">
            <a:avLst/>
          </a:prstGeom>
          <a:noFill/>
          <a:ln w="6350">
            <a:solidFill>
              <a:srgbClr val="2A2A2A"/>
            </a:solidFill>
            <a:prstDash val="solid"/>
          </a:ln>
        </p:spPr>
        <p:txBody>
          <a:bodyPr/>
          <a:lstStyle/>
          <a:p>
            <a:endParaRPr lang="en-GB"/>
          </a:p>
        </p:txBody>
      </p:sp>
      <p:sp>
        <p:nvSpPr>
          <p:cNvPr id="9" name="Text 7"/>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400" dirty="0">
                <a:solidFill>
                  <a:srgbClr val="9D998E"/>
                </a:solidFill>
                <a:latin typeface="Consolas" pitchFamily="34" charset="0"/>
                <a:ea typeface="Consolas" pitchFamily="34" charset="-122"/>
                <a:cs typeface="Consolas" pitchFamily="34" charset="-120"/>
              </a:rPr>
              <a:t>STEVE@AXION.FI  ·  AXION.FI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041648" y="2743200"/>
            <a:ext cx="4114800" cy="1371600"/>
          </a:xfrm>
          <a:prstGeom prst="rect">
            <a:avLst/>
          </a:prstGeom>
        </p:spPr>
      </p:pic>
      <p:sp>
        <p:nvSpPr>
          <p:cNvPr id="3" name="Text 0"/>
          <p:cNvSpPr/>
          <p:nvPr/>
        </p:nvSpPr>
        <p:spPr>
          <a:xfrm>
            <a:off x="548640" y="4389120"/>
            <a:ext cx="11091672" cy="548640"/>
          </a:xfrm>
          <a:prstGeom prst="rect">
            <a:avLst/>
          </a:prstGeom>
          <a:noFill/>
          <a:ln/>
        </p:spPr>
        <p:txBody>
          <a:bodyPr wrap="square" lIns="0" tIns="0" rIns="0" bIns="0" rtlCol="0" anchor="ctr"/>
          <a:lstStyle/>
          <a:p>
            <a:pPr marL="0" indent="0" algn="ctr">
              <a:buNone/>
            </a:pPr>
            <a:r>
              <a:rPr lang="en-US" sz="3200" dirty="0">
                <a:solidFill>
                  <a:srgbClr val="F0EDE6"/>
                </a:solidFill>
                <a:latin typeface="Calibri Light" pitchFamily="34" charset="0"/>
                <a:ea typeface="Calibri Light" pitchFamily="34" charset="-122"/>
                <a:cs typeface="Calibri Light" pitchFamily="34" charset="-120"/>
              </a:rPr>
              <a:t>Thank you.</a:t>
            </a:r>
            <a:endParaRPr lang="en-US" sz="3200" dirty="0"/>
          </a:p>
        </p:txBody>
      </p:sp>
      <p:sp>
        <p:nvSpPr>
          <p:cNvPr id="4" name="Shape 1"/>
          <p:cNvSpPr/>
          <p:nvPr/>
        </p:nvSpPr>
        <p:spPr>
          <a:xfrm>
            <a:off x="5641848" y="5074920"/>
            <a:ext cx="914400" cy="0"/>
          </a:xfrm>
          <a:prstGeom prst="line">
            <a:avLst/>
          </a:prstGeom>
          <a:noFill/>
          <a:ln w="15875">
            <a:solidFill>
              <a:srgbClr val="C58A4D"/>
            </a:solidFill>
            <a:prstDash val="solid"/>
          </a:ln>
        </p:spPr>
        <p:txBody>
          <a:bodyPr/>
          <a:lstStyle/>
          <a:p>
            <a:endParaRPr lang="en-GB"/>
          </a:p>
        </p:txBody>
      </p:sp>
      <p:sp>
        <p:nvSpPr>
          <p:cNvPr id="5" name="Text 2"/>
          <p:cNvSpPr/>
          <p:nvPr/>
        </p:nvSpPr>
        <p:spPr>
          <a:xfrm>
            <a:off x="548640" y="6537960"/>
            <a:ext cx="11091672" cy="228600"/>
          </a:xfrm>
          <a:prstGeom prst="rect">
            <a:avLst/>
          </a:prstGeom>
          <a:noFill/>
          <a:ln/>
        </p:spPr>
        <p:txBody>
          <a:bodyPr wrap="square" lIns="0" tIns="0" rIns="0" bIns="0" rtlCol="0" anchor="ctr"/>
          <a:lstStyle/>
          <a:p>
            <a:pPr marL="0" indent="0" algn="ctr">
              <a:buNone/>
            </a:pPr>
            <a:r>
              <a:rPr lang="en-US" sz="900" kern="0" spc="800" dirty="0">
                <a:solidFill>
                  <a:srgbClr val="9D998E"/>
                </a:solidFill>
                <a:latin typeface="Consolas" pitchFamily="34" charset="0"/>
                <a:ea typeface="Consolas" pitchFamily="34" charset="-122"/>
                <a:cs typeface="Consolas" pitchFamily="34" charset="-120"/>
              </a:rPr>
              <a:t>MAY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1417320"/>
            <a:ext cx="11091672" cy="365760"/>
          </a:xfrm>
          <a:prstGeom prst="rect">
            <a:avLst/>
          </a:prstGeom>
          <a:noFill/>
          <a:ln/>
        </p:spPr>
        <p:txBody>
          <a:bodyPr wrap="square" lIns="0" tIns="0" rIns="0" bIns="0" rtlCol="0" anchor="ctr"/>
          <a:lstStyle/>
          <a:p>
            <a:pPr marL="0" indent="0">
              <a:buNone/>
            </a:pPr>
            <a:r>
              <a:rPr lang="en-US" sz="1000" kern="0" spc="300" dirty="0">
                <a:solidFill>
                  <a:srgbClr val="7A7568"/>
                </a:solidFill>
                <a:latin typeface="Consolas" pitchFamily="34" charset="0"/>
                <a:ea typeface="Consolas" pitchFamily="34" charset="-122"/>
                <a:cs typeface="Consolas" pitchFamily="34" charset="-120"/>
              </a:rPr>
              <a:t>INSTRUCTIONS  ·  DELETE BEFORE PRESENTING</a:t>
            </a:r>
            <a:endParaRPr lang="en-US" sz="1000" dirty="0"/>
          </a:p>
        </p:txBody>
      </p:sp>
      <p:sp>
        <p:nvSpPr>
          <p:cNvPr id="3" name="Text 1"/>
          <p:cNvSpPr/>
          <p:nvPr/>
        </p:nvSpPr>
        <p:spPr>
          <a:xfrm>
            <a:off x="548640" y="1783080"/>
            <a:ext cx="10515600" cy="822960"/>
          </a:xfrm>
          <a:prstGeom prst="rect">
            <a:avLst/>
          </a:prstGeom>
          <a:noFill/>
          <a:ln/>
        </p:spPr>
        <p:txBody>
          <a:bodyPr wrap="square" lIns="0" tIns="0" rIns="0" bIns="0" rtlCol="0" anchor="ctr"/>
          <a:lstStyle/>
          <a:p>
            <a:pPr marL="0" indent="0">
              <a:buNone/>
            </a:pPr>
            <a:r>
              <a:rPr lang="en-US" sz="3600" dirty="0">
                <a:solidFill>
                  <a:srgbClr val="0A0A0A"/>
                </a:solidFill>
                <a:latin typeface="Calibri Light" pitchFamily="34" charset="0"/>
                <a:ea typeface="Calibri Light" pitchFamily="34" charset="-122"/>
                <a:cs typeface="Calibri Light" pitchFamily="34" charset="-120"/>
              </a:rPr>
              <a:t>How to use this template.</a:t>
            </a:r>
            <a:endParaRPr lang="en-US" sz="3600" dirty="0"/>
          </a:p>
        </p:txBody>
      </p:sp>
      <p:sp>
        <p:nvSpPr>
          <p:cNvPr id="4" name="Text 2"/>
          <p:cNvSpPr/>
          <p:nvPr/>
        </p:nvSpPr>
        <p:spPr>
          <a:xfrm>
            <a:off x="548640" y="2880360"/>
            <a:ext cx="3108960" cy="365760"/>
          </a:xfrm>
          <a:prstGeom prst="rect">
            <a:avLst/>
          </a:prstGeom>
          <a:noFill/>
          <a:ln/>
        </p:spPr>
        <p:txBody>
          <a:bodyPr wrap="square" lIns="0" tIns="0" rIns="0" bIns="0" rtlCol="0" anchor="t"/>
          <a:lstStyle/>
          <a:p>
            <a:pPr marL="0" indent="0">
              <a:buNone/>
            </a:pPr>
            <a:r>
              <a:rPr lang="en-US" sz="1000" b="1" kern="0" spc="400" dirty="0">
                <a:solidFill>
                  <a:srgbClr val="C58A4D"/>
                </a:solidFill>
                <a:latin typeface="Consolas" pitchFamily="34" charset="0"/>
                <a:ea typeface="Consolas" pitchFamily="34" charset="-122"/>
                <a:cs typeface="Consolas" pitchFamily="34" charset="-120"/>
              </a:rPr>
              <a:t>DUPLICATE A SLIDE</a:t>
            </a:r>
            <a:endParaRPr lang="en-US" sz="1000" dirty="0"/>
          </a:p>
        </p:txBody>
      </p:sp>
      <p:sp>
        <p:nvSpPr>
          <p:cNvPr id="5" name="Text 3"/>
          <p:cNvSpPr/>
          <p:nvPr/>
        </p:nvSpPr>
        <p:spPr>
          <a:xfrm>
            <a:off x="3840480" y="2880360"/>
            <a:ext cx="7772400" cy="640080"/>
          </a:xfrm>
          <a:prstGeom prst="rect">
            <a:avLst/>
          </a:prstGeom>
          <a:noFill/>
          <a:ln/>
        </p:spPr>
        <p:txBody>
          <a:bodyPr wrap="square" lIns="0" tIns="0" rIns="0" bIns="0" rtlCol="0" anchor="t"/>
          <a:lstStyle/>
          <a:p>
            <a:pPr marL="0" indent="0">
              <a:lnSpc>
                <a:spcPct val="140000"/>
              </a:lnSpc>
              <a:buNone/>
            </a:pPr>
            <a:r>
              <a:rPr lang="en-US" sz="1200" dirty="0">
                <a:solidFill>
                  <a:srgbClr val="0A0A0A">
                    <a:alpha val="85000"/>
                  </a:srgbClr>
                </a:solidFill>
                <a:latin typeface="Calibri" pitchFamily="34" charset="0"/>
                <a:ea typeface="Calibri" pitchFamily="34" charset="-122"/>
                <a:cs typeface="Calibri" pitchFamily="34" charset="-120"/>
              </a:rPr>
              <a:t>The fastest way: right-click any slide in the panel → Duplicate Slide. Then edit the text. The layout, fonts, and brand assets are preserved.</a:t>
            </a:r>
            <a:endParaRPr lang="en-US" sz="1200" dirty="0"/>
          </a:p>
        </p:txBody>
      </p:sp>
      <p:sp>
        <p:nvSpPr>
          <p:cNvPr id="6" name="Text 4"/>
          <p:cNvSpPr/>
          <p:nvPr/>
        </p:nvSpPr>
        <p:spPr>
          <a:xfrm>
            <a:off x="548640" y="3538728"/>
            <a:ext cx="3108960" cy="365760"/>
          </a:xfrm>
          <a:prstGeom prst="rect">
            <a:avLst/>
          </a:prstGeom>
          <a:noFill/>
          <a:ln/>
        </p:spPr>
        <p:txBody>
          <a:bodyPr wrap="square" lIns="0" tIns="0" rIns="0" bIns="0" rtlCol="0" anchor="t"/>
          <a:lstStyle/>
          <a:p>
            <a:pPr marL="0" indent="0">
              <a:buNone/>
            </a:pPr>
            <a:r>
              <a:rPr lang="en-US" sz="1000" b="1" kern="0" spc="400" dirty="0">
                <a:solidFill>
                  <a:srgbClr val="C58A4D"/>
                </a:solidFill>
                <a:latin typeface="Consolas" pitchFamily="34" charset="0"/>
                <a:ea typeface="Consolas" pitchFamily="34" charset="-122"/>
                <a:cs typeface="Consolas" pitchFamily="34" charset="-120"/>
              </a:rPr>
              <a:t>FONT FALLBACKS</a:t>
            </a:r>
            <a:endParaRPr lang="en-US" sz="1000" dirty="0"/>
          </a:p>
        </p:txBody>
      </p:sp>
      <p:sp>
        <p:nvSpPr>
          <p:cNvPr id="7" name="Text 5"/>
          <p:cNvSpPr/>
          <p:nvPr/>
        </p:nvSpPr>
        <p:spPr>
          <a:xfrm>
            <a:off x="3840480" y="3538728"/>
            <a:ext cx="7772400" cy="640080"/>
          </a:xfrm>
          <a:prstGeom prst="rect">
            <a:avLst/>
          </a:prstGeom>
          <a:noFill/>
          <a:ln/>
        </p:spPr>
        <p:txBody>
          <a:bodyPr wrap="square" lIns="0" tIns="0" rIns="0" bIns="0" rtlCol="0" anchor="t"/>
          <a:lstStyle/>
          <a:p>
            <a:pPr marL="0" indent="0">
              <a:lnSpc>
                <a:spcPct val="140000"/>
              </a:lnSpc>
              <a:buNone/>
            </a:pPr>
            <a:r>
              <a:rPr lang="en-US" sz="1200" dirty="0">
                <a:solidFill>
                  <a:srgbClr val="0A0A0A">
                    <a:alpha val="85000"/>
                  </a:srgbClr>
                </a:solidFill>
                <a:latin typeface="Calibri" pitchFamily="34" charset="0"/>
                <a:ea typeface="Calibri" pitchFamily="34" charset="-122"/>
                <a:cs typeface="Calibri" pitchFamily="34" charset="-120"/>
              </a:rPr>
              <a:t>This template uses Calibri (Windows default) and Consolas. If you have Geist installed on your machine, you can swap it in for Calibri Light to match the website typography exactly.</a:t>
            </a:r>
            <a:endParaRPr lang="en-US" sz="1200" dirty="0"/>
          </a:p>
        </p:txBody>
      </p:sp>
      <p:sp>
        <p:nvSpPr>
          <p:cNvPr id="8" name="Text 6"/>
          <p:cNvSpPr/>
          <p:nvPr/>
        </p:nvSpPr>
        <p:spPr>
          <a:xfrm>
            <a:off x="548640" y="4197096"/>
            <a:ext cx="3108960" cy="365760"/>
          </a:xfrm>
          <a:prstGeom prst="rect">
            <a:avLst/>
          </a:prstGeom>
          <a:noFill/>
          <a:ln/>
        </p:spPr>
        <p:txBody>
          <a:bodyPr wrap="square" lIns="0" tIns="0" rIns="0" bIns="0" rtlCol="0" anchor="t"/>
          <a:lstStyle/>
          <a:p>
            <a:pPr marL="0" indent="0">
              <a:buNone/>
            </a:pPr>
            <a:r>
              <a:rPr lang="en-US" sz="1000" b="1" kern="0" spc="400" dirty="0">
                <a:solidFill>
                  <a:srgbClr val="C58A4D"/>
                </a:solidFill>
                <a:latin typeface="Consolas" pitchFamily="34" charset="0"/>
                <a:ea typeface="Consolas" pitchFamily="34" charset="-122"/>
                <a:cs typeface="Consolas" pitchFamily="34" charset="-120"/>
              </a:rPr>
              <a:t>BRAND ASSETS</a:t>
            </a:r>
            <a:endParaRPr lang="en-US" sz="1000" dirty="0"/>
          </a:p>
        </p:txBody>
      </p:sp>
      <p:sp>
        <p:nvSpPr>
          <p:cNvPr id="9" name="Text 7"/>
          <p:cNvSpPr/>
          <p:nvPr/>
        </p:nvSpPr>
        <p:spPr>
          <a:xfrm>
            <a:off x="3840480" y="4197096"/>
            <a:ext cx="7772400" cy="640080"/>
          </a:xfrm>
          <a:prstGeom prst="rect">
            <a:avLst/>
          </a:prstGeom>
          <a:noFill/>
          <a:ln/>
        </p:spPr>
        <p:txBody>
          <a:bodyPr wrap="square" lIns="0" tIns="0" rIns="0" bIns="0" rtlCol="0" anchor="t"/>
          <a:lstStyle/>
          <a:p>
            <a:pPr marL="0" indent="0">
              <a:lnSpc>
                <a:spcPct val="140000"/>
              </a:lnSpc>
              <a:buNone/>
            </a:pPr>
            <a:r>
              <a:rPr lang="en-US" sz="1200" dirty="0">
                <a:solidFill>
                  <a:srgbClr val="0A0A0A">
                    <a:alpha val="85000"/>
                  </a:srgbClr>
                </a:solidFill>
                <a:latin typeface="Calibri" pitchFamily="34" charset="0"/>
                <a:ea typeface="Calibri" pitchFamily="34" charset="-122"/>
                <a:cs typeface="Calibri" pitchFamily="34" charset="-120"/>
              </a:rPr>
              <a:t>All logos are embedded. To replace them globally, open the master slide view (View → Slide Master) and update the AXION wordmark image in each master. Don't resize the wordmark below 1" wide; it's a hairline font and will break.</a:t>
            </a:r>
            <a:endParaRPr lang="en-US" sz="1200" dirty="0"/>
          </a:p>
        </p:txBody>
      </p:sp>
      <p:sp>
        <p:nvSpPr>
          <p:cNvPr id="10" name="Text 8"/>
          <p:cNvSpPr/>
          <p:nvPr/>
        </p:nvSpPr>
        <p:spPr>
          <a:xfrm>
            <a:off x="548640" y="4855464"/>
            <a:ext cx="3108960" cy="365760"/>
          </a:xfrm>
          <a:prstGeom prst="rect">
            <a:avLst/>
          </a:prstGeom>
          <a:noFill/>
          <a:ln/>
        </p:spPr>
        <p:txBody>
          <a:bodyPr wrap="square" lIns="0" tIns="0" rIns="0" bIns="0" rtlCol="0" anchor="t"/>
          <a:lstStyle/>
          <a:p>
            <a:pPr marL="0" indent="0">
              <a:buNone/>
            </a:pPr>
            <a:r>
              <a:rPr lang="en-US" sz="1000" b="1" kern="0" spc="400" dirty="0">
                <a:solidFill>
                  <a:srgbClr val="C58A4D"/>
                </a:solidFill>
                <a:latin typeface="Consolas" pitchFamily="34" charset="0"/>
                <a:ea typeface="Consolas" pitchFamily="34" charset="-122"/>
                <a:cs typeface="Consolas" pitchFamily="34" charset="-120"/>
              </a:rPr>
              <a:t>COLOURS</a:t>
            </a:r>
            <a:endParaRPr lang="en-US" sz="1000" dirty="0"/>
          </a:p>
        </p:txBody>
      </p:sp>
      <p:sp>
        <p:nvSpPr>
          <p:cNvPr id="11" name="Text 9"/>
          <p:cNvSpPr/>
          <p:nvPr/>
        </p:nvSpPr>
        <p:spPr>
          <a:xfrm>
            <a:off x="3840480" y="4855464"/>
            <a:ext cx="7772400" cy="640080"/>
          </a:xfrm>
          <a:prstGeom prst="rect">
            <a:avLst/>
          </a:prstGeom>
          <a:noFill/>
          <a:ln/>
        </p:spPr>
        <p:txBody>
          <a:bodyPr wrap="square" lIns="0" tIns="0" rIns="0" bIns="0" rtlCol="0" anchor="t"/>
          <a:lstStyle/>
          <a:p>
            <a:pPr marL="0" indent="0">
              <a:lnSpc>
                <a:spcPct val="140000"/>
              </a:lnSpc>
              <a:buNone/>
            </a:pPr>
            <a:r>
              <a:rPr lang="en-US" sz="1200" dirty="0">
                <a:solidFill>
                  <a:srgbClr val="0A0A0A">
                    <a:alpha val="85000"/>
                  </a:srgbClr>
                </a:solidFill>
                <a:latin typeface="Calibri" pitchFamily="34" charset="0"/>
                <a:ea typeface="Calibri" pitchFamily="34" charset="-122"/>
                <a:cs typeface="Calibri" pitchFamily="34" charset="-120"/>
              </a:rPr>
              <a:t>Paper #F6F2E9 · Ink #0A0A0A · Letter #F0EDE6 · Accent (copper) #C58A4D. The accent appears as the vertical rule on cover slides and section dividers. Use it sparingly — one accent per slide maximum.</a:t>
            </a:r>
            <a:endParaRPr lang="en-US" sz="1200" dirty="0"/>
          </a:p>
        </p:txBody>
      </p:sp>
      <p:sp>
        <p:nvSpPr>
          <p:cNvPr id="12" name="Text 10"/>
          <p:cNvSpPr/>
          <p:nvPr/>
        </p:nvSpPr>
        <p:spPr>
          <a:xfrm>
            <a:off x="548640" y="5513832"/>
            <a:ext cx="3108960" cy="365760"/>
          </a:xfrm>
          <a:prstGeom prst="rect">
            <a:avLst/>
          </a:prstGeom>
          <a:noFill/>
          <a:ln/>
        </p:spPr>
        <p:txBody>
          <a:bodyPr wrap="square" lIns="0" tIns="0" rIns="0" bIns="0" rtlCol="0" anchor="t"/>
          <a:lstStyle/>
          <a:p>
            <a:pPr marL="0" indent="0">
              <a:buNone/>
            </a:pPr>
            <a:r>
              <a:rPr lang="en-US" sz="1000" b="1" kern="0" spc="400" dirty="0">
                <a:solidFill>
                  <a:srgbClr val="C58A4D"/>
                </a:solidFill>
                <a:latin typeface="Consolas" pitchFamily="34" charset="0"/>
                <a:ea typeface="Consolas" pitchFamily="34" charset="-122"/>
                <a:cs typeface="Consolas" pitchFamily="34" charset="-120"/>
              </a:rPr>
              <a:t>MOND SYMBOL</a:t>
            </a:r>
            <a:endParaRPr lang="en-US" sz="1000" dirty="0"/>
          </a:p>
        </p:txBody>
      </p:sp>
      <p:sp>
        <p:nvSpPr>
          <p:cNvPr id="13" name="Text 11"/>
          <p:cNvSpPr/>
          <p:nvPr/>
        </p:nvSpPr>
        <p:spPr>
          <a:xfrm>
            <a:off x="3840480" y="5513832"/>
            <a:ext cx="7772400" cy="640080"/>
          </a:xfrm>
          <a:prstGeom prst="rect">
            <a:avLst/>
          </a:prstGeom>
          <a:noFill/>
          <a:ln/>
        </p:spPr>
        <p:txBody>
          <a:bodyPr wrap="square" lIns="0" tIns="0" rIns="0" bIns="0" rtlCol="0" anchor="t"/>
          <a:lstStyle/>
          <a:p>
            <a:pPr marL="0" indent="0">
              <a:lnSpc>
                <a:spcPct val="140000"/>
              </a:lnSpc>
              <a:buNone/>
            </a:pPr>
            <a:r>
              <a:rPr lang="en-US" sz="1200" dirty="0">
                <a:solidFill>
                  <a:srgbClr val="0A0A0A">
                    <a:alpha val="85000"/>
                  </a:srgbClr>
                </a:solidFill>
                <a:latin typeface="Calibri" pitchFamily="34" charset="0"/>
                <a:ea typeface="Calibri" pitchFamily="34" charset="-122"/>
                <a:cs typeface="Calibri" pitchFamily="34" charset="-120"/>
              </a:rPr>
              <a:t>Embedded as a PNG on the data-callout slide (slide 5) and metric grid (slide 6). To use it elsewhere, copy from there. Place it before any MOND amount, with a thin space between symbol and number.</a:t>
            </a:r>
            <a:endParaRPr lang="en-US" sz="1200" dirty="0"/>
          </a:p>
        </p:txBody>
      </p:sp>
      <p:sp>
        <p:nvSpPr>
          <p:cNvPr id="14" name="Text 12"/>
          <p:cNvSpPr/>
          <p:nvPr/>
        </p:nvSpPr>
        <p:spPr>
          <a:xfrm>
            <a:off x="8897112" y="6537960"/>
            <a:ext cx="2743200" cy="228600"/>
          </a:xfrm>
          <a:prstGeom prst="rect">
            <a:avLst/>
          </a:prstGeom>
          <a:noFill/>
          <a:ln/>
        </p:spPr>
        <p:txBody>
          <a:bodyPr wrap="square" lIns="0" tIns="0" rIns="0" bIns="0" rtlCol="0" anchor="ctr"/>
          <a:lstStyle/>
          <a:p>
            <a:pPr marL="0" indent="0" algn="r">
              <a:buNone/>
            </a:pPr>
            <a:r>
              <a:rPr lang="en-US" sz="800" kern="0" spc="400" dirty="0">
                <a:solidFill>
                  <a:srgbClr val="7A7568"/>
                </a:solidFill>
                <a:latin typeface="Consolas" pitchFamily="34" charset="0"/>
                <a:ea typeface="Consolas" pitchFamily="34" charset="-122"/>
                <a:cs typeface="Consolas" pitchFamily="34" charset="-120"/>
              </a:rPr>
              <a:t>TEMPLATE  ·  v1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911</TotalTime>
  <Words>722</Words>
  <Application>Microsoft Office PowerPoint</Application>
  <PresentationFormat>Widescreen</PresentationFormat>
  <Paragraphs>106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Axion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AXION Presentation Template</dc:title>
  <dc:subject>PptxGenJS Presentation</dc:subject>
  <dc:creator>Axion Inc.</dc:creator>
  <cp:lastModifiedBy>Steve Tillotson</cp:lastModifiedBy>
  <cp:revision>1</cp:revision>
  <dcterms:created xsi:type="dcterms:W3CDTF">2026-05-19T16:20:23Z</dcterms:created>
  <dcterms:modified xsi:type="dcterms:W3CDTF">2026-05-20T07:45:44Z</dcterms:modified>
</cp:coreProperties>
</file>